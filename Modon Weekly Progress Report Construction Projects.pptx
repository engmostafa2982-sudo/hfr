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66" r:id="rId2"/>
    <p:sldId id="261" r:id="rId3"/>
    <p:sldId id="279" r:id="rId4"/>
    <p:sldId id="264" r:id="rId5"/>
    <p:sldId id="280" r:id="rId6"/>
    <p:sldId id="294" r:id="rId7"/>
    <p:sldId id="262"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81" r:id="rId21"/>
    <p:sldId id="282" r:id="rId22"/>
    <p:sldId id="283" r:id="rId23"/>
    <p:sldId id="284" r:id="rId24"/>
    <p:sldId id="292" r:id="rId25"/>
    <p:sldId id="293" r:id="rId26"/>
    <p:sldId id="285" r:id="rId27"/>
    <p:sldId id="286" r:id="rId28"/>
    <p:sldId id="287" r:id="rId29"/>
    <p:sldId id="291" r:id="rId30"/>
    <p:sldId id="289" r:id="rId31"/>
    <p:sldId id="290" r:id="rId32"/>
    <p:sldId id="26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6782"/>
    <a:srgbClr val="52B3DD"/>
    <a:srgbClr val="99CC00"/>
    <a:srgbClr val="2C6682"/>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376BCA-3B4A-462B-8F68-CDA42B76D267}" v="1" dt="2020-10-05T12:41:14.5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52" autoAdjust="0"/>
    <p:restoredTop sz="94660"/>
  </p:normalViewPr>
  <p:slideViewPr>
    <p:cSldViewPr snapToGrid="0" showGuides="1">
      <p:cViewPr varScale="1">
        <p:scale>
          <a:sx n="82" d="100"/>
          <a:sy n="82" d="100"/>
        </p:scale>
        <p:origin x="979" y="48"/>
      </p:cViewPr>
      <p:guideLst>
        <p:guide orient="horz" pos="2160"/>
        <p:guide pos="3840"/>
      </p:guideLst>
    </p:cSldViewPr>
  </p:slideViewPr>
  <p:notesTextViewPr>
    <p:cViewPr>
      <p:scale>
        <a:sx n="1" d="1"/>
        <a:sy n="1" d="1"/>
      </p:scale>
      <p:origin x="0" y="0"/>
    </p:cViewPr>
  </p:notesTextViewPr>
  <p:notesViewPr>
    <p:cSldViewPr snapToGrid="0">
      <p:cViewPr varScale="1">
        <p:scale>
          <a:sx n="112" d="100"/>
          <a:sy n="112" d="100"/>
        </p:scale>
        <p:origin x="4832" y="2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arnous, Faisal" userId="eb45042a-974f-4a2b-b651-64e2c235be8e" providerId="ADAL" clId="{2F376BCA-3B4A-462B-8F68-CDA42B76D267}"/>
    <pc:docChg chg="undo modSld">
      <pc:chgData name="Alarnous, Faisal" userId="eb45042a-974f-4a2b-b651-64e2c235be8e" providerId="ADAL" clId="{2F376BCA-3B4A-462B-8F68-CDA42B76D267}" dt="2020-10-10T11:46:03.731" v="7" actId="13926"/>
      <pc:docMkLst>
        <pc:docMk/>
      </pc:docMkLst>
      <pc:sldChg chg="modSp">
        <pc:chgData name="Alarnous, Faisal" userId="eb45042a-974f-4a2b-b651-64e2c235be8e" providerId="ADAL" clId="{2F376BCA-3B4A-462B-8F68-CDA42B76D267}" dt="2020-10-05T12:18:56.563" v="2" actId="1076"/>
        <pc:sldMkLst>
          <pc:docMk/>
          <pc:sldMk cId="1538737544" sldId="280"/>
        </pc:sldMkLst>
        <pc:picChg chg="mod">
          <ac:chgData name="Alarnous, Faisal" userId="eb45042a-974f-4a2b-b651-64e2c235be8e" providerId="ADAL" clId="{2F376BCA-3B4A-462B-8F68-CDA42B76D267}" dt="2020-10-05T12:18:56.563" v="2" actId="1076"/>
          <ac:picMkLst>
            <pc:docMk/>
            <pc:sldMk cId="1538737544" sldId="280"/>
            <ac:picMk id="3" creationId="{53A61CFB-0811-4FA8-BE47-E8F70E718E00}"/>
          </ac:picMkLst>
        </pc:picChg>
      </pc:sldChg>
      <pc:sldChg chg="modSp">
        <pc:chgData name="Alarnous, Faisal" userId="eb45042a-974f-4a2b-b651-64e2c235be8e" providerId="ADAL" clId="{2F376BCA-3B4A-462B-8F68-CDA42B76D267}" dt="2020-10-10T11:46:03.731" v="7" actId="13926"/>
        <pc:sldMkLst>
          <pc:docMk/>
          <pc:sldMk cId="3853834290" sldId="294"/>
        </pc:sldMkLst>
        <pc:spChg chg="mod">
          <ac:chgData name="Alarnous, Faisal" userId="eb45042a-974f-4a2b-b651-64e2c235be8e" providerId="ADAL" clId="{2F376BCA-3B4A-462B-8F68-CDA42B76D267}" dt="2020-10-10T11:46:03.731" v="7" actId="13926"/>
          <ac:spMkLst>
            <pc:docMk/>
            <pc:sldMk cId="3853834290" sldId="294"/>
            <ac:spMk id="6" creationId="{A0CE9D78-42F7-470E-876B-55660DA3638C}"/>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dell\Desktop\SAK%20Data%20Hafr%20Al%20Batin\Weekly%20Reports%20Hafr\HFR1-05-003-WPR-21.9.2026.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dell\Desktop\SAK%20Data%20Hafr%20Al%20Batin\Weekly%20Reports%20Hafr\HFR1-05-003-WPR-21.9.2026.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dell\Desktop\SAK%20Data%20Hafr%20Al%20Batin\Weekly%20Reports%20Hafr\HFR1-05-003-WPR-21.9.2026.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dell\Desktop\SAK%20Data%20Hafr%20Al%20Batin\Weekly%20Reports%20Hafr\HFR1-05-003-WPR-21.9.2026.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rgbClr val="2C6682"/>
                </a:solidFill>
                <a:latin typeface="+mn-lt"/>
                <a:ea typeface="+mn-ea"/>
                <a:cs typeface="+mn-cs"/>
              </a:defRPr>
            </a:pPr>
            <a:r>
              <a:rPr lang="en-US">
                <a:solidFill>
                  <a:srgbClr val="2C6682"/>
                </a:solidFill>
              </a:rPr>
              <a:t>Earned Value - Cost</a:t>
            </a:r>
          </a:p>
        </c:rich>
      </c:tx>
      <c:layout>
        <c:manualLayout>
          <c:xMode val="edge"/>
          <c:yMode val="edge"/>
          <c:x val="5.7210955179445702E-2"/>
          <c:y val="3.7384552163208712E-2"/>
        </c:manualLayout>
      </c:layout>
      <c:overlay val="0"/>
      <c:spPr>
        <a:noFill/>
        <a:ln>
          <a:noFill/>
        </a:ln>
        <a:effectLst/>
      </c:spPr>
      <c:txPr>
        <a:bodyPr rot="0" spcFirstLastPara="1" vertOverflow="ellipsis" vert="horz" wrap="square" anchor="ctr" anchorCtr="1"/>
        <a:lstStyle/>
        <a:p>
          <a:pPr>
            <a:defRPr sz="1600" b="1" i="0" u="none" strike="noStrike" kern="1200" baseline="0">
              <a:solidFill>
                <a:srgbClr val="2C6682"/>
              </a:solidFill>
              <a:latin typeface="+mn-lt"/>
              <a:ea typeface="+mn-ea"/>
              <a:cs typeface="+mn-cs"/>
            </a:defRPr>
          </a:pPr>
          <a:endParaRPr lang="en-US"/>
        </a:p>
      </c:txPr>
    </c:title>
    <c:autoTitleDeleted val="0"/>
    <c:plotArea>
      <c:layout>
        <c:manualLayout>
          <c:layoutTarget val="inner"/>
          <c:xMode val="edge"/>
          <c:yMode val="edge"/>
          <c:x val="5.4502680714013818E-2"/>
          <c:y val="1.7436570428696414E-2"/>
          <c:w val="0.94115687137540394"/>
          <c:h val="0.81666096292648382"/>
        </c:manualLayout>
      </c:layout>
      <c:lineChart>
        <c:grouping val="standard"/>
        <c:varyColors val="0"/>
        <c:ser>
          <c:idx val="0"/>
          <c:order val="0"/>
          <c:tx>
            <c:strRef>
              <c:f>'EV-Chart Data'!$B$2</c:f>
              <c:strCache>
                <c:ptCount val="1"/>
                <c:pt idx="0">
                  <c:v>Baseline Plan</c:v>
                </c:pt>
              </c:strCache>
            </c:strRef>
          </c:tx>
          <c:spPr>
            <a:ln w="34925" cap="rnd">
              <a:solidFill>
                <a:schemeClr val="accent6"/>
              </a:solidFill>
              <a:round/>
            </a:ln>
            <a:effectLst>
              <a:outerShdw blurRad="57150" dist="19050" dir="5400000" algn="ctr" rotWithShape="0">
                <a:srgbClr val="000000">
                  <a:alpha val="63000"/>
                </a:srgbClr>
              </a:outerShdw>
            </a:effectLst>
          </c:spPr>
          <c:marker>
            <c:symbol val="circle"/>
            <c:size val="5"/>
            <c:spPr>
              <a:solidFill>
                <a:schemeClr val="accent4">
                  <a:lumMod val="20000"/>
                  <a:lumOff val="80000"/>
                </a:schemeClr>
              </a:solidFill>
              <a:ln w="9525">
                <a:solidFill>
                  <a:schemeClr val="accent1"/>
                </a:solidFill>
                <a:round/>
              </a:ln>
              <a:effectLst>
                <a:outerShdw blurRad="57150" dist="19050" dir="5400000" algn="ctr" rotWithShape="0">
                  <a:srgbClr val="000000">
                    <a:alpha val="63000"/>
                  </a:srgbClr>
                </a:outerShdw>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6"/>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'EV-Chart Data'!$A$4:$A$25</c:f>
              <c:numCache>
                <c:formatCode>mmm\-yy</c:formatCode>
                <c:ptCount val="22"/>
                <c:pt idx="0">
                  <c:v>45991</c:v>
                </c:pt>
                <c:pt idx="1">
                  <c:v>46022</c:v>
                </c:pt>
                <c:pt idx="2">
                  <c:v>46053</c:v>
                </c:pt>
                <c:pt idx="3">
                  <c:v>46081</c:v>
                </c:pt>
                <c:pt idx="4">
                  <c:v>46112</c:v>
                </c:pt>
                <c:pt idx="5">
                  <c:v>46142</c:v>
                </c:pt>
                <c:pt idx="6">
                  <c:v>46173</c:v>
                </c:pt>
                <c:pt idx="7">
                  <c:v>46203</c:v>
                </c:pt>
                <c:pt idx="8">
                  <c:v>46234</c:v>
                </c:pt>
                <c:pt idx="9">
                  <c:v>46265</c:v>
                </c:pt>
                <c:pt idx="10">
                  <c:v>46295</c:v>
                </c:pt>
                <c:pt idx="11">
                  <c:v>46326</c:v>
                </c:pt>
                <c:pt idx="12">
                  <c:v>46356</c:v>
                </c:pt>
                <c:pt idx="13">
                  <c:v>46387</c:v>
                </c:pt>
                <c:pt idx="14">
                  <c:v>46418</c:v>
                </c:pt>
                <c:pt idx="15">
                  <c:v>46446</c:v>
                </c:pt>
                <c:pt idx="16">
                  <c:v>46477</c:v>
                </c:pt>
                <c:pt idx="17">
                  <c:v>46507</c:v>
                </c:pt>
                <c:pt idx="18">
                  <c:v>46538</c:v>
                </c:pt>
                <c:pt idx="19">
                  <c:v>46568</c:v>
                </c:pt>
                <c:pt idx="20">
                  <c:v>46599</c:v>
                </c:pt>
                <c:pt idx="21">
                  <c:v>46630</c:v>
                </c:pt>
              </c:numCache>
            </c:numRef>
          </c:cat>
          <c:val>
            <c:numRef>
              <c:f>'EV-Chart Data'!$D$4:$D$25</c:f>
              <c:numCache>
                <c:formatCode>0.0%</c:formatCode>
                <c:ptCount val="22"/>
                <c:pt idx="0">
                  <c:v>0</c:v>
                </c:pt>
                <c:pt idx="1">
                  <c:v>1.0474723278860437E-4</c:v>
                </c:pt>
                <c:pt idx="2">
                  <c:v>5.393662514181452E-2</c:v>
                </c:pt>
                <c:pt idx="3">
                  <c:v>8.3638474055042433E-2</c:v>
                </c:pt>
                <c:pt idx="4">
                  <c:v>0.25131010040316254</c:v>
                </c:pt>
                <c:pt idx="5">
                  <c:v>0.5408368298253633</c:v>
                </c:pt>
                <c:pt idx="6">
                  <c:v>0.68210039914969611</c:v>
                </c:pt>
                <c:pt idx="7">
                  <c:v>0.81392192258259921</c:v>
                </c:pt>
                <c:pt idx="8">
                  <c:v>0.89484656617157743</c:v>
                </c:pt>
                <c:pt idx="9">
                  <c:v>0.93656602448884207</c:v>
                </c:pt>
                <c:pt idx="10">
                  <c:v>1.000000001212352</c:v>
                </c:pt>
              </c:numCache>
            </c:numRef>
          </c:val>
          <c:smooth val="0"/>
          <c:extLst>
            <c:ext xmlns:c16="http://schemas.microsoft.com/office/drawing/2014/chart" uri="{C3380CC4-5D6E-409C-BE32-E72D297353CC}">
              <c16:uniqueId val="{00000000-9097-449B-909E-624FF9CBE90B}"/>
            </c:ext>
          </c:extLst>
        </c:ser>
        <c:ser>
          <c:idx val="1"/>
          <c:order val="1"/>
          <c:tx>
            <c:strRef>
              <c:f>'EV-Chart Data'!$E$2</c:f>
              <c:strCache>
                <c:ptCount val="1"/>
                <c:pt idx="0">
                  <c:v>Revised / Recovery Plan</c:v>
                </c:pt>
              </c:strCache>
            </c:strRef>
          </c:tx>
          <c:spPr>
            <a:ln w="34925" cap="rnd">
              <a:solidFill>
                <a:srgbClr val="FFC000"/>
              </a:solidFill>
              <a:round/>
            </a:ln>
            <a:effectLst>
              <a:outerShdw blurRad="57150" dist="19050" dir="5400000" algn="ctr" rotWithShape="0">
                <a:srgbClr val="000000">
                  <a:alpha val="63000"/>
                </a:srgbClr>
              </a:outerShdw>
            </a:effectLst>
          </c:spPr>
          <c:marker>
            <c:symbol val="circle"/>
            <c:size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s>
            <c:dLbl>
              <c:idx val="9"/>
              <c:layout>
                <c:manualLayout>
                  <c:x val="-5.0252731582226453E-3"/>
                  <c:y val="3.7458794605664675E-2"/>
                </c:manualLayout>
              </c:layout>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0070C0"/>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097-449B-909E-624FF9CBE90B}"/>
                </c:ext>
              </c:extLst>
            </c:dLbl>
            <c:dLbl>
              <c:idx val="13"/>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097-449B-909E-624FF9CBE90B}"/>
                </c:ext>
              </c:extLst>
            </c:dLbl>
            <c:dLbl>
              <c:idx val="17"/>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097-449B-909E-624FF9CBE90B}"/>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EEB5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'EV-Chart Data'!$A$4:$A$25</c:f>
              <c:numCache>
                <c:formatCode>mmm\-yy</c:formatCode>
                <c:ptCount val="22"/>
                <c:pt idx="0">
                  <c:v>45991</c:v>
                </c:pt>
                <c:pt idx="1">
                  <c:v>46022</c:v>
                </c:pt>
                <c:pt idx="2">
                  <c:v>46053</c:v>
                </c:pt>
                <c:pt idx="3">
                  <c:v>46081</c:v>
                </c:pt>
                <c:pt idx="4">
                  <c:v>46112</c:v>
                </c:pt>
                <c:pt idx="5">
                  <c:v>46142</c:v>
                </c:pt>
                <c:pt idx="6">
                  <c:v>46173</c:v>
                </c:pt>
                <c:pt idx="7">
                  <c:v>46203</c:v>
                </c:pt>
                <c:pt idx="8">
                  <c:v>46234</c:v>
                </c:pt>
                <c:pt idx="9">
                  <c:v>46265</c:v>
                </c:pt>
                <c:pt idx="10">
                  <c:v>46295</c:v>
                </c:pt>
                <c:pt idx="11">
                  <c:v>46326</c:v>
                </c:pt>
                <c:pt idx="12">
                  <c:v>46356</c:v>
                </c:pt>
                <c:pt idx="13">
                  <c:v>46387</c:v>
                </c:pt>
                <c:pt idx="14">
                  <c:v>46418</c:v>
                </c:pt>
                <c:pt idx="15">
                  <c:v>46446</c:v>
                </c:pt>
                <c:pt idx="16">
                  <c:v>46477</c:v>
                </c:pt>
                <c:pt idx="17">
                  <c:v>46507</c:v>
                </c:pt>
                <c:pt idx="18">
                  <c:v>46538</c:v>
                </c:pt>
                <c:pt idx="19">
                  <c:v>46568</c:v>
                </c:pt>
                <c:pt idx="20">
                  <c:v>46599</c:v>
                </c:pt>
                <c:pt idx="21">
                  <c:v>46630</c:v>
                </c:pt>
              </c:numCache>
            </c:numRef>
          </c:cat>
          <c:val>
            <c:numRef>
              <c:f>'EV-Chart Data'!$G$4:$G$25</c:f>
              <c:numCache>
                <c:formatCode>0.0%</c:formatCode>
                <c:ptCount val="22"/>
              </c:numCache>
            </c:numRef>
          </c:val>
          <c:smooth val="0"/>
          <c:extLst>
            <c:ext xmlns:c16="http://schemas.microsoft.com/office/drawing/2014/chart" uri="{C3380CC4-5D6E-409C-BE32-E72D297353CC}">
              <c16:uniqueId val="{00000004-9097-449B-909E-624FF9CBE90B}"/>
            </c:ext>
          </c:extLst>
        </c:ser>
        <c:ser>
          <c:idx val="2"/>
          <c:order val="2"/>
          <c:tx>
            <c:strRef>
              <c:f>'EV-Chart Data'!$H$2</c:f>
              <c:strCache>
                <c:ptCount val="1"/>
                <c:pt idx="0">
                  <c:v>Earned Value</c:v>
                </c:pt>
              </c:strCache>
            </c:strRef>
          </c:tx>
          <c:spPr>
            <a:ln w="34925" cap="rnd">
              <a:solidFill>
                <a:schemeClr val="accent1">
                  <a:lumMod val="5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c:spPr>
          </c:marker>
          <c:dLbls>
            <c:dLbl>
              <c:idx val="9"/>
              <c:layout>
                <c:manualLayout>
                  <c:x val="-5.5360397911664631E-2"/>
                  <c:y val="-3.5042291800216618E-2"/>
                </c:manualLayout>
              </c:layout>
              <c:spPr>
                <a:noFill/>
                <a:ln>
                  <a:noFill/>
                </a:ln>
                <a:effectLst/>
              </c:spPr>
              <c:txPr>
                <a:bodyPr rot="0" spcFirstLastPara="1" vertOverflow="ellipsis" vert="horz" wrap="square" lIns="38100" tIns="19050" rIns="38100" bIns="19050" anchor="ctr" anchorCtr="0">
                  <a:spAutoFit/>
                </a:bodyPr>
                <a:lstStyle/>
                <a:p>
                  <a:pPr algn="r">
                    <a:defRPr sz="900" b="1" i="0" u="none" strike="noStrike" kern="1200" baseline="0">
                      <a:solidFill>
                        <a:schemeClr val="accent1">
                          <a:lumMod val="50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097-449B-909E-624FF9CBE90B}"/>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lumMod val="50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'EV-Chart Data'!$A$4:$A$25</c:f>
              <c:numCache>
                <c:formatCode>mmm\-yy</c:formatCode>
                <c:ptCount val="22"/>
                <c:pt idx="0">
                  <c:v>45991</c:v>
                </c:pt>
                <c:pt idx="1">
                  <c:v>46022</c:v>
                </c:pt>
                <c:pt idx="2">
                  <c:v>46053</c:v>
                </c:pt>
                <c:pt idx="3">
                  <c:v>46081</c:v>
                </c:pt>
                <c:pt idx="4">
                  <c:v>46112</c:v>
                </c:pt>
                <c:pt idx="5">
                  <c:v>46142</c:v>
                </c:pt>
                <c:pt idx="6">
                  <c:v>46173</c:v>
                </c:pt>
                <c:pt idx="7">
                  <c:v>46203</c:v>
                </c:pt>
                <c:pt idx="8">
                  <c:v>46234</c:v>
                </c:pt>
                <c:pt idx="9">
                  <c:v>46265</c:v>
                </c:pt>
                <c:pt idx="10">
                  <c:v>46295</c:v>
                </c:pt>
                <c:pt idx="11">
                  <c:v>46326</c:v>
                </c:pt>
                <c:pt idx="12">
                  <c:v>46356</c:v>
                </c:pt>
                <c:pt idx="13">
                  <c:v>46387</c:v>
                </c:pt>
                <c:pt idx="14">
                  <c:v>46418</c:v>
                </c:pt>
                <c:pt idx="15">
                  <c:v>46446</c:v>
                </c:pt>
                <c:pt idx="16">
                  <c:v>46477</c:v>
                </c:pt>
                <c:pt idx="17">
                  <c:v>46507</c:v>
                </c:pt>
                <c:pt idx="18">
                  <c:v>46538</c:v>
                </c:pt>
                <c:pt idx="19">
                  <c:v>46568</c:v>
                </c:pt>
                <c:pt idx="20">
                  <c:v>46599</c:v>
                </c:pt>
                <c:pt idx="21">
                  <c:v>46630</c:v>
                </c:pt>
              </c:numCache>
            </c:numRef>
          </c:cat>
          <c:val>
            <c:numRef>
              <c:f>'EV-Chart Data'!$J$4:$J$25</c:f>
              <c:numCache>
                <c:formatCode>0.0%</c:formatCode>
                <c:ptCount val="22"/>
                <c:pt idx="1">
                  <c:v>7.8560424591453285E-5</c:v>
                </c:pt>
                <c:pt idx="2" formatCode="0.00%">
                  <c:v>6.2142983446145578E-2</c:v>
                </c:pt>
                <c:pt idx="3" formatCode="0.00%">
                  <c:v>0.12072344318872132</c:v>
                </c:pt>
                <c:pt idx="4" formatCode="0.00%">
                  <c:v>0.24032370022800434</c:v>
                </c:pt>
                <c:pt idx="5" formatCode="0.00%">
                  <c:v>0.51982743790538732</c:v>
                </c:pt>
                <c:pt idx="6" formatCode="0.00%">
                  <c:v>0.64583379323157508</c:v>
                </c:pt>
                <c:pt idx="7" formatCode="0.00%">
                  <c:v>0.74617267326125047</c:v>
                </c:pt>
                <c:pt idx="8" formatCode="0.00%">
                  <c:v>0.8390142591929115</c:v>
                </c:pt>
                <c:pt idx="9" formatCode="0.00%">
                  <c:v>0.92082909847333116</c:v>
                </c:pt>
                <c:pt idx="10" formatCode="0.00%">
                  <c:v>0.98173010707370634</c:v>
                </c:pt>
              </c:numCache>
            </c:numRef>
          </c:val>
          <c:smooth val="0"/>
          <c:extLst>
            <c:ext xmlns:c16="http://schemas.microsoft.com/office/drawing/2014/chart" uri="{C3380CC4-5D6E-409C-BE32-E72D297353CC}">
              <c16:uniqueId val="{00000006-9097-449B-909E-624FF9CBE90B}"/>
            </c:ext>
          </c:extLst>
        </c:ser>
        <c:ser>
          <c:idx val="3"/>
          <c:order val="3"/>
          <c:tx>
            <c:strRef>
              <c:f>'EV-Chart Data'!$N$2</c:f>
              <c:strCache>
                <c:ptCount val="1"/>
                <c:pt idx="0">
                  <c:v>Forecast </c:v>
                </c:pt>
              </c:strCache>
            </c:strRef>
          </c:tx>
          <c:spPr>
            <a:ln w="34925" cap="rnd">
              <a:solidFill>
                <a:srgbClr val="C00000"/>
              </a:solidFill>
              <a:prstDash val="dash"/>
              <a:round/>
            </a:ln>
            <a:effectLst>
              <a:outerShdw blurRad="57150" dist="19050" dir="5400000" algn="ctr" rotWithShape="0">
                <a:srgbClr val="000000">
                  <a:alpha val="63000"/>
                </a:srgbClr>
              </a:outerShdw>
            </a:effectLst>
          </c:spPr>
          <c:marker>
            <c:symbol val="x"/>
            <c:size val="5"/>
            <c:spPr>
              <a:solidFill>
                <a:srgbClr val="C00000"/>
              </a:solidFill>
              <a:ln w="9525">
                <a:solidFill>
                  <a:srgbClr val="FFFF00"/>
                </a:solidFill>
                <a:round/>
              </a:ln>
              <a:effectLst>
                <a:outerShdw blurRad="57150" dist="19050" dir="5400000" algn="ctr" rotWithShape="0">
                  <a:srgbClr val="000000">
                    <a:alpha val="63000"/>
                  </a:srgbClr>
                </a:outerShdw>
              </a:effectLst>
            </c:spPr>
          </c:marker>
          <c:dLbls>
            <c:dLbl>
              <c:idx val="13"/>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097-449B-909E-624FF9CBE90B}"/>
                </c:ext>
              </c:extLst>
            </c:dLbl>
            <c:dLbl>
              <c:idx val="19"/>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9097-449B-909E-624FF9CBE90B}"/>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C00000"/>
                    </a:solidFill>
                    <a:latin typeface="+mn-lt"/>
                    <a:ea typeface="+mn-ea"/>
                    <a:cs typeface="+mn-cs"/>
                  </a:defRPr>
                </a:pPr>
                <a:endParaRPr lang="en-US"/>
              </a:p>
            </c:txPr>
            <c:dLblPos val="b"/>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'EV-Chart Data'!$A$4:$A$25</c:f>
              <c:numCache>
                <c:formatCode>mmm\-yy</c:formatCode>
                <c:ptCount val="22"/>
                <c:pt idx="0">
                  <c:v>45991</c:v>
                </c:pt>
                <c:pt idx="1">
                  <c:v>46022</c:v>
                </c:pt>
                <c:pt idx="2">
                  <c:v>46053</c:v>
                </c:pt>
                <c:pt idx="3">
                  <c:v>46081</c:v>
                </c:pt>
                <c:pt idx="4">
                  <c:v>46112</c:v>
                </c:pt>
                <c:pt idx="5">
                  <c:v>46142</c:v>
                </c:pt>
                <c:pt idx="6">
                  <c:v>46173</c:v>
                </c:pt>
                <c:pt idx="7">
                  <c:v>46203</c:v>
                </c:pt>
                <c:pt idx="8">
                  <c:v>46234</c:v>
                </c:pt>
                <c:pt idx="9">
                  <c:v>46265</c:v>
                </c:pt>
                <c:pt idx="10">
                  <c:v>46295</c:v>
                </c:pt>
                <c:pt idx="11">
                  <c:v>46326</c:v>
                </c:pt>
                <c:pt idx="12">
                  <c:v>46356</c:v>
                </c:pt>
                <c:pt idx="13">
                  <c:v>46387</c:v>
                </c:pt>
                <c:pt idx="14">
                  <c:v>46418</c:v>
                </c:pt>
                <c:pt idx="15">
                  <c:v>46446</c:v>
                </c:pt>
                <c:pt idx="16">
                  <c:v>46477</c:v>
                </c:pt>
                <c:pt idx="17">
                  <c:v>46507</c:v>
                </c:pt>
                <c:pt idx="18">
                  <c:v>46538</c:v>
                </c:pt>
                <c:pt idx="19">
                  <c:v>46568</c:v>
                </c:pt>
                <c:pt idx="20">
                  <c:v>46599</c:v>
                </c:pt>
                <c:pt idx="21">
                  <c:v>46630</c:v>
                </c:pt>
              </c:numCache>
            </c:numRef>
          </c:cat>
          <c:val>
            <c:numRef>
              <c:f>'EV-Chart Data'!$P$4:$P$25</c:f>
              <c:numCache>
                <c:formatCode>0.0%</c:formatCode>
                <c:ptCount val="22"/>
                <c:pt idx="8">
                  <c:v>0.71916645983179872</c:v>
                </c:pt>
                <c:pt idx="9">
                  <c:v>0.76551071093950296</c:v>
                </c:pt>
                <c:pt idx="10">
                  <c:v>0.84060365054350639</c:v>
                </c:pt>
                <c:pt idx="11">
                  <c:v>0.87100798059043461</c:v>
                </c:pt>
                <c:pt idx="12">
                  <c:v>0.91520623246520016</c:v>
                </c:pt>
                <c:pt idx="13">
                  <c:v>0.94797789604253579</c:v>
                </c:pt>
                <c:pt idx="14">
                  <c:v>0.99780642260991803</c:v>
                </c:pt>
                <c:pt idx="15">
                  <c:v>1.000000001212352</c:v>
                </c:pt>
              </c:numCache>
            </c:numRef>
          </c:val>
          <c:smooth val="0"/>
          <c:extLst>
            <c:ext xmlns:c16="http://schemas.microsoft.com/office/drawing/2014/chart" uri="{C3380CC4-5D6E-409C-BE32-E72D297353CC}">
              <c16:uniqueId val="{00000009-9097-449B-909E-624FF9CBE90B}"/>
            </c:ext>
          </c:extLst>
        </c:ser>
        <c:ser>
          <c:idx val="4"/>
          <c:order val="4"/>
          <c:tx>
            <c:v>Gross Paid Value</c:v>
          </c:tx>
          <c:spPr>
            <a:ln w="34925" cap="rnd">
              <a:solidFill>
                <a:srgbClr val="00B0F0"/>
              </a:solidFill>
              <a:round/>
            </a:ln>
            <a:effectLst>
              <a:outerShdw blurRad="57150" dist="19050" dir="5400000" algn="ctr" rotWithShape="0">
                <a:srgbClr val="000000">
                  <a:alpha val="63000"/>
                </a:srgbClr>
              </a:outerShdw>
            </a:effectLst>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rgbClr val="00B0F0"/>
                </a:solidFill>
                <a:round/>
              </a:ln>
              <a:effectLst>
                <a:outerShdw blurRad="57150" dist="19050" dir="5400000" algn="ctr" rotWithShape="0">
                  <a:srgbClr val="000000">
                    <a:alpha val="63000"/>
                  </a:srgbClr>
                </a:outerShdw>
              </a:effectLst>
            </c:spPr>
          </c:marker>
          <c:cat>
            <c:numRef>
              <c:f>'EV-Chart Data'!$A$4:$A$25</c:f>
              <c:numCache>
                <c:formatCode>mmm\-yy</c:formatCode>
                <c:ptCount val="22"/>
                <c:pt idx="0">
                  <c:v>45991</c:v>
                </c:pt>
                <c:pt idx="1">
                  <c:v>46022</c:v>
                </c:pt>
                <c:pt idx="2">
                  <c:v>46053</c:v>
                </c:pt>
                <c:pt idx="3">
                  <c:v>46081</c:v>
                </c:pt>
                <c:pt idx="4">
                  <c:v>46112</c:v>
                </c:pt>
                <c:pt idx="5">
                  <c:v>46142</c:v>
                </c:pt>
                <c:pt idx="6">
                  <c:v>46173</c:v>
                </c:pt>
                <c:pt idx="7">
                  <c:v>46203</c:v>
                </c:pt>
                <c:pt idx="8">
                  <c:v>46234</c:v>
                </c:pt>
                <c:pt idx="9">
                  <c:v>46265</c:v>
                </c:pt>
                <c:pt idx="10">
                  <c:v>46295</c:v>
                </c:pt>
                <c:pt idx="11">
                  <c:v>46326</c:v>
                </c:pt>
                <c:pt idx="12">
                  <c:v>46356</c:v>
                </c:pt>
                <c:pt idx="13">
                  <c:v>46387</c:v>
                </c:pt>
                <c:pt idx="14">
                  <c:v>46418</c:v>
                </c:pt>
                <c:pt idx="15">
                  <c:v>46446</c:v>
                </c:pt>
                <c:pt idx="16">
                  <c:v>46477</c:v>
                </c:pt>
                <c:pt idx="17">
                  <c:v>46507</c:v>
                </c:pt>
                <c:pt idx="18">
                  <c:v>46538</c:v>
                </c:pt>
                <c:pt idx="19">
                  <c:v>46568</c:v>
                </c:pt>
                <c:pt idx="20">
                  <c:v>46599</c:v>
                </c:pt>
                <c:pt idx="21">
                  <c:v>46630</c:v>
                </c:pt>
              </c:numCache>
            </c:numRef>
          </c:cat>
          <c:val>
            <c:numRef>
              <c:f>'EV-Chart Data'!$M$4:$M$24</c:f>
              <c:numCache>
                <c:formatCode>0.0%</c:formatCode>
                <c:ptCount val="21"/>
                <c:pt idx="0">
                  <c:v>0.10000002515630879</c:v>
                </c:pt>
                <c:pt idx="1">
                  <c:v>0.10000002515630879</c:v>
                </c:pt>
                <c:pt idx="2" formatCode="0.00%">
                  <c:v>0.10000002515630879</c:v>
                </c:pt>
                <c:pt idx="3" formatCode="0.00%">
                  <c:v>0.1170668203420108</c:v>
                </c:pt>
                <c:pt idx="4" formatCode="0.00%">
                  <c:v>0.1170668203420108</c:v>
                </c:pt>
                <c:pt idx="5" formatCode="0.00%">
                  <c:v>0.1170668203420108</c:v>
                </c:pt>
                <c:pt idx="6" formatCode="0.00%">
                  <c:v>0.30258005800541676</c:v>
                </c:pt>
                <c:pt idx="7" formatCode="0.00%">
                  <c:v>0.30258005800541676</c:v>
                </c:pt>
                <c:pt idx="8" formatCode="0.00%">
                  <c:v>0.62994261600461265</c:v>
                </c:pt>
                <c:pt idx="9" formatCode="0.00%">
                  <c:v>0.74787046223720244</c:v>
                </c:pt>
              </c:numCache>
            </c:numRef>
          </c:val>
          <c:smooth val="0"/>
          <c:extLst>
            <c:ext xmlns:c16="http://schemas.microsoft.com/office/drawing/2014/chart" uri="{C3380CC4-5D6E-409C-BE32-E72D297353CC}">
              <c16:uniqueId val="{0000000A-9097-449B-909E-624FF9CBE90B}"/>
            </c:ext>
          </c:extLst>
        </c:ser>
        <c:dLbls>
          <c:showLegendKey val="0"/>
          <c:showVal val="0"/>
          <c:showCatName val="0"/>
          <c:showSerName val="0"/>
          <c:showPercent val="0"/>
          <c:showBubbleSize val="0"/>
        </c:dLbls>
        <c:marker val="1"/>
        <c:smooth val="0"/>
        <c:axId val="409233360"/>
        <c:axId val="409235712"/>
      </c:lineChart>
      <c:catAx>
        <c:axId val="409233360"/>
        <c:scaling>
          <c:orientation val="minMax"/>
        </c:scaling>
        <c:delete val="0"/>
        <c:axPos val="b"/>
        <c:numFmt formatCode="mmm\-yy" sourceLinked="1"/>
        <c:majorTickMark val="out"/>
        <c:minorTickMark val="in"/>
        <c:tickLblPos val="nextTo"/>
        <c:spPr>
          <a:solidFill>
            <a:schemeClr val="bg1"/>
          </a:solidFill>
          <a:ln w="12700" cap="flat" cmpd="sng" algn="ctr">
            <a:solidFill>
              <a:schemeClr val="accent6">
                <a:alpha val="96000"/>
              </a:schemeClr>
            </a:solidFill>
            <a:round/>
          </a:ln>
          <a:effectLst>
            <a:outerShdw blurRad="50800" dist="50800" dir="5400000" algn="ctr" rotWithShape="0">
              <a:schemeClr val="bg1"/>
            </a:outerShdw>
          </a:effectLst>
        </c:spPr>
        <c:txPr>
          <a:bodyPr rot="-2100000" spcFirstLastPara="1" vertOverflow="ellipsis" wrap="square" anchor="ctr" anchorCtr="1"/>
          <a:lstStyle/>
          <a:p>
            <a:pPr>
              <a:defRPr sz="1000" b="1" i="0" u="none" strike="noStrike" kern="1200" baseline="0">
                <a:solidFill>
                  <a:srgbClr val="2C6682"/>
                </a:solidFill>
                <a:latin typeface="+mn-lt"/>
                <a:ea typeface="+mn-ea"/>
                <a:cs typeface="+mn-cs"/>
              </a:defRPr>
            </a:pPr>
            <a:endParaRPr lang="en-US"/>
          </a:p>
        </c:txPr>
        <c:crossAx val="409235712"/>
        <c:crosses val="autoZero"/>
        <c:auto val="0"/>
        <c:lblAlgn val="ctr"/>
        <c:lblOffset val="100"/>
        <c:noMultiLvlLbl val="1"/>
      </c:catAx>
      <c:valAx>
        <c:axId val="409235712"/>
        <c:scaling>
          <c:orientation val="minMax"/>
          <c:max val="1.2"/>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rgbClr val="2C6682"/>
                </a:solidFill>
                <a:latin typeface="+mn-lt"/>
                <a:ea typeface="+mn-ea"/>
                <a:cs typeface="+mn-cs"/>
              </a:defRPr>
            </a:pPr>
            <a:endParaRPr lang="en-US"/>
          </a:p>
        </c:txPr>
        <c:crossAx val="409233360"/>
        <c:crosses val="autoZero"/>
        <c:crossBetween val="between"/>
      </c:valAx>
      <c:spPr>
        <a:solidFill>
          <a:schemeClr val="lt1"/>
        </a:solidFill>
        <a:ln w="12700" cap="flat" cmpd="sng" algn="ctr">
          <a:solidFill>
            <a:srgbClr val="2C6682"/>
          </a:solidFill>
          <a:prstDash val="solid"/>
          <a:miter lim="800000"/>
        </a:ln>
        <a:effectLst/>
      </c:spPr>
    </c:plotArea>
    <c:legend>
      <c:legendPos val="b"/>
      <c:layout>
        <c:manualLayout>
          <c:xMode val="edge"/>
          <c:yMode val="edge"/>
          <c:x val="0.32997703906314074"/>
          <c:y val="0.93096703617502208"/>
          <c:w val="0.56173758531353335"/>
          <c:h val="4.7279542070728368E-2"/>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12700" cap="flat" cmpd="sng" algn="ctr">
      <a:solidFill>
        <a:srgbClr val="53B3DD"/>
      </a:solidFill>
      <a:round/>
    </a:ln>
    <a:effectLst/>
  </c:spPr>
  <c:txPr>
    <a:bodyPr/>
    <a:lstStyle/>
    <a:p>
      <a:pPr>
        <a:defRPr/>
      </a:pPr>
      <a:endParaRPr lang="en-US"/>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rgbClr val="2C6682"/>
                </a:solidFill>
                <a:latin typeface="+mn-lt"/>
                <a:ea typeface="+mn-ea"/>
                <a:cs typeface="+mn-cs"/>
              </a:defRPr>
            </a:pPr>
            <a:r>
              <a:rPr lang="en-US">
                <a:solidFill>
                  <a:srgbClr val="2C6682"/>
                </a:solidFill>
              </a:rPr>
              <a:t>Physical Progress - Effort</a:t>
            </a:r>
          </a:p>
        </c:rich>
      </c:tx>
      <c:layout>
        <c:manualLayout>
          <c:xMode val="edge"/>
          <c:yMode val="edge"/>
          <c:x val="8.137112367699309E-2"/>
          <c:y val="3.496812327064034E-2"/>
        </c:manualLayout>
      </c:layout>
      <c:overlay val="0"/>
      <c:spPr>
        <a:noFill/>
        <a:ln>
          <a:noFill/>
        </a:ln>
        <a:effectLst/>
      </c:spPr>
      <c:txPr>
        <a:bodyPr rot="0" spcFirstLastPara="1" vertOverflow="ellipsis" vert="horz" wrap="square" anchor="ctr" anchorCtr="1"/>
        <a:lstStyle/>
        <a:p>
          <a:pPr>
            <a:defRPr sz="1600" b="1" i="0" u="none" strike="noStrike" kern="1200" baseline="0">
              <a:solidFill>
                <a:srgbClr val="2C6682"/>
              </a:solidFill>
              <a:latin typeface="+mn-lt"/>
              <a:ea typeface="+mn-ea"/>
              <a:cs typeface="+mn-cs"/>
            </a:defRPr>
          </a:pPr>
          <a:endParaRPr lang="en-US"/>
        </a:p>
      </c:txPr>
    </c:title>
    <c:autoTitleDeleted val="0"/>
    <c:plotArea>
      <c:layout>
        <c:manualLayout>
          <c:layoutTarget val="inner"/>
          <c:xMode val="edge"/>
          <c:yMode val="edge"/>
          <c:x val="5.4502680714013818E-2"/>
          <c:y val="1.7436570428696414E-2"/>
          <c:w val="0.92209187307072005"/>
          <c:h val="0.81666096292648382"/>
        </c:manualLayout>
      </c:layout>
      <c:lineChart>
        <c:grouping val="standard"/>
        <c:varyColors val="0"/>
        <c:ser>
          <c:idx val="0"/>
          <c:order val="0"/>
          <c:tx>
            <c:strRef>
              <c:f>'Physical-Chart Data'!$B$2</c:f>
              <c:strCache>
                <c:ptCount val="1"/>
                <c:pt idx="0">
                  <c:v>Baseline Plan</c:v>
                </c:pt>
              </c:strCache>
            </c:strRef>
          </c:tx>
          <c:spPr>
            <a:ln w="34925" cap="rnd">
              <a:solidFill>
                <a:schemeClr val="accent6"/>
              </a:solidFill>
              <a:round/>
            </a:ln>
            <a:effectLst>
              <a:outerShdw blurRad="57150" dist="19050" dir="5400000" algn="ctr" rotWithShape="0">
                <a:srgbClr val="000000">
                  <a:alpha val="63000"/>
                </a:srgbClr>
              </a:outerShdw>
            </a:effectLst>
          </c:spPr>
          <c:marker>
            <c:symbol val="circle"/>
            <c:size val="5"/>
            <c:spPr>
              <a:solidFill>
                <a:schemeClr val="accent4">
                  <a:lumMod val="20000"/>
                  <a:lumOff val="80000"/>
                </a:schemeClr>
              </a:solidFill>
              <a:ln w="9525">
                <a:solidFill>
                  <a:schemeClr val="accent1"/>
                </a:solidFill>
                <a:round/>
              </a:ln>
              <a:effectLst>
                <a:outerShdw blurRad="57150" dist="19050" dir="5400000" algn="ctr" rotWithShape="0">
                  <a:srgbClr val="000000">
                    <a:alpha val="63000"/>
                  </a:srgbClr>
                </a:outerShdw>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6"/>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'Physical-Chart Data'!$A$4:$A$25</c:f>
              <c:numCache>
                <c:formatCode>mmm\-yy</c:formatCode>
                <c:ptCount val="22"/>
                <c:pt idx="0">
                  <c:v>45991</c:v>
                </c:pt>
                <c:pt idx="1">
                  <c:v>46022</c:v>
                </c:pt>
                <c:pt idx="2">
                  <c:v>46053</c:v>
                </c:pt>
                <c:pt idx="3">
                  <c:v>46081</c:v>
                </c:pt>
                <c:pt idx="4">
                  <c:v>46112</c:v>
                </c:pt>
                <c:pt idx="5">
                  <c:v>46142</c:v>
                </c:pt>
                <c:pt idx="6">
                  <c:v>46173</c:v>
                </c:pt>
                <c:pt idx="7">
                  <c:v>46203</c:v>
                </c:pt>
                <c:pt idx="8">
                  <c:v>46234</c:v>
                </c:pt>
                <c:pt idx="9">
                  <c:v>46265</c:v>
                </c:pt>
                <c:pt idx="10">
                  <c:v>46295</c:v>
                </c:pt>
                <c:pt idx="11">
                  <c:v>46326</c:v>
                </c:pt>
                <c:pt idx="12">
                  <c:v>46356</c:v>
                </c:pt>
                <c:pt idx="13">
                  <c:v>46387</c:v>
                </c:pt>
                <c:pt idx="14">
                  <c:v>46418</c:v>
                </c:pt>
                <c:pt idx="15">
                  <c:v>46446</c:v>
                </c:pt>
                <c:pt idx="16">
                  <c:v>46477</c:v>
                </c:pt>
                <c:pt idx="17">
                  <c:v>46507</c:v>
                </c:pt>
                <c:pt idx="18">
                  <c:v>46538</c:v>
                </c:pt>
              </c:numCache>
            </c:numRef>
          </c:cat>
          <c:val>
            <c:numRef>
              <c:f>'Physical-Chart Data'!$D$4:$D$25</c:f>
              <c:numCache>
                <c:formatCode>0.0%</c:formatCode>
                <c:ptCount val="22"/>
                <c:pt idx="0">
                  <c:v>3.7453694544313382E-3</c:v>
                </c:pt>
                <c:pt idx="1">
                  <c:v>5.1111672044807988E-2</c:v>
                </c:pt>
                <c:pt idx="2">
                  <c:v>0.10421541673204576</c:v>
                </c:pt>
                <c:pt idx="3">
                  <c:v>0.15383985646161508</c:v>
                </c:pt>
                <c:pt idx="4">
                  <c:v>0.29526336974096234</c:v>
                </c:pt>
                <c:pt idx="5">
                  <c:v>0.485376685927917</c:v>
                </c:pt>
                <c:pt idx="6">
                  <c:v>0.61895470763605109</c:v>
                </c:pt>
                <c:pt idx="7">
                  <c:v>0.74530123276550164</c:v>
                </c:pt>
                <c:pt idx="8">
                  <c:v>0.89655548809190821</c:v>
                </c:pt>
                <c:pt idx="9">
                  <c:v>0.93960335923482574</c:v>
                </c:pt>
                <c:pt idx="10">
                  <c:v>0.99999317783341635</c:v>
                </c:pt>
              </c:numCache>
            </c:numRef>
          </c:val>
          <c:smooth val="0"/>
          <c:extLst>
            <c:ext xmlns:c16="http://schemas.microsoft.com/office/drawing/2014/chart" uri="{C3380CC4-5D6E-409C-BE32-E72D297353CC}">
              <c16:uniqueId val="{00000000-BBCB-4EAA-9B6E-A9847E962E5C}"/>
            </c:ext>
          </c:extLst>
        </c:ser>
        <c:ser>
          <c:idx val="1"/>
          <c:order val="1"/>
          <c:tx>
            <c:strRef>
              <c:f>'Physical-Chart Data'!$E$2:$F$2</c:f>
              <c:strCache>
                <c:ptCount val="1"/>
                <c:pt idx="0">
                  <c:v>Revised / Recovery Plan</c:v>
                </c:pt>
              </c:strCache>
            </c:strRef>
          </c:tx>
          <c:spPr>
            <a:ln w="34925" cap="rnd">
              <a:solidFill>
                <a:srgbClr val="FFC000"/>
              </a:solidFill>
              <a:round/>
            </a:ln>
            <a:effectLst>
              <a:outerShdw blurRad="57150" dist="19050" dir="5400000" algn="ctr" rotWithShape="0">
                <a:srgbClr val="000000">
                  <a:alpha val="63000"/>
                </a:srgbClr>
              </a:outerShdw>
            </a:effectLst>
          </c:spPr>
          <c:marker>
            <c:symbol val="circle"/>
            <c:size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s>
            <c:dLbl>
              <c:idx val="9"/>
              <c:layout>
                <c:manualLayout>
                  <c:x val="-5.0252731582226453E-3"/>
                  <c:y val="3.7458794605664675E-2"/>
                </c:manualLayout>
              </c:layout>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0070C0"/>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BCB-4EAA-9B6E-A9847E962E5C}"/>
                </c:ext>
              </c:extLst>
            </c:dLbl>
            <c:dLbl>
              <c:idx val="13"/>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BCB-4EAA-9B6E-A9847E962E5C}"/>
                </c:ext>
              </c:extLst>
            </c:dLbl>
            <c:dLbl>
              <c:idx val="17"/>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BCB-4EAA-9B6E-A9847E962E5C}"/>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EEB500"/>
                    </a:solidFill>
                    <a:latin typeface="+mn-lt"/>
                    <a:ea typeface="+mn-ea"/>
                    <a:cs typeface="+mn-cs"/>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'Physical-Chart Data'!$A$4:$A$25</c:f>
              <c:numCache>
                <c:formatCode>mmm\-yy</c:formatCode>
                <c:ptCount val="22"/>
                <c:pt idx="0">
                  <c:v>45991</c:v>
                </c:pt>
                <c:pt idx="1">
                  <c:v>46022</c:v>
                </c:pt>
                <c:pt idx="2">
                  <c:v>46053</c:v>
                </c:pt>
                <c:pt idx="3">
                  <c:v>46081</c:v>
                </c:pt>
                <c:pt idx="4">
                  <c:v>46112</c:v>
                </c:pt>
                <c:pt idx="5">
                  <c:v>46142</c:v>
                </c:pt>
                <c:pt idx="6">
                  <c:v>46173</c:v>
                </c:pt>
                <c:pt idx="7">
                  <c:v>46203</c:v>
                </c:pt>
                <c:pt idx="8">
                  <c:v>46234</c:v>
                </c:pt>
                <c:pt idx="9">
                  <c:v>46265</c:v>
                </c:pt>
                <c:pt idx="10">
                  <c:v>46295</c:v>
                </c:pt>
                <c:pt idx="11">
                  <c:v>46326</c:v>
                </c:pt>
                <c:pt idx="12">
                  <c:v>46356</c:v>
                </c:pt>
                <c:pt idx="13">
                  <c:v>46387</c:v>
                </c:pt>
                <c:pt idx="14">
                  <c:v>46418</c:v>
                </c:pt>
                <c:pt idx="15">
                  <c:v>46446</c:v>
                </c:pt>
                <c:pt idx="16">
                  <c:v>46477</c:v>
                </c:pt>
                <c:pt idx="17">
                  <c:v>46507</c:v>
                </c:pt>
                <c:pt idx="18">
                  <c:v>46538</c:v>
                </c:pt>
              </c:numCache>
            </c:numRef>
          </c:cat>
          <c:val>
            <c:numRef>
              <c:f>'Physical-Chart Data'!$G$4:$G$25</c:f>
              <c:numCache>
                <c:formatCode>0.0%</c:formatCode>
                <c:ptCount val="22"/>
              </c:numCache>
            </c:numRef>
          </c:val>
          <c:smooth val="0"/>
          <c:extLst>
            <c:ext xmlns:c16="http://schemas.microsoft.com/office/drawing/2014/chart" uri="{C3380CC4-5D6E-409C-BE32-E72D297353CC}">
              <c16:uniqueId val="{00000004-BBCB-4EAA-9B6E-A9847E962E5C}"/>
            </c:ext>
          </c:extLst>
        </c:ser>
        <c:ser>
          <c:idx val="2"/>
          <c:order val="2"/>
          <c:tx>
            <c:strRef>
              <c:f>'Physical-Chart Data'!$H$2:$I$2</c:f>
              <c:strCache>
                <c:ptCount val="1"/>
                <c:pt idx="0">
                  <c:v>Earned Effort %</c:v>
                </c:pt>
              </c:strCache>
            </c:strRef>
          </c:tx>
          <c:spPr>
            <a:ln w="34925" cap="rnd">
              <a:solidFill>
                <a:schemeClr val="accent1">
                  <a:lumMod val="50000"/>
                </a:schemeClr>
              </a:solidFill>
              <a:round/>
            </a:ln>
            <a:effectLst>
              <a:outerShdw blurRad="57150" dist="19050" dir="5400000" algn="ctr" rotWithShape="0">
                <a:srgbClr val="000000">
                  <a:alpha val="63000"/>
                </a:srgbClr>
              </a:outerShdw>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c:spPr>
          </c:marker>
          <c:dLbls>
            <c:dLbl>
              <c:idx val="9"/>
              <c:layout>
                <c:manualLayout>
                  <c:x val="-5.5360397911664631E-2"/>
                  <c:y val="-3.5042291800216618E-2"/>
                </c:manualLayout>
              </c:layout>
              <c:spPr>
                <a:noFill/>
                <a:ln>
                  <a:noFill/>
                </a:ln>
                <a:effectLst/>
              </c:spPr>
              <c:txPr>
                <a:bodyPr rot="0" spcFirstLastPara="1" vertOverflow="ellipsis" vert="horz" wrap="square" lIns="38100" tIns="19050" rIns="38100" bIns="19050" anchor="ctr" anchorCtr="0">
                  <a:spAutoFit/>
                </a:bodyPr>
                <a:lstStyle/>
                <a:p>
                  <a:pPr algn="r">
                    <a:defRPr sz="900" b="1" i="0" u="none" strike="noStrike" kern="1200" baseline="0">
                      <a:solidFill>
                        <a:schemeClr val="accent1">
                          <a:lumMod val="50000"/>
                        </a:schemeClr>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BCB-4EAA-9B6E-A9847E962E5C}"/>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lumMod val="50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'Physical-Chart Data'!$A$4:$A$25</c:f>
              <c:numCache>
                <c:formatCode>mmm\-yy</c:formatCode>
                <c:ptCount val="22"/>
                <c:pt idx="0">
                  <c:v>45991</c:v>
                </c:pt>
                <c:pt idx="1">
                  <c:v>46022</c:v>
                </c:pt>
                <c:pt idx="2">
                  <c:v>46053</c:v>
                </c:pt>
                <c:pt idx="3">
                  <c:v>46081</c:v>
                </c:pt>
                <c:pt idx="4">
                  <c:v>46112</c:v>
                </c:pt>
                <c:pt idx="5">
                  <c:v>46142</c:v>
                </c:pt>
                <c:pt idx="6">
                  <c:v>46173</c:v>
                </c:pt>
                <c:pt idx="7">
                  <c:v>46203</c:v>
                </c:pt>
                <c:pt idx="8">
                  <c:v>46234</c:v>
                </c:pt>
                <c:pt idx="9">
                  <c:v>46265</c:v>
                </c:pt>
                <c:pt idx="10">
                  <c:v>46295</c:v>
                </c:pt>
                <c:pt idx="11">
                  <c:v>46326</c:v>
                </c:pt>
                <c:pt idx="12">
                  <c:v>46356</c:v>
                </c:pt>
                <c:pt idx="13">
                  <c:v>46387</c:v>
                </c:pt>
                <c:pt idx="14">
                  <c:v>46418</c:v>
                </c:pt>
                <c:pt idx="15">
                  <c:v>46446</c:v>
                </c:pt>
                <c:pt idx="16">
                  <c:v>46477</c:v>
                </c:pt>
                <c:pt idx="17">
                  <c:v>46507</c:v>
                </c:pt>
                <c:pt idx="18">
                  <c:v>46538</c:v>
                </c:pt>
              </c:numCache>
            </c:numRef>
          </c:cat>
          <c:val>
            <c:numRef>
              <c:f>'Physical-Chart Data'!$J$4:$J$25</c:f>
              <c:numCache>
                <c:formatCode>0.0%</c:formatCode>
                <c:ptCount val="22"/>
                <c:pt idx="0">
                  <c:v>4.2229211152877933E-3</c:v>
                </c:pt>
                <c:pt idx="1">
                  <c:v>4.2085945654620996E-2</c:v>
                </c:pt>
                <c:pt idx="2">
                  <c:v>0.10192316875993478</c:v>
                </c:pt>
                <c:pt idx="3" formatCode="0.00%">
                  <c:v>0.17312612139363218</c:v>
                </c:pt>
                <c:pt idx="4" formatCode="0.00%">
                  <c:v>0.33445671676410993</c:v>
                </c:pt>
                <c:pt idx="5" formatCode="0.00%">
                  <c:v>0.486106657752369</c:v>
                </c:pt>
                <c:pt idx="6" formatCode="0.00%">
                  <c:v>0.57381925351853247</c:v>
                </c:pt>
                <c:pt idx="7" formatCode="0.00%">
                  <c:v>0.65951931014251508</c:v>
                </c:pt>
                <c:pt idx="8" formatCode="0.00%">
                  <c:v>0.78394880646195619</c:v>
                </c:pt>
                <c:pt idx="9" formatCode="0.00%">
                  <c:v>0.90238844052094069</c:v>
                </c:pt>
                <c:pt idx="10" formatCode="0.00%">
                  <c:v>0.98015431740812242</c:v>
                </c:pt>
              </c:numCache>
            </c:numRef>
          </c:val>
          <c:smooth val="0"/>
          <c:extLst>
            <c:ext xmlns:c16="http://schemas.microsoft.com/office/drawing/2014/chart" uri="{C3380CC4-5D6E-409C-BE32-E72D297353CC}">
              <c16:uniqueId val="{00000006-BBCB-4EAA-9B6E-A9847E962E5C}"/>
            </c:ext>
          </c:extLst>
        </c:ser>
        <c:ser>
          <c:idx val="3"/>
          <c:order val="3"/>
          <c:tx>
            <c:strRef>
              <c:f>'Physical-Chart Data'!$K$2:$L$2</c:f>
              <c:strCache>
                <c:ptCount val="1"/>
                <c:pt idx="0">
                  <c:v>Forecast </c:v>
                </c:pt>
              </c:strCache>
            </c:strRef>
          </c:tx>
          <c:spPr>
            <a:ln w="34925" cap="rnd">
              <a:solidFill>
                <a:srgbClr val="C00000"/>
              </a:solidFill>
              <a:prstDash val="dashDot"/>
              <a:round/>
            </a:ln>
            <a:effectLst>
              <a:outerShdw blurRad="57150" dist="19050" dir="5400000" algn="ctr" rotWithShape="0">
                <a:srgbClr val="000000">
                  <a:alpha val="63000"/>
                </a:srgbClr>
              </a:outerShdw>
            </a:effectLst>
          </c:spPr>
          <c:marker>
            <c:symbol val="x"/>
            <c:size val="5"/>
            <c:spPr>
              <a:solidFill>
                <a:srgbClr val="C00000"/>
              </a:solidFill>
              <a:ln w="9525">
                <a:solidFill>
                  <a:srgbClr val="FFFF00"/>
                </a:solidFill>
                <a:round/>
              </a:ln>
              <a:effectLst>
                <a:outerShdw blurRad="57150" dist="19050" dir="5400000" algn="ctr" rotWithShape="0">
                  <a:srgbClr val="000000">
                    <a:alpha val="63000"/>
                  </a:srgbClr>
                </a:outerShdw>
              </a:effectLst>
            </c:spPr>
          </c:marker>
          <c:cat>
            <c:numRef>
              <c:f>'Physical-Chart Data'!$A$4:$A$25</c:f>
              <c:numCache>
                <c:formatCode>mmm\-yy</c:formatCode>
                <c:ptCount val="22"/>
                <c:pt idx="0">
                  <c:v>45991</c:v>
                </c:pt>
                <c:pt idx="1">
                  <c:v>46022</c:v>
                </c:pt>
                <c:pt idx="2">
                  <c:v>46053</c:v>
                </c:pt>
                <c:pt idx="3">
                  <c:v>46081</c:v>
                </c:pt>
                <c:pt idx="4">
                  <c:v>46112</c:v>
                </c:pt>
                <c:pt idx="5">
                  <c:v>46142</c:v>
                </c:pt>
                <c:pt idx="6">
                  <c:v>46173</c:v>
                </c:pt>
                <c:pt idx="7">
                  <c:v>46203</c:v>
                </c:pt>
                <c:pt idx="8">
                  <c:v>46234</c:v>
                </c:pt>
                <c:pt idx="9">
                  <c:v>46265</c:v>
                </c:pt>
                <c:pt idx="10">
                  <c:v>46295</c:v>
                </c:pt>
                <c:pt idx="11">
                  <c:v>46326</c:v>
                </c:pt>
                <c:pt idx="12">
                  <c:v>46356</c:v>
                </c:pt>
                <c:pt idx="13">
                  <c:v>46387</c:v>
                </c:pt>
                <c:pt idx="14">
                  <c:v>46418</c:v>
                </c:pt>
                <c:pt idx="15">
                  <c:v>46446</c:v>
                </c:pt>
                <c:pt idx="16">
                  <c:v>46477</c:v>
                </c:pt>
                <c:pt idx="17">
                  <c:v>46507</c:v>
                </c:pt>
                <c:pt idx="18">
                  <c:v>46538</c:v>
                </c:pt>
              </c:numCache>
            </c:numRef>
          </c:cat>
          <c:val>
            <c:numRef>
              <c:f>'Physical-Chart Data'!$M$4:$M$25</c:f>
              <c:numCache>
                <c:formatCode>0.0%</c:formatCode>
                <c:ptCount val="22"/>
                <c:pt idx="8">
                  <c:v>0.64062873087235039</c:v>
                </c:pt>
                <c:pt idx="9">
                  <c:v>0.7428043197958808</c:v>
                </c:pt>
                <c:pt idx="10">
                  <c:v>0.82619166194800142</c:v>
                </c:pt>
                <c:pt idx="11">
                  <c:v>0.86988763891636711</c:v>
                </c:pt>
                <c:pt idx="12">
                  <c:v>0.9119121850717351</c:v>
                </c:pt>
                <c:pt idx="13">
                  <c:v>0.95242903241211341</c:v>
                </c:pt>
                <c:pt idx="14">
                  <c:v>0.99160191293551003</c:v>
                </c:pt>
                <c:pt idx="15">
                  <c:v>0.99999317783341635</c:v>
                </c:pt>
              </c:numCache>
            </c:numRef>
          </c:val>
          <c:smooth val="0"/>
          <c:extLst>
            <c:ext xmlns:c16="http://schemas.microsoft.com/office/drawing/2014/chart" uri="{C3380CC4-5D6E-409C-BE32-E72D297353CC}">
              <c16:uniqueId val="{00000007-BBCB-4EAA-9B6E-A9847E962E5C}"/>
            </c:ext>
          </c:extLst>
        </c:ser>
        <c:dLbls>
          <c:showLegendKey val="0"/>
          <c:showVal val="0"/>
          <c:showCatName val="0"/>
          <c:showSerName val="0"/>
          <c:showPercent val="0"/>
          <c:showBubbleSize val="0"/>
        </c:dLbls>
        <c:marker val="1"/>
        <c:smooth val="0"/>
        <c:axId val="409233360"/>
        <c:axId val="409235712"/>
      </c:lineChart>
      <c:dateAx>
        <c:axId val="409233360"/>
        <c:scaling>
          <c:orientation val="minMax"/>
        </c:scaling>
        <c:delete val="0"/>
        <c:axPos val="b"/>
        <c:numFmt formatCode="mmm\-yy" sourceLinked="1"/>
        <c:majorTickMark val="out"/>
        <c:minorTickMark val="in"/>
        <c:tickLblPos val="nextTo"/>
        <c:spPr>
          <a:solidFill>
            <a:schemeClr val="bg1"/>
          </a:solidFill>
          <a:ln w="12700" cap="flat" cmpd="sng" algn="ctr">
            <a:solidFill>
              <a:schemeClr val="accent6">
                <a:alpha val="96000"/>
              </a:schemeClr>
            </a:solidFill>
            <a:round/>
          </a:ln>
          <a:effectLst>
            <a:outerShdw blurRad="50800" dist="50800" dir="5400000" algn="ctr" rotWithShape="0">
              <a:schemeClr val="bg1"/>
            </a:outerShdw>
          </a:effectLst>
        </c:spPr>
        <c:txPr>
          <a:bodyPr rot="-2100000" spcFirstLastPara="1" vertOverflow="ellipsis" wrap="square" anchor="ctr" anchorCtr="1"/>
          <a:lstStyle/>
          <a:p>
            <a:pPr>
              <a:defRPr sz="1000" b="1" i="0" u="none" strike="noStrike" kern="1200" baseline="0">
                <a:solidFill>
                  <a:srgbClr val="2C6682"/>
                </a:solidFill>
                <a:latin typeface="+mn-lt"/>
                <a:ea typeface="+mn-ea"/>
                <a:cs typeface="+mn-cs"/>
              </a:defRPr>
            </a:pPr>
            <a:endParaRPr lang="en-US"/>
          </a:p>
        </c:txPr>
        <c:crossAx val="409235712"/>
        <c:crosses val="autoZero"/>
        <c:auto val="0"/>
        <c:lblOffset val="100"/>
        <c:baseTimeUnit val="months"/>
      </c:dateAx>
      <c:valAx>
        <c:axId val="409235712"/>
        <c:scaling>
          <c:orientation val="minMax"/>
          <c:max val="1.2"/>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rgbClr val="2C6682"/>
                </a:solidFill>
                <a:latin typeface="+mn-lt"/>
                <a:ea typeface="+mn-ea"/>
                <a:cs typeface="+mn-cs"/>
              </a:defRPr>
            </a:pPr>
            <a:endParaRPr lang="en-US"/>
          </a:p>
        </c:txPr>
        <c:crossAx val="409233360"/>
        <c:crosses val="autoZero"/>
        <c:crossBetween val="between"/>
      </c:valAx>
      <c:spPr>
        <a:solidFill>
          <a:schemeClr val="lt1"/>
        </a:solidFill>
        <a:ln w="12700" cap="flat" cmpd="sng" algn="ctr">
          <a:solidFill>
            <a:srgbClr val="2C6682"/>
          </a:solidFill>
          <a:prstDash val="solid"/>
          <a:miter lim="800000"/>
        </a:ln>
        <a:effectLst/>
      </c:spPr>
    </c:plotArea>
    <c:legend>
      <c:legendPos val="b"/>
      <c:layout>
        <c:manualLayout>
          <c:xMode val="edge"/>
          <c:yMode val="edge"/>
          <c:x val="0.32997703906314074"/>
          <c:y val="0.93096703617502208"/>
          <c:w val="0.53970015961153428"/>
          <c:h val="4.6956544141641902E-2"/>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12700" cap="flat" cmpd="sng" algn="ctr">
      <a:solidFill>
        <a:srgbClr val="53B3DD"/>
      </a:solidFill>
      <a:round/>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rgbClr val="005359"/>
                </a:solidFill>
                <a:latin typeface="Janna LT" panose="01000000000000000000" pitchFamily="2" charset="-78"/>
                <a:ea typeface="+mn-ea"/>
                <a:cs typeface="Janna LT" panose="01000000000000000000" pitchFamily="2" charset="-78"/>
              </a:defRPr>
            </a:pPr>
            <a:r>
              <a:rPr lang="en-US" sz="1800" b="1" u="sng">
                <a:solidFill>
                  <a:srgbClr val="005359"/>
                </a:solidFill>
                <a:latin typeface="Janna LT" panose="01000000000000000000" pitchFamily="2" charset="-78"/>
                <a:cs typeface="Janna LT" panose="01000000000000000000" pitchFamily="2" charset="-78"/>
              </a:rPr>
              <a:t>MANUAL MANPOWER HISTOGRAM</a:t>
            </a:r>
          </a:p>
        </c:rich>
      </c:tx>
      <c:overlay val="0"/>
      <c:spPr>
        <a:noFill/>
        <a:ln>
          <a:noFill/>
        </a:ln>
        <a:effectLst/>
      </c:spPr>
      <c:txPr>
        <a:bodyPr rot="0" spcFirstLastPara="1" vertOverflow="ellipsis" vert="horz" wrap="square" anchor="ctr" anchorCtr="1"/>
        <a:lstStyle/>
        <a:p>
          <a:pPr>
            <a:defRPr sz="1800" b="0" i="0" u="none" strike="noStrike" kern="1200" spc="0" baseline="0">
              <a:solidFill>
                <a:srgbClr val="005359"/>
              </a:solidFill>
              <a:latin typeface="Janna LT" panose="01000000000000000000" pitchFamily="2" charset="-78"/>
              <a:ea typeface="+mn-ea"/>
              <a:cs typeface="Janna LT" panose="01000000000000000000" pitchFamily="2" charset="-78"/>
            </a:defRPr>
          </a:pPr>
          <a:endParaRPr lang="en-US"/>
        </a:p>
      </c:txPr>
    </c:title>
    <c:autoTitleDeleted val="0"/>
    <c:plotArea>
      <c:layout>
        <c:manualLayout>
          <c:layoutTarget val="inner"/>
          <c:xMode val="edge"/>
          <c:yMode val="edge"/>
          <c:x val="3.17246414565691E-2"/>
          <c:y val="1.940695808070313E-2"/>
          <c:w val="0.93904683688124679"/>
          <c:h val="0.90443856727251171"/>
        </c:manualLayout>
      </c:layout>
      <c:barChart>
        <c:barDir val="col"/>
        <c:grouping val="clustered"/>
        <c:varyColors val="0"/>
        <c:ser>
          <c:idx val="0"/>
          <c:order val="0"/>
          <c:tx>
            <c:strRef>
              <c:f>Manpower!$A$11</c:f>
              <c:strCache>
                <c:ptCount val="1"/>
                <c:pt idx="0">
                  <c:v>Plan - Monthly</c:v>
                </c:pt>
              </c:strCache>
            </c:strRef>
          </c:tx>
          <c:spPr>
            <a:solidFill>
              <a:srgbClr val="2C6682"/>
            </a:solidFill>
            <a:ln>
              <a:noFill/>
            </a:ln>
            <a:effectLst/>
          </c:spPr>
          <c:invertIfNegative val="0"/>
          <c:cat>
            <c:numRef>
              <c:f>Manpower!$B$10:$Z$10</c:f>
              <c:numCache>
                <c:formatCode>mmm\-yy</c:formatCode>
                <c:ptCount val="25"/>
                <c:pt idx="0">
                  <c:v>45664</c:v>
                </c:pt>
                <c:pt idx="1">
                  <c:v>45716</c:v>
                </c:pt>
                <c:pt idx="2">
                  <c:v>45747</c:v>
                </c:pt>
                <c:pt idx="3">
                  <c:v>45777</c:v>
                </c:pt>
                <c:pt idx="4">
                  <c:v>45808</c:v>
                </c:pt>
                <c:pt idx="5">
                  <c:v>45838</c:v>
                </c:pt>
                <c:pt idx="6">
                  <c:v>45869</c:v>
                </c:pt>
                <c:pt idx="7">
                  <c:v>45900</c:v>
                </c:pt>
                <c:pt idx="8">
                  <c:v>45930</c:v>
                </c:pt>
                <c:pt idx="9">
                  <c:v>45961</c:v>
                </c:pt>
                <c:pt idx="10">
                  <c:v>45991</c:v>
                </c:pt>
                <c:pt idx="11">
                  <c:v>46022</c:v>
                </c:pt>
                <c:pt idx="12">
                  <c:v>46053</c:v>
                </c:pt>
                <c:pt idx="13">
                  <c:v>46081</c:v>
                </c:pt>
                <c:pt idx="14">
                  <c:v>46112</c:v>
                </c:pt>
                <c:pt idx="15">
                  <c:v>46142</c:v>
                </c:pt>
                <c:pt idx="16">
                  <c:v>46173</c:v>
                </c:pt>
                <c:pt idx="17">
                  <c:v>46203</c:v>
                </c:pt>
                <c:pt idx="18">
                  <c:v>46234</c:v>
                </c:pt>
                <c:pt idx="19">
                  <c:v>46265</c:v>
                </c:pt>
                <c:pt idx="20">
                  <c:v>46295</c:v>
                </c:pt>
              </c:numCache>
            </c:numRef>
          </c:cat>
          <c:val>
            <c:numRef>
              <c:f>Manpower!$B$11:$Z$11</c:f>
              <c:numCache>
                <c:formatCode>General</c:formatCode>
                <c:ptCount val="25"/>
                <c:pt idx="10">
                  <c:v>0</c:v>
                </c:pt>
                <c:pt idx="11">
                  <c:v>3</c:v>
                </c:pt>
                <c:pt idx="12">
                  <c:v>32</c:v>
                </c:pt>
                <c:pt idx="13">
                  <c:v>49</c:v>
                </c:pt>
                <c:pt idx="14">
                  <c:v>61</c:v>
                </c:pt>
                <c:pt idx="15">
                  <c:v>89</c:v>
                </c:pt>
                <c:pt idx="16">
                  <c:v>92</c:v>
                </c:pt>
                <c:pt idx="17">
                  <c:v>81</c:v>
                </c:pt>
                <c:pt idx="18" formatCode="0">
                  <c:v>76</c:v>
                </c:pt>
                <c:pt idx="19" formatCode="0">
                  <c:v>57</c:v>
                </c:pt>
                <c:pt idx="20" formatCode="0">
                  <c:v>34</c:v>
                </c:pt>
              </c:numCache>
            </c:numRef>
          </c:val>
          <c:extLst>
            <c:ext xmlns:c16="http://schemas.microsoft.com/office/drawing/2014/chart" uri="{C3380CC4-5D6E-409C-BE32-E72D297353CC}">
              <c16:uniqueId val="{00000000-DD8E-480A-B7D6-68A0A5D16599}"/>
            </c:ext>
          </c:extLst>
        </c:ser>
        <c:ser>
          <c:idx val="1"/>
          <c:order val="1"/>
          <c:tx>
            <c:strRef>
              <c:f>Manpower!$A$13</c:f>
              <c:strCache>
                <c:ptCount val="1"/>
                <c:pt idx="0">
                  <c:v>Actual - Monthly</c:v>
                </c:pt>
              </c:strCache>
            </c:strRef>
          </c:tx>
          <c:spPr>
            <a:solidFill>
              <a:srgbClr val="92D050"/>
            </a:solidFill>
            <a:ln>
              <a:noFill/>
            </a:ln>
            <a:effectLst/>
          </c:spPr>
          <c:invertIfNegative val="0"/>
          <c:cat>
            <c:numRef>
              <c:f>Manpower!$B$10:$Z$10</c:f>
              <c:numCache>
                <c:formatCode>mmm\-yy</c:formatCode>
                <c:ptCount val="25"/>
                <c:pt idx="0">
                  <c:v>45664</c:v>
                </c:pt>
                <c:pt idx="1">
                  <c:v>45716</c:v>
                </c:pt>
                <c:pt idx="2">
                  <c:v>45747</c:v>
                </c:pt>
                <c:pt idx="3">
                  <c:v>45777</c:v>
                </c:pt>
                <c:pt idx="4">
                  <c:v>45808</c:v>
                </c:pt>
                <c:pt idx="5">
                  <c:v>45838</c:v>
                </c:pt>
                <c:pt idx="6">
                  <c:v>45869</c:v>
                </c:pt>
                <c:pt idx="7">
                  <c:v>45900</c:v>
                </c:pt>
                <c:pt idx="8">
                  <c:v>45930</c:v>
                </c:pt>
                <c:pt idx="9">
                  <c:v>45961</c:v>
                </c:pt>
                <c:pt idx="10">
                  <c:v>45991</c:v>
                </c:pt>
                <c:pt idx="11">
                  <c:v>46022</c:v>
                </c:pt>
                <c:pt idx="12">
                  <c:v>46053</c:v>
                </c:pt>
                <c:pt idx="13">
                  <c:v>46081</c:v>
                </c:pt>
                <c:pt idx="14">
                  <c:v>46112</c:v>
                </c:pt>
                <c:pt idx="15">
                  <c:v>46142</c:v>
                </c:pt>
                <c:pt idx="16">
                  <c:v>46173</c:v>
                </c:pt>
                <c:pt idx="17">
                  <c:v>46203</c:v>
                </c:pt>
                <c:pt idx="18">
                  <c:v>46234</c:v>
                </c:pt>
                <c:pt idx="19">
                  <c:v>46265</c:v>
                </c:pt>
                <c:pt idx="20">
                  <c:v>46295</c:v>
                </c:pt>
              </c:numCache>
            </c:numRef>
          </c:cat>
          <c:val>
            <c:numRef>
              <c:f>Manpower!$B$13:$Z$13</c:f>
              <c:numCache>
                <c:formatCode>General</c:formatCode>
                <c:ptCount val="25"/>
                <c:pt idx="10">
                  <c:v>15</c:v>
                </c:pt>
                <c:pt idx="11">
                  <c:v>21</c:v>
                </c:pt>
                <c:pt idx="12">
                  <c:v>22</c:v>
                </c:pt>
                <c:pt idx="13">
                  <c:v>30</c:v>
                </c:pt>
                <c:pt idx="14">
                  <c:v>35</c:v>
                </c:pt>
                <c:pt idx="15">
                  <c:v>51</c:v>
                </c:pt>
                <c:pt idx="16">
                  <c:v>54</c:v>
                </c:pt>
                <c:pt idx="17">
                  <c:v>67</c:v>
                </c:pt>
                <c:pt idx="18">
                  <c:v>57</c:v>
                </c:pt>
                <c:pt idx="19">
                  <c:v>63</c:v>
                </c:pt>
                <c:pt idx="20">
                  <c:v>58</c:v>
                </c:pt>
              </c:numCache>
            </c:numRef>
          </c:val>
          <c:extLst>
            <c:ext xmlns:c16="http://schemas.microsoft.com/office/drawing/2014/chart" uri="{C3380CC4-5D6E-409C-BE32-E72D297353CC}">
              <c16:uniqueId val="{00000001-DD8E-480A-B7D6-68A0A5D16599}"/>
            </c:ext>
          </c:extLst>
        </c:ser>
        <c:ser>
          <c:idx val="2"/>
          <c:order val="2"/>
          <c:tx>
            <c:strRef>
              <c:f>Manpower!$A$15</c:f>
              <c:strCache>
                <c:ptCount val="1"/>
                <c:pt idx="0">
                  <c:v>Forecast - Monthly</c:v>
                </c:pt>
              </c:strCache>
            </c:strRef>
          </c:tx>
          <c:spPr>
            <a:solidFill>
              <a:srgbClr val="00B0F0"/>
            </a:solidFill>
            <a:ln>
              <a:noFill/>
            </a:ln>
            <a:effectLst/>
          </c:spPr>
          <c:invertIfNegative val="0"/>
          <c:cat>
            <c:numRef>
              <c:f>Manpower!$B$10:$Z$10</c:f>
              <c:numCache>
                <c:formatCode>mmm\-yy</c:formatCode>
                <c:ptCount val="25"/>
                <c:pt idx="0">
                  <c:v>45664</c:v>
                </c:pt>
                <c:pt idx="1">
                  <c:v>45716</c:v>
                </c:pt>
                <c:pt idx="2">
                  <c:v>45747</c:v>
                </c:pt>
                <c:pt idx="3">
                  <c:v>45777</c:v>
                </c:pt>
                <c:pt idx="4">
                  <c:v>45808</c:v>
                </c:pt>
                <c:pt idx="5">
                  <c:v>45838</c:v>
                </c:pt>
                <c:pt idx="6">
                  <c:v>45869</c:v>
                </c:pt>
                <c:pt idx="7">
                  <c:v>45900</c:v>
                </c:pt>
                <c:pt idx="8">
                  <c:v>45930</c:v>
                </c:pt>
                <c:pt idx="9">
                  <c:v>45961</c:v>
                </c:pt>
                <c:pt idx="10">
                  <c:v>45991</c:v>
                </c:pt>
                <c:pt idx="11">
                  <c:v>46022</c:v>
                </c:pt>
                <c:pt idx="12">
                  <c:v>46053</c:v>
                </c:pt>
                <c:pt idx="13">
                  <c:v>46081</c:v>
                </c:pt>
                <c:pt idx="14">
                  <c:v>46112</c:v>
                </c:pt>
                <c:pt idx="15">
                  <c:v>46142</c:v>
                </c:pt>
                <c:pt idx="16">
                  <c:v>46173</c:v>
                </c:pt>
                <c:pt idx="17">
                  <c:v>46203</c:v>
                </c:pt>
                <c:pt idx="18">
                  <c:v>46234</c:v>
                </c:pt>
                <c:pt idx="19">
                  <c:v>46265</c:v>
                </c:pt>
                <c:pt idx="20">
                  <c:v>46295</c:v>
                </c:pt>
              </c:numCache>
            </c:numRef>
          </c:cat>
          <c:val>
            <c:numRef>
              <c:f>Manpower!$B$15:$Z$15</c:f>
              <c:numCache>
                <c:formatCode>General</c:formatCode>
                <c:ptCount val="25"/>
                <c:pt idx="10">
                  <c:v>0</c:v>
                </c:pt>
                <c:pt idx="11">
                  <c:v>18</c:v>
                </c:pt>
                <c:pt idx="12">
                  <c:v>17</c:v>
                </c:pt>
                <c:pt idx="13">
                  <c:v>40</c:v>
                </c:pt>
                <c:pt idx="14">
                  <c:v>53</c:v>
                </c:pt>
                <c:pt idx="15">
                  <c:v>75</c:v>
                </c:pt>
                <c:pt idx="16">
                  <c:v>82</c:v>
                </c:pt>
                <c:pt idx="17">
                  <c:v>85</c:v>
                </c:pt>
                <c:pt idx="18">
                  <c:v>81</c:v>
                </c:pt>
                <c:pt idx="19">
                  <c:v>75</c:v>
                </c:pt>
                <c:pt idx="20">
                  <c:v>72</c:v>
                </c:pt>
              </c:numCache>
            </c:numRef>
          </c:val>
          <c:extLst>
            <c:ext xmlns:c16="http://schemas.microsoft.com/office/drawing/2014/chart" uri="{C3380CC4-5D6E-409C-BE32-E72D297353CC}">
              <c16:uniqueId val="{00000002-DD8E-480A-B7D6-68A0A5D16599}"/>
            </c:ext>
          </c:extLst>
        </c:ser>
        <c:dLbls>
          <c:showLegendKey val="0"/>
          <c:showVal val="0"/>
          <c:showCatName val="0"/>
          <c:showSerName val="0"/>
          <c:showPercent val="0"/>
          <c:showBubbleSize val="0"/>
        </c:dLbls>
        <c:gapWidth val="219"/>
        <c:axId val="146555056"/>
        <c:axId val="146549960"/>
      </c:barChart>
      <c:dateAx>
        <c:axId val="146555056"/>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46549960"/>
        <c:crosses val="autoZero"/>
        <c:auto val="1"/>
        <c:lblOffset val="100"/>
        <c:baseTimeUnit val="months"/>
      </c:dateAx>
      <c:valAx>
        <c:axId val="1465499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46555056"/>
        <c:crosses val="autoZero"/>
        <c:crossBetween val="between"/>
      </c:valAx>
      <c:spPr>
        <a:noFill/>
        <a:ln w="25400">
          <a:noFill/>
        </a:ln>
        <a:effectLst/>
      </c:spPr>
    </c:plotArea>
    <c:legend>
      <c:legendPos val="tr"/>
      <c:overlay val="0"/>
      <c:spPr>
        <a:noFill/>
        <a:ln>
          <a:solidFill>
            <a:schemeClr val="tx1"/>
          </a:solid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Janna LT" panose="01000000000000000000" pitchFamily="2" charset="-78"/>
              <a:ea typeface="+mn-ea"/>
              <a:cs typeface="Janna LT" panose="01000000000000000000" pitchFamily="2" charset="-78"/>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rgbClr val="005359"/>
                </a:solidFill>
                <a:latin typeface="Janna LT" panose="01000000000000000000" pitchFamily="2" charset="-78"/>
                <a:ea typeface="+mn-ea"/>
                <a:cs typeface="Janna LT" panose="01000000000000000000" pitchFamily="2" charset="-78"/>
              </a:defRPr>
            </a:pPr>
            <a:r>
              <a:rPr lang="en-US" sz="1800" b="1" u="sng">
                <a:solidFill>
                  <a:srgbClr val="005359"/>
                </a:solidFill>
                <a:latin typeface="Janna LT" panose="01000000000000000000" pitchFamily="2" charset="-78"/>
                <a:cs typeface="Janna LT" panose="01000000000000000000" pitchFamily="2" charset="-78"/>
              </a:rPr>
              <a:t>EQUIPMENT HISTOGRAM</a:t>
            </a:r>
          </a:p>
        </c:rich>
      </c:tx>
      <c:overlay val="0"/>
      <c:spPr>
        <a:noFill/>
        <a:ln>
          <a:noFill/>
        </a:ln>
        <a:effectLst/>
      </c:spPr>
      <c:txPr>
        <a:bodyPr rot="0" spcFirstLastPara="1" vertOverflow="ellipsis" vert="horz" wrap="square" anchor="ctr" anchorCtr="1"/>
        <a:lstStyle/>
        <a:p>
          <a:pPr>
            <a:defRPr sz="1800" b="0" i="0" u="none" strike="noStrike" kern="1200" spc="0" baseline="0">
              <a:solidFill>
                <a:srgbClr val="005359"/>
              </a:solidFill>
              <a:latin typeface="Janna LT" panose="01000000000000000000" pitchFamily="2" charset="-78"/>
              <a:ea typeface="+mn-ea"/>
              <a:cs typeface="Janna LT" panose="01000000000000000000" pitchFamily="2" charset="-78"/>
            </a:defRPr>
          </a:pPr>
          <a:endParaRPr lang="en-US"/>
        </a:p>
      </c:txPr>
    </c:title>
    <c:autoTitleDeleted val="0"/>
    <c:plotArea>
      <c:layout>
        <c:manualLayout>
          <c:layoutTarget val="inner"/>
          <c:xMode val="edge"/>
          <c:yMode val="edge"/>
          <c:x val="3.17246414565691E-2"/>
          <c:y val="1.940695808070313E-2"/>
          <c:w val="0.93904683688124679"/>
          <c:h val="0.90443856727251171"/>
        </c:manualLayout>
      </c:layout>
      <c:barChart>
        <c:barDir val="col"/>
        <c:grouping val="clustered"/>
        <c:varyColors val="0"/>
        <c:ser>
          <c:idx val="0"/>
          <c:order val="0"/>
          <c:tx>
            <c:strRef>
              <c:f>Manpower!$A$34</c:f>
              <c:strCache>
                <c:ptCount val="1"/>
                <c:pt idx="0">
                  <c:v>Plan - Monthly</c:v>
                </c:pt>
              </c:strCache>
            </c:strRef>
          </c:tx>
          <c:spPr>
            <a:solidFill>
              <a:srgbClr val="2C6682"/>
            </a:solidFill>
            <a:ln>
              <a:noFill/>
            </a:ln>
            <a:effectLst/>
          </c:spPr>
          <c:invertIfNegative val="0"/>
          <c:cat>
            <c:strRef>
              <c:f>Manpower!$B$32:$Z$33</c:f>
              <c:strCache>
                <c:ptCount val="21"/>
                <c:pt idx="0">
                  <c:v>Jan-25</c:v>
                </c:pt>
                <c:pt idx="1">
                  <c:v>Feb-25</c:v>
                </c:pt>
                <c:pt idx="2">
                  <c:v>Mar-25</c:v>
                </c:pt>
                <c:pt idx="3">
                  <c:v>Apr-25</c:v>
                </c:pt>
                <c:pt idx="4">
                  <c:v>May-25</c:v>
                </c:pt>
                <c:pt idx="5">
                  <c:v>Jun-25</c:v>
                </c:pt>
                <c:pt idx="6">
                  <c:v>Jul-25</c:v>
                </c:pt>
                <c:pt idx="7">
                  <c:v>Aug-25</c:v>
                </c:pt>
                <c:pt idx="8">
                  <c:v>Sep-25</c:v>
                </c:pt>
                <c:pt idx="9">
                  <c:v>Oct-25</c:v>
                </c:pt>
                <c:pt idx="10">
                  <c:v>Nov-25</c:v>
                </c:pt>
                <c:pt idx="11">
                  <c:v>Dec-25</c:v>
                </c:pt>
                <c:pt idx="12">
                  <c:v>Jan-26</c:v>
                </c:pt>
                <c:pt idx="13">
                  <c:v>Feb-26</c:v>
                </c:pt>
                <c:pt idx="14">
                  <c:v>Mar-26</c:v>
                </c:pt>
                <c:pt idx="15">
                  <c:v>Apr-26</c:v>
                </c:pt>
                <c:pt idx="16">
                  <c:v>May-26</c:v>
                </c:pt>
                <c:pt idx="17">
                  <c:v>Jun-26</c:v>
                </c:pt>
                <c:pt idx="18">
                  <c:v>Jul-26</c:v>
                </c:pt>
                <c:pt idx="19">
                  <c:v>Aug-26</c:v>
                </c:pt>
                <c:pt idx="20">
                  <c:v>Sep-26</c:v>
                </c:pt>
              </c:strCache>
            </c:strRef>
          </c:cat>
          <c:val>
            <c:numRef>
              <c:f>Manpower!$B$34:$Z$34</c:f>
              <c:numCache>
                <c:formatCode>General</c:formatCode>
                <c:ptCount val="25"/>
                <c:pt idx="10">
                  <c:v>0</c:v>
                </c:pt>
                <c:pt idx="11">
                  <c:v>11</c:v>
                </c:pt>
                <c:pt idx="12">
                  <c:v>18</c:v>
                </c:pt>
                <c:pt idx="13">
                  <c:v>18</c:v>
                </c:pt>
                <c:pt idx="14">
                  <c:v>23</c:v>
                </c:pt>
                <c:pt idx="15">
                  <c:v>24</c:v>
                </c:pt>
                <c:pt idx="16">
                  <c:v>26</c:v>
                </c:pt>
                <c:pt idx="17">
                  <c:v>22</c:v>
                </c:pt>
                <c:pt idx="18" formatCode="0">
                  <c:v>17</c:v>
                </c:pt>
                <c:pt idx="19" formatCode="0">
                  <c:v>16</c:v>
                </c:pt>
              </c:numCache>
            </c:numRef>
          </c:val>
          <c:extLst>
            <c:ext xmlns:c16="http://schemas.microsoft.com/office/drawing/2014/chart" uri="{C3380CC4-5D6E-409C-BE32-E72D297353CC}">
              <c16:uniqueId val="{00000000-5218-422D-B697-E832EF9F0AF4}"/>
            </c:ext>
          </c:extLst>
        </c:ser>
        <c:ser>
          <c:idx val="1"/>
          <c:order val="1"/>
          <c:tx>
            <c:strRef>
              <c:f>Manpower!$A$36</c:f>
              <c:strCache>
                <c:ptCount val="1"/>
                <c:pt idx="0">
                  <c:v>Actual - Monthly</c:v>
                </c:pt>
              </c:strCache>
            </c:strRef>
          </c:tx>
          <c:spPr>
            <a:solidFill>
              <a:srgbClr val="7DCB73"/>
            </a:solidFill>
            <a:ln>
              <a:noFill/>
            </a:ln>
            <a:effectLst/>
          </c:spPr>
          <c:invertIfNegative val="0"/>
          <c:cat>
            <c:strRef>
              <c:f>Manpower!$B$32:$Z$33</c:f>
              <c:strCache>
                <c:ptCount val="21"/>
                <c:pt idx="0">
                  <c:v>Jan-25</c:v>
                </c:pt>
                <c:pt idx="1">
                  <c:v>Feb-25</c:v>
                </c:pt>
                <c:pt idx="2">
                  <c:v>Mar-25</c:v>
                </c:pt>
                <c:pt idx="3">
                  <c:v>Apr-25</c:v>
                </c:pt>
                <c:pt idx="4">
                  <c:v>May-25</c:v>
                </c:pt>
                <c:pt idx="5">
                  <c:v>Jun-25</c:v>
                </c:pt>
                <c:pt idx="6">
                  <c:v>Jul-25</c:v>
                </c:pt>
                <c:pt idx="7">
                  <c:v>Aug-25</c:v>
                </c:pt>
                <c:pt idx="8">
                  <c:v>Sep-25</c:v>
                </c:pt>
                <c:pt idx="9">
                  <c:v>Oct-25</c:v>
                </c:pt>
                <c:pt idx="10">
                  <c:v>Nov-25</c:v>
                </c:pt>
                <c:pt idx="11">
                  <c:v>Dec-25</c:v>
                </c:pt>
                <c:pt idx="12">
                  <c:v>Jan-26</c:v>
                </c:pt>
                <c:pt idx="13">
                  <c:v>Feb-26</c:v>
                </c:pt>
                <c:pt idx="14">
                  <c:v>Mar-26</c:v>
                </c:pt>
                <c:pt idx="15">
                  <c:v>Apr-26</c:v>
                </c:pt>
                <c:pt idx="16">
                  <c:v>May-26</c:v>
                </c:pt>
                <c:pt idx="17">
                  <c:v>Jun-26</c:v>
                </c:pt>
                <c:pt idx="18">
                  <c:v>Jul-26</c:v>
                </c:pt>
                <c:pt idx="19">
                  <c:v>Aug-26</c:v>
                </c:pt>
                <c:pt idx="20">
                  <c:v>Sep-26</c:v>
                </c:pt>
              </c:strCache>
            </c:strRef>
          </c:cat>
          <c:val>
            <c:numRef>
              <c:f>Manpower!$B$36:$Z$36</c:f>
              <c:numCache>
                <c:formatCode>General</c:formatCode>
                <c:ptCount val="25"/>
                <c:pt idx="10">
                  <c:v>0</c:v>
                </c:pt>
                <c:pt idx="11">
                  <c:v>5</c:v>
                </c:pt>
                <c:pt idx="12">
                  <c:v>8</c:v>
                </c:pt>
                <c:pt idx="13">
                  <c:v>14</c:v>
                </c:pt>
                <c:pt idx="14">
                  <c:v>8</c:v>
                </c:pt>
                <c:pt idx="15">
                  <c:v>13</c:v>
                </c:pt>
                <c:pt idx="16">
                  <c:v>16</c:v>
                </c:pt>
                <c:pt idx="17">
                  <c:v>15</c:v>
                </c:pt>
                <c:pt idx="18">
                  <c:v>12</c:v>
                </c:pt>
                <c:pt idx="19">
                  <c:v>11</c:v>
                </c:pt>
                <c:pt idx="20">
                  <c:v>13</c:v>
                </c:pt>
              </c:numCache>
            </c:numRef>
          </c:val>
          <c:extLst>
            <c:ext xmlns:c16="http://schemas.microsoft.com/office/drawing/2014/chart" uri="{C3380CC4-5D6E-409C-BE32-E72D297353CC}">
              <c16:uniqueId val="{00000001-5218-422D-B697-E832EF9F0AF4}"/>
            </c:ext>
          </c:extLst>
        </c:ser>
        <c:ser>
          <c:idx val="2"/>
          <c:order val="2"/>
          <c:tx>
            <c:strRef>
              <c:f>Manpower!$A$38</c:f>
              <c:strCache>
                <c:ptCount val="1"/>
                <c:pt idx="0">
                  <c:v>Forecast - Monthly</c:v>
                </c:pt>
              </c:strCache>
            </c:strRef>
          </c:tx>
          <c:spPr>
            <a:solidFill>
              <a:srgbClr val="00B0F0"/>
            </a:solidFill>
            <a:ln>
              <a:noFill/>
            </a:ln>
            <a:effectLst/>
          </c:spPr>
          <c:invertIfNegative val="0"/>
          <c:cat>
            <c:strRef>
              <c:f>Manpower!$B$32:$Z$33</c:f>
              <c:strCache>
                <c:ptCount val="21"/>
                <c:pt idx="0">
                  <c:v>Jan-25</c:v>
                </c:pt>
                <c:pt idx="1">
                  <c:v>Feb-25</c:v>
                </c:pt>
                <c:pt idx="2">
                  <c:v>Mar-25</c:v>
                </c:pt>
                <c:pt idx="3">
                  <c:v>Apr-25</c:v>
                </c:pt>
                <c:pt idx="4">
                  <c:v>May-25</c:v>
                </c:pt>
                <c:pt idx="5">
                  <c:v>Jun-25</c:v>
                </c:pt>
                <c:pt idx="6">
                  <c:v>Jul-25</c:v>
                </c:pt>
                <c:pt idx="7">
                  <c:v>Aug-25</c:v>
                </c:pt>
                <c:pt idx="8">
                  <c:v>Sep-25</c:v>
                </c:pt>
                <c:pt idx="9">
                  <c:v>Oct-25</c:v>
                </c:pt>
                <c:pt idx="10">
                  <c:v>Nov-25</c:v>
                </c:pt>
                <c:pt idx="11">
                  <c:v>Dec-25</c:v>
                </c:pt>
                <c:pt idx="12">
                  <c:v>Jan-26</c:v>
                </c:pt>
                <c:pt idx="13">
                  <c:v>Feb-26</c:v>
                </c:pt>
                <c:pt idx="14">
                  <c:v>Mar-26</c:v>
                </c:pt>
                <c:pt idx="15">
                  <c:v>Apr-26</c:v>
                </c:pt>
                <c:pt idx="16">
                  <c:v>May-26</c:v>
                </c:pt>
                <c:pt idx="17">
                  <c:v>Jun-26</c:v>
                </c:pt>
                <c:pt idx="18">
                  <c:v>Jul-26</c:v>
                </c:pt>
                <c:pt idx="19">
                  <c:v>Aug-26</c:v>
                </c:pt>
                <c:pt idx="20">
                  <c:v>Sep-26</c:v>
                </c:pt>
              </c:strCache>
            </c:strRef>
          </c:cat>
          <c:val>
            <c:numRef>
              <c:f>Manpower!$B$38:$Z$38</c:f>
              <c:numCache>
                <c:formatCode>General</c:formatCode>
                <c:ptCount val="25"/>
                <c:pt idx="13">
                  <c:v>10</c:v>
                </c:pt>
                <c:pt idx="14">
                  <c:v>16</c:v>
                </c:pt>
                <c:pt idx="15">
                  <c:v>18</c:v>
                </c:pt>
                <c:pt idx="16">
                  <c:v>24</c:v>
                </c:pt>
                <c:pt idx="17">
                  <c:v>20</c:v>
                </c:pt>
                <c:pt idx="18">
                  <c:v>21</c:v>
                </c:pt>
              </c:numCache>
            </c:numRef>
          </c:val>
          <c:extLst>
            <c:ext xmlns:c16="http://schemas.microsoft.com/office/drawing/2014/chart" uri="{C3380CC4-5D6E-409C-BE32-E72D297353CC}">
              <c16:uniqueId val="{00000002-5218-422D-B697-E832EF9F0AF4}"/>
            </c:ext>
          </c:extLst>
        </c:ser>
        <c:dLbls>
          <c:showLegendKey val="0"/>
          <c:showVal val="0"/>
          <c:showCatName val="0"/>
          <c:showSerName val="0"/>
          <c:showPercent val="0"/>
          <c:showBubbleSize val="0"/>
        </c:dLbls>
        <c:gapWidth val="219"/>
        <c:axId val="146555056"/>
        <c:axId val="146549960"/>
      </c:barChart>
      <c:dateAx>
        <c:axId val="146555056"/>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46549960"/>
        <c:crosses val="autoZero"/>
        <c:auto val="1"/>
        <c:lblOffset val="100"/>
        <c:baseTimeUnit val="months"/>
      </c:dateAx>
      <c:valAx>
        <c:axId val="1465499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146555056"/>
        <c:crosses val="autoZero"/>
        <c:crossBetween val="between"/>
      </c:valAx>
      <c:spPr>
        <a:noFill/>
        <a:ln w="25400">
          <a:noFill/>
        </a:ln>
        <a:effectLst/>
      </c:spPr>
    </c:plotArea>
    <c:legend>
      <c:legendPos val="tr"/>
      <c:overlay val="0"/>
      <c:spPr>
        <a:noFill/>
        <a:ln>
          <a:solidFill>
            <a:schemeClr val="tx1"/>
          </a:solid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Janna LT" panose="01000000000000000000" pitchFamily="2" charset="-78"/>
              <a:ea typeface="+mn-ea"/>
              <a:cs typeface="Janna LT" panose="01000000000000000000" pitchFamily="2" charset="-78"/>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0.82044</cdr:x>
      <cdr:y>0.63651</cdr:y>
    </cdr:from>
    <cdr:to>
      <cdr:x>0.97195</cdr:x>
      <cdr:y>0.81017</cdr:y>
    </cdr:to>
    <cdr:sp macro="" textlink="">
      <cdr:nvSpPr>
        <cdr:cNvPr id="2" name="TextBox 1">
          <a:extLst xmlns:a="http://schemas.openxmlformats.org/drawingml/2006/main">
            <a:ext uri="{FF2B5EF4-FFF2-40B4-BE49-F238E27FC236}">
              <a16:creationId xmlns:a16="http://schemas.microsoft.com/office/drawing/2014/main" id="{FBA1C77B-3051-4439-BC04-B900508C52C8}"/>
            </a:ext>
          </a:extLst>
        </cdr:cNvPr>
        <cdr:cNvSpPr txBox="1"/>
      </cdr:nvSpPr>
      <cdr:spPr>
        <a:xfrm xmlns:a="http://schemas.openxmlformats.org/drawingml/2006/main">
          <a:off x="11236552" y="4475418"/>
          <a:ext cx="2075017" cy="1221035"/>
        </a:xfrm>
        <a:prstGeom xmlns:a="http://schemas.openxmlformats.org/drawingml/2006/main" prst="rect">
          <a:avLst/>
        </a:prstGeom>
        <a:ln xmlns:a="http://schemas.openxmlformats.org/drawingml/2006/main">
          <a:solidFill>
            <a:srgbClr val="2C6682"/>
          </a:solidFill>
        </a:ln>
      </cdr:spPr>
      <cdr: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cdr:style>
      <cdr:txBody>
        <a:bodyPr xmlns:a="http://schemas.openxmlformats.org/drawingml/2006/main" wrap="square" rtlCol="0" anchor="ct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1200" b="1">
              <a:solidFill>
                <a:srgbClr val="2C6682"/>
              </a:solidFill>
            </a:rPr>
            <a:t>Planned </a:t>
          </a:r>
          <a:r>
            <a:rPr lang="en-US" sz="1200" b="1" baseline="0">
              <a:solidFill>
                <a:srgbClr val="2C6682"/>
              </a:solidFill>
            </a:rPr>
            <a:t>     </a:t>
          </a:r>
          <a:r>
            <a:rPr lang="en-US" sz="1200" b="1">
              <a:solidFill>
                <a:srgbClr val="2C6682"/>
              </a:solidFill>
            </a:rPr>
            <a:t>= </a:t>
          </a:r>
        </a:p>
        <a:p xmlns:a="http://schemas.openxmlformats.org/drawingml/2006/main">
          <a:pPr algn="l"/>
          <a:r>
            <a:rPr lang="en-US" sz="1200" b="1">
              <a:solidFill>
                <a:srgbClr val="2C6682"/>
              </a:solidFill>
            </a:rPr>
            <a:t>Earned  </a:t>
          </a:r>
          <a:r>
            <a:rPr lang="en-US" sz="1200" b="1" baseline="0">
              <a:solidFill>
                <a:srgbClr val="2C6682"/>
              </a:solidFill>
            </a:rPr>
            <a:t>     </a:t>
          </a:r>
          <a:r>
            <a:rPr lang="en-US" sz="1200" b="1">
              <a:solidFill>
                <a:srgbClr val="2C6682"/>
              </a:solidFill>
            </a:rPr>
            <a:t> = </a:t>
          </a:r>
        </a:p>
        <a:p xmlns:a="http://schemas.openxmlformats.org/drawingml/2006/main">
          <a:pPr algn="l"/>
          <a:r>
            <a:rPr lang="en-US" sz="1200" b="1">
              <a:solidFill>
                <a:srgbClr val="2C6682"/>
              </a:solidFill>
            </a:rPr>
            <a:t>Variance     = </a:t>
          </a:r>
        </a:p>
      </cdr:txBody>
    </cdr:sp>
  </cdr:relSizeAnchor>
  <cdr:relSizeAnchor xmlns:cdr="http://schemas.openxmlformats.org/drawingml/2006/chartDrawing">
    <cdr:from>
      <cdr:x>0.88888</cdr:x>
      <cdr:y>0.65571</cdr:y>
    </cdr:from>
    <cdr:to>
      <cdr:x>0.97355</cdr:x>
      <cdr:y>0.71469</cdr:y>
    </cdr:to>
    <cdr:sp macro="" textlink="">
      <cdr:nvSpPr>
        <cdr:cNvPr id="3" name="Rectangle 2">
          <a:extLst xmlns:a="http://schemas.openxmlformats.org/drawingml/2006/main">
            <a:ext uri="{FF2B5EF4-FFF2-40B4-BE49-F238E27FC236}">
              <a16:creationId xmlns:a16="http://schemas.microsoft.com/office/drawing/2014/main" id="{C513E201-95DF-49A2-B48A-0C1302B0FC09}"/>
            </a:ext>
          </a:extLst>
        </cdr:cNvPr>
        <cdr:cNvSpPr/>
      </cdr:nvSpPr>
      <cdr:spPr>
        <a:xfrm xmlns:a="http://schemas.openxmlformats.org/drawingml/2006/main">
          <a:off x="8723925" y="3288354"/>
          <a:ext cx="830994" cy="295768"/>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fld id="{82871692-5E6F-4F0C-847F-17ACE05FAFE7}" type="TxLink">
            <a:rPr lang="en-US" sz="1100" b="1" i="0" u="none" strike="noStrike">
              <a:solidFill>
                <a:srgbClr val="2C6682"/>
              </a:solidFill>
              <a:latin typeface="Calibri"/>
              <a:ea typeface="Calibri"/>
              <a:cs typeface="Calibri"/>
            </a:rPr>
            <a:pPr algn="ctr"/>
            <a:t>99.55%</a:t>
          </a:fld>
          <a:endParaRPr lang="en-US" sz="1100" b="1">
            <a:solidFill>
              <a:srgbClr val="2C6682"/>
            </a:solidFill>
          </a:endParaRPr>
        </a:p>
      </cdr:txBody>
    </cdr:sp>
  </cdr:relSizeAnchor>
  <cdr:relSizeAnchor xmlns:cdr="http://schemas.openxmlformats.org/drawingml/2006/chartDrawing">
    <cdr:from>
      <cdr:x>0.88917</cdr:x>
      <cdr:y>0.70818</cdr:y>
    </cdr:from>
    <cdr:to>
      <cdr:x>0.97384</cdr:x>
      <cdr:y>0.75312</cdr:y>
    </cdr:to>
    <cdr:sp macro="" textlink="">
      <cdr:nvSpPr>
        <cdr:cNvPr id="4" name="Rectangle 3">
          <a:extLst xmlns:a="http://schemas.openxmlformats.org/drawingml/2006/main">
            <a:ext uri="{FF2B5EF4-FFF2-40B4-BE49-F238E27FC236}">
              <a16:creationId xmlns:a16="http://schemas.microsoft.com/office/drawing/2014/main" id="{803C1631-D68A-4C5C-86FA-6D532A975916}"/>
            </a:ext>
          </a:extLst>
        </cdr:cNvPr>
        <cdr:cNvSpPr/>
      </cdr:nvSpPr>
      <cdr:spPr>
        <a:xfrm xmlns:a="http://schemas.openxmlformats.org/drawingml/2006/main">
          <a:off x="8726763" y="3551464"/>
          <a:ext cx="830993" cy="225391"/>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fld id="{A1E5E7CF-6B16-424B-AACC-BF2F728A327C}" type="TxLink">
            <a:rPr lang="en-US" sz="1100" b="1" i="0" u="none" strike="noStrike">
              <a:solidFill>
                <a:srgbClr val="2C6682"/>
              </a:solidFill>
              <a:latin typeface="Calibri"/>
              <a:ea typeface="Calibri"/>
              <a:cs typeface="Calibri"/>
            </a:rPr>
            <a:pPr algn="ctr"/>
            <a:t>98.17%</a:t>
          </a:fld>
          <a:endParaRPr lang="en-US" sz="1100" b="1">
            <a:solidFill>
              <a:srgbClr val="2C6682"/>
            </a:solidFill>
          </a:endParaRPr>
        </a:p>
      </cdr:txBody>
    </cdr:sp>
  </cdr:relSizeAnchor>
  <cdr:relSizeAnchor xmlns:cdr="http://schemas.openxmlformats.org/drawingml/2006/chartDrawing">
    <cdr:from>
      <cdr:x>0.88999</cdr:x>
      <cdr:y>0.74073</cdr:y>
    </cdr:from>
    <cdr:to>
      <cdr:x>0.97466</cdr:x>
      <cdr:y>0.79963</cdr:y>
    </cdr:to>
    <cdr:sp macro="" textlink="">
      <cdr:nvSpPr>
        <cdr:cNvPr id="5" name="Rectangle 4">
          <a:extLst xmlns:a="http://schemas.openxmlformats.org/drawingml/2006/main">
            <a:ext uri="{FF2B5EF4-FFF2-40B4-BE49-F238E27FC236}">
              <a16:creationId xmlns:a16="http://schemas.microsoft.com/office/drawing/2014/main" id="{BEEE95DE-671F-4937-A782-38D64975B921}"/>
            </a:ext>
          </a:extLst>
        </cdr:cNvPr>
        <cdr:cNvSpPr/>
      </cdr:nvSpPr>
      <cdr:spPr>
        <a:xfrm xmlns:a="http://schemas.openxmlformats.org/drawingml/2006/main">
          <a:off x="8734810" y="3714750"/>
          <a:ext cx="830994" cy="295374"/>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fld id="{A4016292-E47F-41B1-A00D-00DDFFDC0535}" type="TxLink">
            <a:rPr lang="en-US" sz="1100" b="1" i="0" u="none" strike="noStrike">
              <a:solidFill>
                <a:srgbClr val="2C6682"/>
              </a:solidFill>
              <a:latin typeface="Calibri"/>
              <a:ea typeface="Calibri"/>
              <a:cs typeface="Calibri"/>
            </a:rPr>
            <a:pPr algn="ctr"/>
            <a:t>-1.37%</a:t>
          </a:fld>
          <a:endParaRPr lang="en-US" sz="1100" b="1">
            <a:solidFill>
              <a:srgbClr val="2C6682"/>
            </a:solidFill>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0.78543</cdr:x>
      <cdr:y>0.63651</cdr:y>
    </cdr:from>
    <cdr:to>
      <cdr:x>0.97195</cdr:x>
      <cdr:y>0.81017</cdr:y>
    </cdr:to>
    <cdr:sp macro="" textlink="">
      <cdr:nvSpPr>
        <cdr:cNvPr id="2" name="TextBox 1">
          <a:extLst xmlns:a="http://schemas.openxmlformats.org/drawingml/2006/main">
            <a:ext uri="{FF2B5EF4-FFF2-40B4-BE49-F238E27FC236}">
              <a16:creationId xmlns:a16="http://schemas.microsoft.com/office/drawing/2014/main" id="{FBA1C77B-3051-4439-BC04-B900508C52C8}"/>
            </a:ext>
          </a:extLst>
        </cdr:cNvPr>
        <cdr:cNvSpPr txBox="1"/>
      </cdr:nvSpPr>
      <cdr:spPr>
        <a:xfrm xmlns:a="http://schemas.openxmlformats.org/drawingml/2006/main">
          <a:off x="7066952" y="3073586"/>
          <a:ext cx="1678205" cy="838563"/>
        </a:xfrm>
        <a:prstGeom xmlns:a="http://schemas.openxmlformats.org/drawingml/2006/main" prst="rect">
          <a:avLst/>
        </a:prstGeom>
        <a:ln xmlns:a="http://schemas.openxmlformats.org/drawingml/2006/main">
          <a:solidFill>
            <a:srgbClr val="2C6682"/>
          </a:solidFill>
        </a:ln>
      </cdr:spPr>
      <cdr:style>
        <a:lnRef xmlns:a="http://schemas.openxmlformats.org/drawingml/2006/main" idx="2">
          <a:schemeClr val="accent6"/>
        </a:lnRef>
        <a:fillRef xmlns:a="http://schemas.openxmlformats.org/drawingml/2006/main" idx="1">
          <a:schemeClr val="lt1"/>
        </a:fillRef>
        <a:effectRef xmlns:a="http://schemas.openxmlformats.org/drawingml/2006/main" idx="0">
          <a:schemeClr val="accent6"/>
        </a:effectRef>
        <a:fontRef xmlns:a="http://schemas.openxmlformats.org/drawingml/2006/main" idx="minor">
          <a:schemeClr val="dk1"/>
        </a:fontRef>
      </cdr:style>
      <cdr:txBody>
        <a:bodyPr xmlns:a="http://schemas.openxmlformats.org/drawingml/2006/main" wrap="square" rtlCol="0" anchor="ct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1200" b="1">
              <a:solidFill>
                <a:srgbClr val="2C6682"/>
              </a:solidFill>
            </a:rPr>
            <a:t>Planned </a:t>
          </a:r>
          <a:r>
            <a:rPr lang="en-US" sz="1200" b="1" baseline="0">
              <a:solidFill>
                <a:srgbClr val="2C6682"/>
              </a:solidFill>
            </a:rPr>
            <a:t>     </a:t>
          </a:r>
          <a:r>
            <a:rPr lang="en-US" sz="1200" b="1">
              <a:solidFill>
                <a:srgbClr val="2C6682"/>
              </a:solidFill>
            </a:rPr>
            <a:t>= </a:t>
          </a:r>
        </a:p>
        <a:p xmlns:a="http://schemas.openxmlformats.org/drawingml/2006/main">
          <a:pPr algn="l"/>
          <a:r>
            <a:rPr lang="en-US" sz="1200" b="1">
              <a:solidFill>
                <a:srgbClr val="2C6682"/>
              </a:solidFill>
            </a:rPr>
            <a:t>Earned  </a:t>
          </a:r>
          <a:r>
            <a:rPr lang="en-US" sz="1200" b="1" baseline="0">
              <a:solidFill>
                <a:srgbClr val="2C6682"/>
              </a:solidFill>
            </a:rPr>
            <a:t>     </a:t>
          </a:r>
          <a:r>
            <a:rPr lang="en-US" sz="1200" b="1">
              <a:solidFill>
                <a:srgbClr val="2C6682"/>
              </a:solidFill>
            </a:rPr>
            <a:t> = </a:t>
          </a:r>
        </a:p>
        <a:p xmlns:a="http://schemas.openxmlformats.org/drawingml/2006/main">
          <a:pPr algn="l"/>
          <a:r>
            <a:rPr lang="en-US" sz="1200" b="1">
              <a:solidFill>
                <a:srgbClr val="2C6682"/>
              </a:solidFill>
            </a:rPr>
            <a:t>Variance     = </a:t>
          </a:r>
        </a:p>
      </cdr:txBody>
    </cdr:sp>
  </cdr:relSizeAnchor>
  <cdr:relSizeAnchor xmlns:cdr="http://schemas.openxmlformats.org/drawingml/2006/chartDrawing">
    <cdr:from>
      <cdr:x>0.88888</cdr:x>
      <cdr:y>0.65571</cdr:y>
    </cdr:from>
    <cdr:to>
      <cdr:x>0.97355</cdr:x>
      <cdr:y>0.71469</cdr:y>
    </cdr:to>
    <cdr:sp macro="" textlink="">
      <cdr:nvSpPr>
        <cdr:cNvPr id="3" name="Rectangle 2">
          <a:extLst xmlns:a="http://schemas.openxmlformats.org/drawingml/2006/main">
            <a:ext uri="{FF2B5EF4-FFF2-40B4-BE49-F238E27FC236}">
              <a16:creationId xmlns:a16="http://schemas.microsoft.com/office/drawing/2014/main" id="{C513E201-95DF-49A2-B48A-0C1302B0FC09}"/>
            </a:ext>
          </a:extLst>
        </cdr:cNvPr>
        <cdr:cNvSpPr/>
      </cdr:nvSpPr>
      <cdr:spPr>
        <a:xfrm xmlns:a="http://schemas.openxmlformats.org/drawingml/2006/main">
          <a:off x="8723925" y="3288354"/>
          <a:ext cx="830994" cy="295768"/>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marL="0" indent="0" algn="ctr"/>
          <a:fld id="{426CC785-1C0E-4B2C-B38C-144059880A93}" type="TxLink">
            <a:rPr lang="en-US" sz="1100" b="1" i="0" u="none" strike="noStrike">
              <a:solidFill>
                <a:srgbClr val="2C6682"/>
              </a:solidFill>
              <a:latin typeface="Calibri"/>
              <a:ea typeface="+mn-ea"/>
              <a:cs typeface="+mn-cs"/>
            </a:rPr>
            <a:pPr marL="0" indent="0" algn="ctr"/>
            <a:t>99.72%</a:t>
          </a:fld>
          <a:endParaRPr lang="en-US" sz="1100" b="1" i="0" u="none" strike="noStrike">
            <a:solidFill>
              <a:srgbClr val="2C6682"/>
            </a:solidFill>
            <a:latin typeface="Calibri"/>
            <a:ea typeface="+mn-ea"/>
            <a:cs typeface="+mn-cs"/>
          </a:endParaRPr>
        </a:p>
      </cdr:txBody>
    </cdr:sp>
  </cdr:relSizeAnchor>
  <cdr:relSizeAnchor xmlns:cdr="http://schemas.openxmlformats.org/drawingml/2006/chartDrawing">
    <cdr:from>
      <cdr:x>0.88917</cdr:x>
      <cdr:y>0.70818</cdr:y>
    </cdr:from>
    <cdr:to>
      <cdr:x>0.97384</cdr:x>
      <cdr:y>0.75312</cdr:y>
    </cdr:to>
    <cdr:sp macro="" textlink="">
      <cdr:nvSpPr>
        <cdr:cNvPr id="4" name="Rectangle 3">
          <a:extLst xmlns:a="http://schemas.openxmlformats.org/drawingml/2006/main">
            <a:ext uri="{FF2B5EF4-FFF2-40B4-BE49-F238E27FC236}">
              <a16:creationId xmlns:a16="http://schemas.microsoft.com/office/drawing/2014/main" id="{803C1631-D68A-4C5C-86FA-6D532A975916}"/>
            </a:ext>
          </a:extLst>
        </cdr:cNvPr>
        <cdr:cNvSpPr/>
      </cdr:nvSpPr>
      <cdr:spPr>
        <a:xfrm xmlns:a="http://schemas.openxmlformats.org/drawingml/2006/main">
          <a:off x="8726763" y="3551464"/>
          <a:ext cx="830993" cy="225391"/>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marL="0" indent="0" algn="ctr"/>
          <a:fld id="{7D27CD93-9DD8-43C3-B0AC-BF459840A58C}" type="TxLink">
            <a:rPr lang="en-US" sz="1100" b="1" i="0" u="none" strike="noStrike">
              <a:solidFill>
                <a:srgbClr val="2C6682"/>
              </a:solidFill>
              <a:latin typeface="Calibri"/>
              <a:ea typeface="+mn-ea"/>
              <a:cs typeface="+mn-cs"/>
            </a:rPr>
            <a:pPr marL="0" indent="0" algn="ctr"/>
            <a:t>98.02%</a:t>
          </a:fld>
          <a:endParaRPr lang="en-US" sz="1100" b="1" i="0" u="none" strike="noStrike">
            <a:solidFill>
              <a:srgbClr val="2C6682"/>
            </a:solidFill>
            <a:latin typeface="Calibri"/>
            <a:ea typeface="+mn-ea"/>
            <a:cs typeface="+mn-cs"/>
          </a:endParaRPr>
        </a:p>
      </cdr:txBody>
    </cdr:sp>
  </cdr:relSizeAnchor>
  <cdr:relSizeAnchor xmlns:cdr="http://schemas.openxmlformats.org/drawingml/2006/chartDrawing">
    <cdr:from>
      <cdr:x>0.88999</cdr:x>
      <cdr:y>0.74073</cdr:y>
    </cdr:from>
    <cdr:to>
      <cdr:x>0.97466</cdr:x>
      <cdr:y>0.79963</cdr:y>
    </cdr:to>
    <cdr:sp macro="" textlink="">
      <cdr:nvSpPr>
        <cdr:cNvPr id="5" name="Rectangle 4">
          <a:extLst xmlns:a="http://schemas.openxmlformats.org/drawingml/2006/main">
            <a:ext uri="{FF2B5EF4-FFF2-40B4-BE49-F238E27FC236}">
              <a16:creationId xmlns:a16="http://schemas.microsoft.com/office/drawing/2014/main" id="{BEEE95DE-671F-4937-A782-38D64975B921}"/>
            </a:ext>
          </a:extLst>
        </cdr:cNvPr>
        <cdr:cNvSpPr/>
      </cdr:nvSpPr>
      <cdr:spPr>
        <a:xfrm xmlns:a="http://schemas.openxmlformats.org/drawingml/2006/main">
          <a:off x="8734810" y="3714750"/>
          <a:ext cx="830994" cy="295374"/>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nchor="ctr"/>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marL="0" indent="0" algn="ctr"/>
          <a:fld id="{FAB436C0-B3B7-4102-A2A6-9E6A7C34D087}" type="TxLink">
            <a:rPr lang="en-US" sz="1100" b="1" i="0" u="none" strike="noStrike">
              <a:solidFill>
                <a:srgbClr val="2C6682"/>
              </a:solidFill>
              <a:latin typeface="Calibri"/>
              <a:ea typeface="+mn-ea"/>
              <a:cs typeface="+mn-cs"/>
            </a:rPr>
            <a:pPr marL="0" indent="0" algn="ctr"/>
            <a:t>-1.70%</a:t>
          </a:fld>
          <a:endParaRPr lang="en-US" sz="1100" b="1" i="0" u="none" strike="noStrike">
            <a:solidFill>
              <a:srgbClr val="2C6682"/>
            </a:solidFill>
            <a:latin typeface="Calibri"/>
            <a:ea typeface="+mn-ea"/>
            <a:cs typeface="+mn-cs"/>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8EFBDC-07CF-4AB5-A7A8-8935FC7B56ED}"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885486-2A36-4153-9FE1-C7FA1A83A1D9}" type="slidenum">
              <a:rPr lang="en-US" smtClean="0"/>
              <a:t>‹#›</a:t>
            </a:fld>
            <a:endParaRPr lang="en-US"/>
          </a:p>
        </p:txBody>
      </p:sp>
    </p:spTree>
    <p:extLst>
      <p:ext uri="{BB962C8B-B14F-4D97-AF65-F5344CB8AC3E}">
        <p14:creationId xmlns:p14="http://schemas.microsoft.com/office/powerpoint/2010/main" val="3650445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4883AAB-AD44-4167-9180-62814246262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22825"/>
          <a:stretch/>
        </p:blipFill>
        <p:spPr>
          <a:xfrm>
            <a:off x="0" y="0"/>
            <a:ext cx="8415269" cy="6858000"/>
          </a:xfrm>
          <a:prstGeom prst="rect">
            <a:avLst/>
          </a:prstGeom>
        </p:spPr>
      </p:pic>
      <p:pic>
        <p:nvPicPr>
          <p:cNvPr id="5" name="Picture 4">
            <a:extLst>
              <a:ext uri="{FF2B5EF4-FFF2-40B4-BE49-F238E27FC236}">
                <a16:creationId xmlns:a16="http://schemas.microsoft.com/office/drawing/2014/main" id="{B8E4E71D-7A03-4469-B802-F68D9A844AC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1066" b="-3093"/>
          <a:stretch/>
        </p:blipFill>
        <p:spPr>
          <a:xfrm>
            <a:off x="6856154" y="0"/>
            <a:ext cx="5335846" cy="7070103"/>
          </a:xfrm>
          <a:prstGeom prst="rect">
            <a:avLst/>
          </a:prstGeom>
        </p:spPr>
      </p:pic>
      <p:sp>
        <p:nvSpPr>
          <p:cNvPr id="2" name="Title 1">
            <a:extLst>
              <a:ext uri="{FF2B5EF4-FFF2-40B4-BE49-F238E27FC236}">
                <a16:creationId xmlns:a16="http://schemas.microsoft.com/office/drawing/2014/main" id="{95ECDA4D-16C5-49E7-8EE1-7C5BDD9FF128}"/>
              </a:ext>
            </a:extLst>
          </p:cNvPr>
          <p:cNvSpPr>
            <a:spLocks noGrp="1"/>
          </p:cNvSpPr>
          <p:nvPr>
            <p:ph type="ctrTitle"/>
          </p:nvPr>
        </p:nvSpPr>
        <p:spPr>
          <a:xfrm>
            <a:off x="4263887" y="2912314"/>
            <a:ext cx="6937800" cy="1882420"/>
          </a:xfrm>
        </p:spPr>
        <p:txBody>
          <a:bodyPr anchor="b">
            <a:normAutofit/>
          </a:bodyPr>
          <a:lstStyle>
            <a:lvl1pPr algn="r" rtl="1">
              <a:lnSpc>
                <a:spcPct val="100000"/>
              </a:lnSpc>
              <a:defRPr sz="4800" b="1" i="0">
                <a:solidFill>
                  <a:srgbClr val="2C6682"/>
                </a:solidFill>
                <a:latin typeface="TheSansArabic" panose="020B0402050302020203" pitchFamily="34" charset="-78"/>
                <a:cs typeface="TheSansArabic" panose="020B0402050302020203" pitchFamily="34" charset="-78"/>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46F6772-7435-48D6-9207-521B96066329}"/>
              </a:ext>
            </a:extLst>
          </p:cNvPr>
          <p:cNvSpPr>
            <a:spLocks noGrp="1"/>
          </p:cNvSpPr>
          <p:nvPr>
            <p:ph type="subTitle" idx="1"/>
          </p:nvPr>
        </p:nvSpPr>
        <p:spPr>
          <a:xfrm>
            <a:off x="4263887" y="4917564"/>
            <a:ext cx="6937800" cy="1655762"/>
          </a:xfrm>
        </p:spPr>
        <p:txBody>
          <a:bodyPr/>
          <a:lstStyle>
            <a:lvl1pPr marL="0" indent="0" algn="r" rtl="1">
              <a:buNone/>
              <a:defRPr sz="2400">
                <a:solidFill>
                  <a:srgbClr val="52B3DD"/>
                </a:solidFill>
                <a:latin typeface="TheSansArabic SemiLight" panose="020B0402050302020203" pitchFamily="34" charset="-78"/>
                <a:cs typeface="TheSansArabic SemiLight" panose="020B0402050302020203" pitchFamily="34"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323633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Inside page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3DD6BF-C69A-5049-BCEC-A7A815475F78}"/>
              </a:ext>
            </a:extLst>
          </p:cNvPr>
          <p:cNvPicPr>
            <a:picLocks noChangeAspect="1"/>
          </p:cNvPicPr>
          <p:nvPr userDrawn="1"/>
        </p:nvPicPr>
        <p:blipFill rotWithShape="1">
          <a:blip r:embed="rId2"/>
          <a:srcRect t="32314"/>
          <a:stretch/>
        </p:blipFill>
        <p:spPr>
          <a:xfrm>
            <a:off x="0" y="0"/>
            <a:ext cx="2951922" cy="1728852"/>
          </a:xfrm>
          <a:prstGeom prst="rect">
            <a:avLst/>
          </a:prstGeom>
        </p:spPr>
      </p:pic>
      <p:sp>
        <p:nvSpPr>
          <p:cNvPr id="2" name="Title 1">
            <a:extLst>
              <a:ext uri="{FF2B5EF4-FFF2-40B4-BE49-F238E27FC236}">
                <a16:creationId xmlns:a16="http://schemas.microsoft.com/office/drawing/2014/main" id="{8B6B692A-80EC-4132-B7FC-FD70AACB252E}"/>
              </a:ext>
            </a:extLst>
          </p:cNvPr>
          <p:cNvSpPr>
            <a:spLocks noGrp="1"/>
          </p:cNvSpPr>
          <p:nvPr>
            <p:ph type="title"/>
          </p:nvPr>
        </p:nvSpPr>
        <p:spPr>
          <a:xfrm>
            <a:off x="1928191" y="543146"/>
            <a:ext cx="9060367" cy="733211"/>
          </a:xfrm>
        </p:spPr>
        <p:txBody>
          <a:bodyPr anchor="b">
            <a:noAutofit/>
          </a:bodyPr>
          <a:lstStyle>
            <a:lvl1pPr algn="r" rtl="1">
              <a:defRPr sz="3600" b="1">
                <a:solidFill>
                  <a:schemeClr val="tx2"/>
                </a:solidFill>
                <a:latin typeface="TheSansArabic SemiLight" panose="020B0402050302020203" pitchFamily="34" charset="-78"/>
                <a:cs typeface="TheSansArabic SemiLight" panose="020B0402050302020203" pitchFamily="34" charset="-78"/>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8CE44B4-73A3-4C04-A775-64B61DA7402A}"/>
              </a:ext>
            </a:extLst>
          </p:cNvPr>
          <p:cNvSpPr>
            <a:spLocks noGrp="1"/>
          </p:cNvSpPr>
          <p:nvPr>
            <p:ph type="body" idx="1"/>
          </p:nvPr>
        </p:nvSpPr>
        <p:spPr>
          <a:xfrm>
            <a:off x="449712" y="1534987"/>
            <a:ext cx="10550384" cy="4554664"/>
          </a:xfrm>
        </p:spPr>
        <p:txBody>
          <a:bodyPr>
            <a:normAutofit/>
          </a:bodyPr>
          <a:lstStyle>
            <a:lvl1pPr marL="0" indent="0" algn="r" rtl="1">
              <a:buNone/>
              <a:defRPr sz="2000">
                <a:solidFill>
                  <a:srgbClr val="000000"/>
                </a:solidFill>
                <a:latin typeface="TheSansArabic SemiLight" panose="020B0402050302020203" pitchFamily="34" charset="-78"/>
                <a:cs typeface="TheSansArabic SemiLight" panose="020B0402050302020203" pitchFamily="34" charset="-7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951833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side page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E3D4B94-A2CB-7D42-9371-F16BE05AD317}"/>
              </a:ext>
            </a:extLst>
          </p:cNvPr>
          <p:cNvPicPr>
            <a:picLocks noChangeAspect="1"/>
          </p:cNvPicPr>
          <p:nvPr userDrawn="1"/>
        </p:nvPicPr>
        <p:blipFill rotWithShape="1">
          <a:blip r:embed="rId2"/>
          <a:srcRect t="25213"/>
          <a:stretch/>
        </p:blipFill>
        <p:spPr>
          <a:xfrm>
            <a:off x="-1" y="0"/>
            <a:ext cx="2753139" cy="1700375"/>
          </a:xfrm>
          <a:prstGeom prst="rect">
            <a:avLst/>
          </a:prstGeom>
        </p:spPr>
      </p:pic>
      <p:sp>
        <p:nvSpPr>
          <p:cNvPr id="9" name="Title 1">
            <a:extLst>
              <a:ext uri="{FF2B5EF4-FFF2-40B4-BE49-F238E27FC236}">
                <a16:creationId xmlns:a16="http://schemas.microsoft.com/office/drawing/2014/main" id="{12A40821-AC68-4E90-868F-5B1F080F2CDE}"/>
              </a:ext>
            </a:extLst>
          </p:cNvPr>
          <p:cNvSpPr>
            <a:spLocks noGrp="1"/>
          </p:cNvSpPr>
          <p:nvPr>
            <p:ph type="title"/>
          </p:nvPr>
        </p:nvSpPr>
        <p:spPr>
          <a:xfrm>
            <a:off x="1982913" y="543146"/>
            <a:ext cx="9005646" cy="733211"/>
          </a:xfrm>
        </p:spPr>
        <p:txBody>
          <a:bodyPr anchor="b">
            <a:noAutofit/>
          </a:bodyPr>
          <a:lstStyle>
            <a:lvl1pPr algn="r" rtl="1">
              <a:defRPr sz="3600" b="1">
                <a:solidFill>
                  <a:schemeClr val="tx2"/>
                </a:solidFill>
                <a:latin typeface="TheSansArabic SemiLight" panose="020B0402050302020203" pitchFamily="34" charset="-78"/>
                <a:cs typeface="TheSansArabic SemiLight" panose="020B0402050302020203" pitchFamily="34" charset="-78"/>
              </a:defRPr>
            </a:lvl1pPr>
          </a:lstStyle>
          <a:p>
            <a:r>
              <a:rPr lang="en-US"/>
              <a:t>Click to edit Master title style</a:t>
            </a:r>
            <a:endParaRPr lang="en-US" dirty="0"/>
          </a:p>
        </p:txBody>
      </p:sp>
      <p:sp>
        <p:nvSpPr>
          <p:cNvPr id="10" name="Text Placeholder 2">
            <a:extLst>
              <a:ext uri="{FF2B5EF4-FFF2-40B4-BE49-F238E27FC236}">
                <a16:creationId xmlns:a16="http://schemas.microsoft.com/office/drawing/2014/main" id="{65688847-ACDE-4792-AC0E-E78BB043B809}"/>
              </a:ext>
            </a:extLst>
          </p:cNvPr>
          <p:cNvSpPr>
            <a:spLocks noGrp="1"/>
          </p:cNvSpPr>
          <p:nvPr>
            <p:ph type="body" idx="1"/>
          </p:nvPr>
        </p:nvSpPr>
        <p:spPr>
          <a:xfrm>
            <a:off x="449712" y="1541123"/>
            <a:ext cx="10550384" cy="4527979"/>
          </a:xfrm>
        </p:spPr>
        <p:txBody>
          <a:bodyPr>
            <a:normAutofit/>
          </a:bodyPr>
          <a:lstStyle>
            <a:lvl1pPr marL="0" indent="0" algn="r" rtl="1">
              <a:buNone/>
              <a:defRPr sz="2000">
                <a:solidFill>
                  <a:srgbClr val="000000"/>
                </a:solidFill>
                <a:latin typeface="TheSansArabic SemiLight" panose="020B0402050302020203" pitchFamily="34" charset="-78"/>
                <a:cs typeface="TheSansArabic SemiLight" panose="020B0402050302020203" pitchFamily="34" charset="-7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405350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965639E-137C-4580-8B0E-A6A224A9085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6474" t="22538" r="1507" b="4109"/>
          <a:stretch/>
        </p:blipFill>
        <p:spPr>
          <a:xfrm>
            <a:off x="0" y="0"/>
            <a:ext cx="12192000" cy="6858000"/>
          </a:xfrm>
          <a:prstGeom prst="rect">
            <a:avLst/>
          </a:prstGeom>
        </p:spPr>
      </p:pic>
      <p:sp>
        <p:nvSpPr>
          <p:cNvPr id="8" name="Title 1">
            <a:extLst>
              <a:ext uri="{FF2B5EF4-FFF2-40B4-BE49-F238E27FC236}">
                <a16:creationId xmlns:a16="http://schemas.microsoft.com/office/drawing/2014/main" id="{B39CAF25-2012-4B81-94E5-B53D7FC67738}"/>
              </a:ext>
            </a:extLst>
          </p:cNvPr>
          <p:cNvSpPr>
            <a:spLocks noGrp="1"/>
          </p:cNvSpPr>
          <p:nvPr>
            <p:ph type="title"/>
          </p:nvPr>
        </p:nvSpPr>
        <p:spPr>
          <a:xfrm>
            <a:off x="6162261" y="4549523"/>
            <a:ext cx="5371505" cy="1325563"/>
          </a:xfrm>
        </p:spPr>
        <p:txBody>
          <a:bodyPr/>
          <a:lstStyle>
            <a:lvl1pPr algn="r" rtl="1">
              <a:defRPr b="1">
                <a:solidFill>
                  <a:schemeClr val="bg1"/>
                </a:solidFill>
                <a:latin typeface="TheSansArabic SemiLight" panose="020B0402050302020203" pitchFamily="34" charset="-78"/>
                <a:cs typeface="TheSansArabic SemiLight" panose="020B0402050302020203" pitchFamily="34" charset="-78"/>
              </a:defRPr>
            </a:lvl1pPr>
          </a:lstStyle>
          <a:p>
            <a:r>
              <a:rPr lang="en-US"/>
              <a:t>Click to edit Master title style</a:t>
            </a:r>
            <a:endParaRPr lang="en-US" dirty="0"/>
          </a:p>
        </p:txBody>
      </p:sp>
    </p:spTree>
    <p:extLst>
      <p:ext uri="{BB962C8B-B14F-4D97-AF65-F5344CB8AC3E}">
        <p14:creationId xmlns:p14="http://schemas.microsoft.com/office/powerpoint/2010/main" val="3631651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ivider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1E15A6D-2ADA-6C42-87C6-B043F0EF25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935056"/>
          </a:xfrm>
          <a:prstGeom prst="rect">
            <a:avLst/>
          </a:prstGeom>
        </p:spPr>
      </p:pic>
      <p:sp>
        <p:nvSpPr>
          <p:cNvPr id="8" name="Title 1">
            <a:extLst>
              <a:ext uri="{FF2B5EF4-FFF2-40B4-BE49-F238E27FC236}">
                <a16:creationId xmlns:a16="http://schemas.microsoft.com/office/drawing/2014/main" id="{B39CAF25-2012-4B81-94E5-B53D7FC67738}"/>
              </a:ext>
            </a:extLst>
          </p:cNvPr>
          <p:cNvSpPr>
            <a:spLocks noGrp="1"/>
          </p:cNvSpPr>
          <p:nvPr>
            <p:ph type="title"/>
          </p:nvPr>
        </p:nvSpPr>
        <p:spPr>
          <a:xfrm>
            <a:off x="6162261" y="4549523"/>
            <a:ext cx="5371505" cy="1325563"/>
          </a:xfrm>
        </p:spPr>
        <p:txBody>
          <a:bodyPr/>
          <a:lstStyle>
            <a:lvl1pPr algn="r" rtl="1">
              <a:defRPr b="1">
                <a:solidFill>
                  <a:schemeClr val="bg1"/>
                </a:solidFill>
                <a:latin typeface="TheSansArabic SemiLight" panose="020B0402050302020203" pitchFamily="34" charset="-78"/>
                <a:cs typeface="TheSansArabic SemiLight" panose="020B0402050302020203" pitchFamily="34" charset="-78"/>
              </a:defRPr>
            </a:lvl1pPr>
          </a:lstStyle>
          <a:p>
            <a:r>
              <a:rPr lang="en-US"/>
              <a:t>Click to edit Master title style</a:t>
            </a:r>
            <a:endParaRPr lang="en-US" dirty="0"/>
          </a:p>
        </p:txBody>
      </p:sp>
    </p:spTree>
    <p:extLst>
      <p:ext uri="{BB962C8B-B14F-4D97-AF65-F5344CB8AC3E}">
        <p14:creationId xmlns:p14="http://schemas.microsoft.com/office/powerpoint/2010/main" val="4154875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Divider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843B07-B14D-8A46-909E-B041F327B72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3975"/>
            <a:ext cx="12192000" cy="6965950"/>
          </a:xfrm>
          <a:prstGeom prst="rect">
            <a:avLst/>
          </a:prstGeom>
        </p:spPr>
      </p:pic>
      <p:sp>
        <p:nvSpPr>
          <p:cNvPr id="8" name="Title 1">
            <a:extLst>
              <a:ext uri="{FF2B5EF4-FFF2-40B4-BE49-F238E27FC236}">
                <a16:creationId xmlns:a16="http://schemas.microsoft.com/office/drawing/2014/main" id="{B39CAF25-2012-4B81-94E5-B53D7FC67738}"/>
              </a:ext>
            </a:extLst>
          </p:cNvPr>
          <p:cNvSpPr>
            <a:spLocks noGrp="1"/>
          </p:cNvSpPr>
          <p:nvPr>
            <p:ph type="title"/>
          </p:nvPr>
        </p:nvSpPr>
        <p:spPr>
          <a:xfrm>
            <a:off x="6162261" y="4549523"/>
            <a:ext cx="5371505" cy="1325563"/>
          </a:xfrm>
        </p:spPr>
        <p:txBody>
          <a:bodyPr/>
          <a:lstStyle>
            <a:lvl1pPr algn="r" rtl="1">
              <a:defRPr b="1">
                <a:solidFill>
                  <a:schemeClr val="bg1"/>
                </a:solidFill>
                <a:latin typeface="TheSansArabic SemiLight" panose="020B0402050302020203" pitchFamily="34" charset="-78"/>
                <a:cs typeface="TheSansArabic SemiLight" panose="020B0402050302020203" pitchFamily="34" charset="-78"/>
              </a:defRPr>
            </a:lvl1pPr>
          </a:lstStyle>
          <a:p>
            <a:r>
              <a:rPr lang="en-US"/>
              <a:t>Click to edit Master title style</a:t>
            </a:r>
            <a:endParaRPr lang="en-US" dirty="0"/>
          </a:p>
        </p:txBody>
      </p:sp>
    </p:spTree>
    <p:extLst>
      <p:ext uri="{BB962C8B-B14F-4D97-AF65-F5344CB8AC3E}">
        <p14:creationId xmlns:p14="http://schemas.microsoft.com/office/powerpoint/2010/main" val="4233595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ank you Pag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91B6D6-473C-43DD-82C2-EE59EA1186D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0900" r="377"/>
          <a:stretch/>
        </p:blipFill>
        <p:spPr>
          <a:xfrm>
            <a:off x="-1" y="-1"/>
            <a:ext cx="12192001" cy="6858001"/>
          </a:xfrm>
          <a:prstGeom prst="rect">
            <a:avLst/>
          </a:prstGeom>
        </p:spPr>
      </p:pic>
      <p:sp>
        <p:nvSpPr>
          <p:cNvPr id="11" name="Title 1">
            <a:extLst>
              <a:ext uri="{FF2B5EF4-FFF2-40B4-BE49-F238E27FC236}">
                <a16:creationId xmlns:a16="http://schemas.microsoft.com/office/drawing/2014/main" id="{60501B07-99EB-41FE-83D6-83B817500DE0}"/>
              </a:ext>
            </a:extLst>
          </p:cNvPr>
          <p:cNvSpPr>
            <a:spLocks noGrp="1"/>
          </p:cNvSpPr>
          <p:nvPr>
            <p:ph type="title" hasCustomPrompt="1"/>
          </p:nvPr>
        </p:nvSpPr>
        <p:spPr>
          <a:xfrm>
            <a:off x="5332863" y="3760185"/>
            <a:ext cx="6204045" cy="1325563"/>
          </a:xfrm>
        </p:spPr>
        <p:txBody>
          <a:bodyPr>
            <a:noAutofit/>
          </a:bodyPr>
          <a:lstStyle>
            <a:lvl1pPr marL="0" marR="0" indent="0" algn="r" defTabSz="914400" rtl="1" eaLnBrk="1" fontAlgn="auto" latinLnBrk="0" hangingPunct="1">
              <a:lnSpc>
                <a:spcPct val="90000"/>
              </a:lnSpc>
              <a:spcBef>
                <a:spcPct val="0"/>
              </a:spcBef>
              <a:spcAft>
                <a:spcPts val="0"/>
              </a:spcAft>
              <a:buClrTx/>
              <a:buSzTx/>
              <a:buFontTx/>
              <a:buNone/>
              <a:tabLst/>
              <a:defRPr sz="4800" b="1" i="0">
                <a:solidFill>
                  <a:schemeClr val="bg1"/>
                </a:solidFill>
                <a:latin typeface="TheSansArabic" panose="020B0402050302020203" pitchFamily="34" charset="-78"/>
                <a:cs typeface="TheSansArabic" panose="020B0402050302020203" pitchFamily="34" charset="-78"/>
              </a:defRPr>
            </a:lvl1pPr>
          </a:lstStyle>
          <a:p>
            <a:r>
              <a:rPr lang="ar-SA" dirty="0"/>
              <a:t>شكراً</a:t>
            </a:r>
            <a:endParaRPr lang="en-US" dirty="0"/>
          </a:p>
        </p:txBody>
      </p:sp>
    </p:spTree>
    <p:extLst>
      <p:ext uri="{BB962C8B-B14F-4D97-AF65-F5344CB8AC3E}">
        <p14:creationId xmlns:p14="http://schemas.microsoft.com/office/powerpoint/2010/main" val="2747106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288E70-0C30-4596-B6E5-85B4901A22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0075DE75-744A-42B0-9350-C9038C8097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CE4F208-610E-40F9-9908-D01521BDB2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heSansArabic SemiLight" panose="020B0402050302020203" pitchFamily="34" charset="-78"/>
                <a:cs typeface="TheSansArabic SemiLight" panose="020B0402050302020203" pitchFamily="34" charset="-78"/>
              </a:defRPr>
            </a:lvl1pPr>
          </a:lstStyle>
          <a:p>
            <a:fld id="{0A475379-0658-406F-B73E-526C51D4D8EF}" type="datetimeFigureOut">
              <a:rPr lang="en-US" smtClean="0"/>
              <a:pPr/>
              <a:t>9/22/2026</a:t>
            </a:fld>
            <a:endParaRPr lang="en-US"/>
          </a:p>
        </p:txBody>
      </p:sp>
      <p:sp>
        <p:nvSpPr>
          <p:cNvPr id="5" name="Footer Placeholder 4">
            <a:extLst>
              <a:ext uri="{FF2B5EF4-FFF2-40B4-BE49-F238E27FC236}">
                <a16:creationId xmlns:a16="http://schemas.microsoft.com/office/drawing/2014/main" id="{494EF0CA-F64A-47C2-9EF0-0446965702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heSansArabic SemiLight" panose="020B0402050302020203" pitchFamily="34" charset="-78"/>
                <a:cs typeface="TheSansArabic SemiLight" panose="020B0402050302020203" pitchFamily="34" charset="-78"/>
              </a:defRPr>
            </a:lvl1pPr>
          </a:lstStyle>
          <a:p>
            <a:endParaRPr lang="en-US"/>
          </a:p>
        </p:txBody>
      </p:sp>
      <p:sp>
        <p:nvSpPr>
          <p:cNvPr id="6" name="Slide Number Placeholder 5">
            <a:extLst>
              <a:ext uri="{FF2B5EF4-FFF2-40B4-BE49-F238E27FC236}">
                <a16:creationId xmlns:a16="http://schemas.microsoft.com/office/drawing/2014/main" id="{BB75121B-B1F6-4D9C-8552-3A25503594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heSansArabic SemiLight" panose="020B0402050302020203" pitchFamily="34" charset="-78"/>
                <a:cs typeface="TheSansArabic SemiLight" panose="020B0402050302020203" pitchFamily="34" charset="-78"/>
              </a:defRPr>
            </a:lvl1pPr>
          </a:lstStyle>
          <a:p>
            <a:fld id="{16FBF5E7-3224-44C0-8979-05CA326FF4D2}" type="slidenum">
              <a:rPr lang="en-US" smtClean="0"/>
              <a:pPr/>
              <a:t>‹#›</a:t>
            </a:fld>
            <a:endParaRPr lang="en-US"/>
          </a:p>
        </p:txBody>
      </p:sp>
    </p:spTree>
    <p:extLst>
      <p:ext uri="{BB962C8B-B14F-4D97-AF65-F5344CB8AC3E}">
        <p14:creationId xmlns:p14="http://schemas.microsoft.com/office/powerpoint/2010/main" val="126206031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4" r:id="rId3"/>
    <p:sldLayoutId id="2147483653" r:id="rId4"/>
    <p:sldLayoutId id="2147483655" r:id="rId5"/>
    <p:sldLayoutId id="2147483656" r:id="rId6"/>
    <p:sldLayoutId id="2147483652" r:id="rId7"/>
  </p:sldLayoutIdLst>
  <p:txStyles>
    <p:titleStyle>
      <a:lvl1pPr algn="l" defTabSz="914400" rtl="0" eaLnBrk="1" latinLnBrk="0" hangingPunct="1">
        <a:lnSpc>
          <a:spcPct val="90000"/>
        </a:lnSpc>
        <a:spcBef>
          <a:spcPct val="0"/>
        </a:spcBef>
        <a:buNone/>
        <a:defRPr sz="4400" kern="1200">
          <a:solidFill>
            <a:schemeClr val="tx1"/>
          </a:solidFill>
          <a:latin typeface="TheSansArabic SemiLight" panose="020B0402050302020203" pitchFamily="34" charset="-78"/>
          <a:ea typeface="+mj-ea"/>
          <a:cs typeface="TheSansArabic SemiLight" panose="020B0402050302020203" pitchFamily="34" charset="-78"/>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heSansArabic SemiLight" panose="020B0402050302020203" pitchFamily="34" charset="-78"/>
          <a:ea typeface="+mn-ea"/>
          <a:cs typeface="TheSansArabic SemiLight" panose="020B0402050302020203" pitchFamily="34" charset="-7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heSansArabic SemiLight" panose="020B0402050302020203" pitchFamily="34" charset="-78"/>
          <a:ea typeface="+mn-ea"/>
          <a:cs typeface="TheSansArabic SemiLight" panose="020B0402050302020203" pitchFamily="34" charset="-78"/>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heSansArabic SemiLight" panose="020B0402050302020203" pitchFamily="34" charset="-78"/>
          <a:ea typeface="+mn-ea"/>
          <a:cs typeface="TheSansArabic SemiLight" panose="020B0402050302020203" pitchFamily="34" charset="-78"/>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heSansArabic SemiLight" panose="020B0402050302020203" pitchFamily="34" charset="-78"/>
          <a:ea typeface="+mn-ea"/>
          <a:cs typeface="TheSansArabic SemiLight" panose="020B0402050302020203" pitchFamily="34" charset="-78"/>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heSansArabic SemiLight" panose="020B0402050302020203" pitchFamily="34" charset="-78"/>
          <a:ea typeface="+mn-ea"/>
          <a:cs typeface="TheSansArabic SemiLight" panose="020B0402050302020203" pitchFamily="34" charset="-7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https://drive.google.com/file/d/1tGm1anFJdT1_tS9WMKMRP1Q4amLtM2Dh/view?usp=sharing"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3FEE0-951C-BB4E-A972-9A79AB7ECC62}"/>
              </a:ext>
            </a:extLst>
          </p:cNvPr>
          <p:cNvSpPr>
            <a:spLocks noGrp="1"/>
          </p:cNvSpPr>
          <p:nvPr>
            <p:ph type="ctrTitle"/>
          </p:nvPr>
        </p:nvSpPr>
        <p:spPr/>
        <p:txBody>
          <a:bodyPr>
            <a:normAutofit fontScale="90000"/>
          </a:bodyPr>
          <a:lstStyle/>
          <a:p>
            <a:pPr algn="l"/>
            <a:r>
              <a:rPr lang="en-US" altLang="en-US" dirty="0"/>
              <a:t>Weekly Progress Report – Construction Projects</a:t>
            </a:r>
            <a:endParaRPr lang="en-US" dirty="0"/>
          </a:p>
        </p:txBody>
      </p:sp>
      <p:sp>
        <p:nvSpPr>
          <p:cNvPr id="3" name="Subtitle 2">
            <a:extLst>
              <a:ext uri="{FF2B5EF4-FFF2-40B4-BE49-F238E27FC236}">
                <a16:creationId xmlns:a16="http://schemas.microsoft.com/office/drawing/2014/main" id="{276FC7AC-DA81-E44D-8A87-C51E415D9909}"/>
              </a:ext>
            </a:extLst>
          </p:cNvPr>
          <p:cNvSpPr>
            <a:spLocks noGrp="1"/>
          </p:cNvSpPr>
          <p:nvPr>
            <p:ph type="subTitle" idx="1"/>
          </p:nvPr>
        </p:nvSpPr>
        <p:spPr/>
        <p:txBody>
          <a:bodyPr/>
          <a:lstStyle/>
          <a:p>
            <a:pPr algn="l"/>
            <a:r>
              <a:rPr lang="en-US" dirty="0"/>
              <a:t>Projects Department</a:t>
            </a:r>
          </a:p>
        </p:txBody>
      </p:sp>
    </p:spTree>
    <p:extLst>
      <p:ext uri="{BB962C8B-B14F-4D97-AF65-F5344CB8AC3E}">
        <p14:creationId xmlns:p14="http://schemas.microsoft.com/office/powerpoint/2010/main" val="3835886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CBBF3-6CEA-E944-88C9-95C54617B849}"/>
              </a:ext>
            </a:extLst>
          </p:cNvPr>
          <p:cNvSpPr>
            <a:spLocks noGrp="1"/>
          </p:cNvSpPr>
          <p:nvPr>
            <p:ph type="title"/>
          </p:nvPr>
        </p:nvSpPr>
        <p:spPr/>
        <p:txBody>
          <a:bodyPr/>
          <a:lstStyle/>
          <a:p>
            <a:pPr algn="l"/>
            <a:r>
              <a:rPr lang="en-US" dirty="0"/>
              <a:t>Disclaimer</a:t>
            </a:r>
          </a:p>
        </p:txBody>
      </p:sp>
      <p:sp>
        <p:nvSpPr>
          <p:cNvPr id="3" name="Text Placeholder 2">
            <a:extLst>
              <a:ext uri="{FF2B5EF4-FFF2-40B4-BE49-F238E27FC236}">
                <a16:creationId xmlns:a16="http://schemas.microsoft.com/office/drawing/2014/main" id="{76BEE845-CFBB-EB4A-A813-7DF7CC74F3B7}"/>
              </a:ext>
            </a:extLst>
          </p:cNvPr>
          <p:cNvSpPr>
            <a:spLocks noGrp="1"/>
          </p:cNvSpPr>
          <p:nvPr>
            <p:ph type="body" idx="1"/>
          </p:nvPr>
        </p:nvSpPr>
        <p:spPr>
          <a:xfrm>
            <a:off x="438174" y="1928687"/>
            <a:ext cx="10550384" cy="455466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Low" rtl="0" eaLnBrk="0" fontAlgn="base" hangingPunct="0">
              <a:spcBef>
                <a:spcPts val="750"/>
              </a:spcBef>
              <a:spcAft>
                <a:spcPct val="0"/>
              </a:spcAft>
              <a:buClr>
                <a:srgbClr val="F48C20"/>
              </a:buClr>
              <a:buFont typeface="Wingdings" panose="05000000000000000000" pitchFamily="2" charset="2"/>
            </a:pPr>
            <a:r>
              <a:rPr lang="en-US" altLang="en-US" sz="1800" b="1" dirty="0">
                <a:solidFill>
                  <a:schemeClr val="tx1"/>
                </a:solidFill>
                <a:latin typeface="Century Gothic" panose="020B0502020202020204" pitchFamily="34" charset="0"/>
                <a:cs typeface="+mn-cs"/>
              </a:rPr>
              <a:t>This report is not all inclusive, nor it is intended to address the entirety of construction progress. It is concerned primarily with construction progress and is intended to provide near term management information. The report itself serves as the Agenda for the weekly/Biweekly/Monthly or as required progress meetings.</a:t>
            </a:r>
          </a:p>
          <a:p>
            <a:pPr algn="l" rtl="0" eaLnBrk="0" fontAlgn="base" hangingPunct="0">
              <a:spcBef>
                <a:spcPts val="750"/>
              </a:spcBef>
              <a:spcAft>
                <a:spcPct val="0"/>
              </a:spcAft>
              <a:buClr>
                <a:srgbClr val="F48C20"/>
              </a:buClr>
              <a:buFont typeface="Wingdings" panose="05000000000000000000" pitchFamily="2" charset="2"/>
            </a:pPr>
            <a:endParaRPr lang="en-US" sz="1800" b="1" dirty="0">
              <a:solidFill>
                <a:schemeClr val="tx1"/>
              </a:solidFill>
              <a:latin typeface="Century Gothic" panose="020B0502020202020204" pitchFamily="34" charset="0"/>
              <a:cs typeface="+mn-cs"/>
            </a:endParaRPr>
          </a:p>
        </p:txBody>
      </p:sp>
    </p:spTree>
    <p:extLst>
      <p:ext uri="{BB962C8B-B14F-4D97-AF65-F5344CB8AC3E}">
        <p14:creationId xmlns:p14="http://schemas.microsoft.com/office/powerpoint/2010/main" val="1612200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1490F-26A0-D04A-BEA7-2C4E9A8E1E7A}"/>
              </a:ext>
            </a:extLst>
          </p:cNvPr>
          <p:cNvSpPr>
            <a:spLocks noGrp="1"/>
          </p:cNvSpPr>
          <p:nvPr>
            <p:ph type="title"/>
          </p:nvPr>
        </p:nvSpPr>
        <p:spPr/>
        <p:txBody>
          <a:bodyPr/>
          <a:lstStyle/>
          <a:p>
            <a:pPr algn="l"/>
            <a:r>
              <a:rPr lang="en-US" dirty="0"/>
              <a:t>Introduction</a:t>
            </a:r>
          </a:p>
        </p:txBody>
      </p:sp>
    </p:spTree>
    <p:extLst>
      <p:ext uri="{BB962C8B-B14F-4D97-AF65-F5344CB8AC3E}">
        <p14:creationId xmlns:p14="http://schemas.microsoft.com/office/powerpoint/2010/main" val="4267245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p:txBody>
          <a:bodyPr/>
          <a:lstStyle/>
          <a:p>
            <a:pPr algn="l"/>
            <a:r>
              <a:rPr lang="en-US" dirty="0"/>
              <a:t>Introduction</a:t>
            </a:r>
          </a:p>
        </p:txBody>
      </p:sp>
      <p:sp>
        <p:nvSpPr>
          <p:cNvPr id="4" name="Text Placeholder 2">
            <a:extLst>
              <a:ext uri="{FF2B5EF4-FFF2-40B4-BE49-F238E27FC236}">
                <a16:creationId xmlns:a16="http://schemas.microsoft.com/office/drawing/2014/main" id="{617191D7-2A1B-486D-921D-C5966C99EA44}"/>
              </a:ext>
            </a:extLst>
          </p:cNvPr>
          <p:cNvSpPr>
            <a:spLocks noGrp="1"/>
          </p:cNvSpPr>
          <p:nvPr/>
        </p:nvSpPr>
        <p:spPr bwMode="auto">
          <a:xfrm>
            <a:off x="414337" y="1917823"/>
            <a:ext cx="11363325" cy="1511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1450" indent="-171450" algn="l" rtl="0" eaLnBrk="0" fontAlgn="base" hangingPunct="0">
              <a:lnSpc>
                <a:spcPct val="90000"/>
              </a:lnSpc>
              <a:spcBef>
                <a:spcPts val="750"/>
              </a:spcBef>
              <a:spcAft>
                <a:spcPct val="0"/>
              </a:spcAft>
              <a:buClr>
                <a:srgbClr val="F48C20"/>
              </a:buClr>
              <a:buFont typeface="Wingdings" panose="05000000000000000000" pitchFamily="2" charset="2"/>
              <a:buChar char="§"/>
              <a:defRPr sz="2100" kern="1200">
                <a:solidFill>
                  <a:schemeClr val="tx1"/>
                </a:solidFill>
                <a:latin typeface="Century Gothic" panose="020B0502020202020204" pitchFamily="34" charset="0"/>
                <a:ea typeface="+mn-ea"/>
                <a:cs typeface="+mn-cs"/>
              </a:defRPr>
            </a:lvl1pPr>
            <a:lvl2pPr marL="514350" indent="-171450" algn="l" rtl="0" eaLnBrk="0" fontAlgn="base" hangingPunct="0">
              <a:lnSpc>
                <a:spcPct val="90000"/>
              </a:lnSpc>
              <a:spcBef>
                <a:spcPts val="375"/>
              </a:spcBef>
              <a:spcAft>
                <a:spcPct val="0"/>
              </a:spcAft>
              <a:buFont typeface="Symbol" panose="05050102010706020507" pitchFamily="18" charset="2"/>
              <a:buChar char=""/>
              <a:defRPr kern="1200">
                <a:solidFill>
                  <a:schemeClr val="tx1"/>
                </a:solidFill>
                <a:latin typeface="Century Gothic" panose="020B0502020202020204" pitchFamily="34" charset="0"/>
                <a:ea typeface="+mn-ea"/>
                <a:cs typeface="+mn-cs"/>
              </a:defRPr>
            </a:lvl2pPr>
            <a:lvl3pPr marL="857250" indent="-171450" algn="l" rtl="0" eaLnBrk="0" fontAlgn="base" hangingPunct="0">
              <a:lnSpc>
                <a:spcPct val="90000"/>
              </a:lnSpc>
              <a:spcBef>
                <a:spcPts val="375"/>
              </a:spcBef>
              <a:spcAft>
                <a:spcPct val="0"/>
              </a:spcAft>
              <a:buClr>
                <a:srgbClr val="C1CC30"/>
              </a:buClr>
              <a:buFont typeface="Arial" panose="020B0604020202020204" pitchFamily="34" charset="0"/>
              <a:buChar char="•"/>
              <a:defRPr sz="1500" kern="1200">
                <a:solidFill>
                  <a:schemeClr val="tx1"/>
                </a:solidFill>
                <a:latin typeface="Century Gothic" panose="020B0502020202020204" pitchFamily="34" charset="0"/>
                <a:ea typeface="+mn-ea"/>
                <a:cs typeface="+mn-cs"/>
              </a:defRPr>
            </a:lvl3pPr>
            <a:lvl4pPr marL="1200150" indent="-171450" algn="l"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Century Gothic" panose="020B0502020202020204" pitchFamily="34" charset="0"/>
                <a:ea typeface="+mn-ea"/>
                <a:cs typeface="+mn-cs"/>
              </a:defRPr>
            </a:lvl4pPr>
            <a:lvl5pPr marL="1543050" indent="-171450" algn="l"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Century Gothic" panose="020B0502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Wingdings" panose="05000000000000000000" pitchFamily="2" charset="2"/>
              <a:buNone/>
            </a:pPr>
            <a:r>
              <a:rPr lang="en-US" altLang="en-US" sz="1800" b="1" u="sng" dirty="0"/>
              <a:t>Purpose</a:t>
            </a:r>
          </a:p>
          <a:p>
            <a:pPr marL="0" indent="0">
              <a:buNone/>
            </a:pPr>
            <a:r>
              <a:rPr lang="en-US" altLang="en-US" sz="1800" dirty="0"/>
              <a:t>This report is to be prepared by the construction contractor and submitted to the Construction Consultant and MODON Project Manager </a:t>
            </a:r>
            <a:r>
              <a:rPr lang="en-US" altLang="en-US" sz="1800" b="1" dirty="0"/>
              <a:t>before 12:00 PM on every Wednesdays </a:t>
            </a:r>
            <a:r>
              <a:rPr lang="en-US" altLang="en-US" sz="1800" dirty="0"/>
              <a:t>with</a:t>
            </a:r>
            <a:r>
              <a:rPr lang="en-US" altLang="en-US" sz="1800" b="1" dirty="0"/>
              <a:t> </a:t>
            </a:r>
            <a:r>
              <a:rPr lang="en-US" altLang="en-US" sz="1800" dirty="0"/>
              <a:t>Progress data cut off date is Tuesday. The premise behind this report and the key to successfully managing projects is to update schedules weekly. </a:t>
            </a:r>
          </a:p>
        </p:txBody>
      </p:sp>
      <p:sp>
        <p:nvSpPr>
          <p:cNvPr id="5" name="Text Placeholder 2">
            <a:extLst>
              <a:ext uri="{FF2B5EF4-FFF2-40B4-BE49-F238E27FC236}">
                <a16:creationId xmlns:a16="http://schemas.microsoft.com/office/drawing/2014/main" id="{5EA27D01-5C03-4B94-93EE-61B6CC301E8C}"/>
              </a:ext>
            </a:extLst>
          </p:cNvPr>
          <p:cNvSpPr txBox="1">
            <a:spLocks/>
          </p:cNvSpPr>
          <p:nvPr/>
        </p:nvSpPr>
        <p:spPr bwMode="auto">
          <a:xfrm>
            <a:off x="414337" y="3429000"/>
            <a:ext cx="1114742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buFont typeface="Wingdings" panose="05000000000000000000" pitchFamily="2" charset="2"/>
              <a:buNone/>
            </a:pPr>
            <a:r>
              <a:rPr lang="en-US" altLang="en-US" sz="2000" b="1" u="sng" dirty="0"/>
              <a:t>Calendar </a:t>
            </a:r>
          </a:p>
          <a:p>
            <a:pPr>
              <a:buNone/>
            </a:pPr>
            <a:r>
              <a:rPr lang="en-US" altLang="en-US" dirty="0">
                <a:latin typeface="Century Gothic" panose="020B0502020202020204" pitchFamily="34" charset="0"/>
              </a:rPr>
              <a:t>The complete report will serve as the agenda for the weekly site meetings. The Construction Manger will chair the meeting. Attendance shall be limited to essential personnel only. Construction Contractor, appropriate Contractor staff, Construction Manager, Program Manager, and MODON Project Manager shall be in attendance. </a:t>
            </a:r>
          </a:p>
          <a:p>
            <a:pPr>
              <a:buNone/>
            </a:pPr>
            <a:r>
              <a:rPr lang="en-US" altLang="en-US" dirty="0">
                <a:latin typeface="Century Gothic" panose="020B0502020202020204" pitchFamily="34" charset="0"/>
              </a:rPr>
              <a:t>Minutes of Meeting will be taken by the Construction Manager and submitted to the Program Manager (If Applicable) within 48 hours. Minutes shall describe attendance, the conduct of the meeting, discussion items, and problem resolutions, and shall provide action items with responsible parties and due dates.</a:t>
            </a:r>
          </a:p>
          <a:p>
            <a:pPr>
              <a:buNone/>
            </a:pPr>
            <a:r>
              <a:rPr lang="en-US" altLang="en-US" dirty="0">
                <a:latin typeface="Century Gothic" panose="020B0502020202020204" pitchFamily="34" charset="0"/>
              </a:rPr>
              <a:t>Construction Manager shall maintain the Action Items Register. At subsequent meetings, open action items shall be discussed first.</a:t>
            </a:r>
          </a:p>
        </p:txBody>
      </p:sp>
    </p:spTree>
    <p:extLst>
      <p:ext uri="{BB962C8B-B14F-4D97-AF65-F5344CB8AC3E}">
        <p14:creationId xmlns:p14="http://schemas.microsoft.com/office/powerpoint/2010/main" val="1969276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p:txBody>
          <a:bodyPr/>
          <a:lstStyle/>
          <a:p>
            <a:pPr algn="l"/>
            <a:r>
              <a:rPr lang="en-US" dirty="0"/>
              <a:t>Weekly Progress Report Dashboard</a:t>
            </a:r>
          </a:p>
        </p:txBody>
      </p:sp>
      <p:sp>
        <p:nvSpPr>
          <p:cNvPr id="6" name="Text Placeholder 2">
            <a:extLst>
              <a:ext uri="{FF2B5EF4-FFF2-40B4-BE49-F238E27FC236}">
                <a16:creationId xmlns:a16="http://schemas.microsoft.com/office/drawing/2014/main" id="{A0CE9D78-42F7-470E-876B-55660DA3638C}"/>
              </a:ext>
            </a:extLst>
          </p:cNvPr>
          <p:cNvSpPr>
            <a:spLocks noGrp="1"/>
          </p:cNvSpPr>
          <p:nvPr/>
        </p:nvSpPr>
        <p:spPr bwMode="auto">
          <a:xfrm>
            <a:off x="414338" y="1917823"/>
            <a:ext cx="4191218" cy="4715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1450" indent="-171450" algn="l" rtl="0" eaLnBrk="0" fontAlgn="base" hangingPunct="0">
              <a:lnSpc>
                <a:spcPct val="90000"/>
              </a:lnSpc>
              <a:spcBef>
                <a:spcPts val="750"/>
              </a:spcBef>
              <a:spcAft>
                <a:spcPct val="0"/>
              </a:spcAft>
              <a:buClr>
                <a:srgbClr val="F48C20"/>
              </a:buClr>
              <a:buFont typeface="Wingdings" panose="05000000000000000000" pitchFamily="2" charset="2"/>
              <a:buChar char="§"/>
              <a:defRPr sz="2100" kern="1200">
                <a:solidFill>
                  <a:schemeClr val="tx1"/>
                </a:solidFill>
                <a:latin typeface="Century Gothic" panose="020B0502020202020204" pitchFamily="34" charset="0"/>
                <a:ea typeface="+mn-ea"/>
                <a:cs typeface="+mn-cs"/>
              </a:defRPr>
            </a:lvl1pPr>
            <a:lvl2pPr marL="514350" indent="-171450" algn="l" rtl="0" eaLnBrk="0" fontAlgn="base" hangingPunct="0">
              <a:lnSpc>
                <a:spcPct val="90000"/>
              </a:lnSpc>
              <a:spcBef>
                <a:spcPts val="375"/>
              </a:spcBef>
              <a:spcAft>
                <a:spcPct val="0"/>
              </a:spcAft>
              <a:buFont typeface="Symbol" panose="05050102010706020507" pitchFamily="18" charset="2"/>
              <a:buChar char=""/>
              <a:defRPr kern="1200">
                <a:solidFill>
                  <a:schemeClr val="tx1"/>
                </a:solidFill>
                <a:latin typeface="Century Gothic" panose="020B0502020202020204" pitchFamily="34" charset="0"/>
                <a:ea typeface="+mn-ea"/>
                <a:cs typeface="+mn-cs"/>
              </a:defRPr>
            </a:lvl2pPr>
            <a:lvl3pPr marL="857250" indent="-171450" algn="l" rtl="0" eaLnBrk="0" fontAlgn="base" hangingPunct="0">
              <a:lnSpc>
                <a:spcPct val="90000"/>
              </a:lnSpc>
              <a:spcBef>
                <a:spcPts val="375"/>
              </a:spcBef>
              <a:spcAft>
                <a:spcPct val="0"/>
              </a:spcAft>
              <a:buClr>
                <a:srgbClr val="C1CC30"/>
              </a:buClr>
              <a:buFont typeface="Arial" panose="020B0604020202020204" pitchFamily="34" charset="0"/>
              <a:buChar char="•"/>
              <a:defRPr sz="1500" kern="1200">
                <a:solidFill>
                  <a:schemeClr val="tx1"/>
                </a:solidFill>
                <a:latin typeface="Century Gothic" panose="020B0502020202020204" pitchFamily="34" charset="0"/>
                <a:ea typeface="+mn-ea"/>
                <a:cs typeface="+mn-cs"/>
              </a:defRPr>
            </a:lvl3pPr>
            <a:lvl4pPr marL="1200150" indent="-171450" algn="l"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Century Gothic" panose="020B0502020202020204" pitchFamily="34" charset="0"/>
                <a:ea typeface="+mn-ea"/>
                <a:cs typeface="+mn-cs"/>
              </a:defRPr>
            </a:lvl4pPr>
            <a:lvl5pPr marL="1543050" indent="-171450" algn="l"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Century Gothic" panose="020B0502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Low">
              <a:buFont typeface="Wingdings" panose="05000000000000000000" pitchFamily="2" charset="2"/>
              <a:buNone/>
            </a:pPr>
            <a:r>
              <a:rPr lang="en-US" altLang="en-US" sz="1800" b="1" u="sng" dirty="0"/>
              <a:t>Summary Dashboard</a:t>
            </a:r>
          </a:p>
          <a:p>
            <a:pPr marL="0" indent="0" algn="justLow">
              <a:buNone/>
            </a:pPr>
            <a:r>
              <a:rPr lang="en-US" altLang="en-US" sz="1800" dirty="0"/>
              <a:t>Weekly Progress Report Dashboard is an outcome for completing all the sheets within the weekly progress report file. </a:t>
            </a:r>
          </a:p>
          <a:p>
            <a:pPr marL="0" indent="0" algn="justLow">
              <a:buNone/>
            </a:pPr>
            <a:endParaRPr lang="en-US" altLang="en-US" sz="1800" dirty="0"/>
          </a:p>
          <a:p>
            <a:pPr marL="0" indent="0" algn="justLow">
              <a:buNone/>
            </a:pPr>
            <a:r>
              <a:rPr lang="en-US" altLang="en-US" sz="1800" dirty="0"/>
              <a:t>No manual input is needed for the summary sheet.  </a:t>
            </a:r>
          </a:p>
          <a:p>
            <a:pPr marL="0" indent="0" algn="justLow">
              <a:buNone/>
            </a:pPr>
            <a:endParaRPr lang="en-US" altLang="en-US" sz="1800" dirty="0"/>
          </a:p>
          <a:p>
            <a:pPr marL="0" indent="0" algn="justLow">
              <a:buNone/>
            </a:pPr>
            <a:r>
              <a:rPr lang="en-US" altLang="en-US" sz="1800" dirty="0"/>
              <a:t>It is important that sheets should not be deleted or replaced. All input should be entered manually as a part of weekly update.</a:t>
            </a:r>
          </a:p>
        </p:txBody>
      </p:sp>
      <p:pic>
        <p:nvPicPr>
          <p:cNvPr id="4" name="Picture 3">
            <a:extLst>
              <a:ext uri="{FF2B5EF4-FFF2-40B4-BE49-F238E27FC236}">
                <a16:creationId xmlns:a16="http://schemas.microsoft.com/office/drawing/2014/main" id="{FDCB6F7A-0FF5-EFBC-731F-E8472FB16EBC}"/>
              </a:ext>
            </a:extLst>
          </p:cNvPr>
          <p:cNvPicPr>
            <a:picLocks noChangeAspect="1"/>
          </p:cNvPicPr>
          <p:nvPr/>
        </p:nvPicPr>
        <p:blipFill>
          <a:blip r:embed="rId2"/>
          <a:stretch>
            <a:fillRect/>
          </a:stretch>
        </p:blipFill>
        <p:spPr>
          <a:xfrm>
            <a:off x="4605556" y="1276357"/>
            <a:ext cx="7322530" cy="5318449"/>
          </a:xfrm>
          <a:prstGeom prst="rect">
            <a:avLst/>
          </a:prstGeom>
        </p:spPr>
      </p:pic>
    </p:spTree>
    <p:extLst>
      <p:ext uri="{BB962C8B-B14F-4D97-AF65-F5344CB8AC3E}">
        <p14:creationId xmlns:p14="http://schemas.microsoft.com/office/powerpoint/2010/main" val="1538737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p:txBody>
          <a:bodyPr/>
          <a:lstStyle/>
          <a:p>
            <a:pPr algn="l"/>
            <a:r>
              <a:rPr lang="en-US" dirty="0"/>
              <a:t>Weekly Progress Report Attachment</a:t>
            </a:r>
          </a:p>
        </p:txBody>
      </p:sp>
      <p:sp>
        <p:nvSpPr>
          <p:cNvPr id="6" name="Text Placeholder 2">
            <a:extLst>
              <a:ext uri="{FF2B5EF4-FFF2-40B4-BE49-F238E27FC236}">
                <a16:creationId xmlns:a16="http://schemas.microsoft.com/office/drawing/2014/main" id="{A0CE9D78-42F7-470E-876B-55660DA3638C}"/>
              </a:ext>
            </a:extLst>
          </p:cNvPr>
          <p:cNvSpPr>
            <a:spLocks noGrp="1"/>
          </p:cNvSpPr>
          <p:nvPr/>
        </p:nvSpPr>
        <p:spPr bwMode="auto">
          <a:xfrm>
            <a:off x="414338" y="1917823"/>
            <a:ext cx="10709464" cy="4715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1450" indent="-171450" algn="l" rtl="0" eaLnBrk="0" fontAlgn="base" hangingPunct="0">
              <a:lnSpc>
                <a:spcPct val="90000"/>
              </a:lnSpc>
              <a:spcBef>
                <a:spcPts val="750"/>
              </a:spcBef>
              <a:spcAft>
                <a:spcPct val="0"/>
              </a:spcAft>
              <a:buClr>
                <a:srgbClr val="F48C20"/>
              </a:buClr>
              <a:buFont typeface="Wingdings" panose="05000000000000000000" pitchFamily="2" charset="2"/>
              <a:buChar char="§"/>
              <a:defRPr sz="2100" kern="1200">
                <a:solidFill>
                  <a:schemeClr val="tx1"/>
                </a:solidFill>
                <a:latin typeface="Century Gothic" panose="020B0502020202020204" pitchFamily="34" charset="0"/>
                <a:ea typeface="+mn-ea"/>
                <a:cs typeface="+mn-cs"/>
              </a:defRPr>
            </a:lvl1pPr>
            <a:lvl2pPr marL="514350" indent="-171450" algn="l" rtl="0" eaLnBrk="0" fontAlgn="base" hangingPunct="0">
              <a:lnSpc>
                <a:spcPct val="90000"/>
              </a:lnSpc>
              <a:spcBef>
                <a:spcPts val="375"/>
              </a:spcBef>
              <a:spcAft>
                <a:spcPct val="0"/>
              </a:spcAft>
              <a:buFont typeface="Symbol" panose="05050102010706020507" pitchFamily="18" charset="2"/>
              <a:buChar char=""/>
              <a:defRPr kern="1200">
                <a:solidFill>
                  <a:schemeClr val="tx1"/>
                </a:solidFill>
                <a:latin typeface="Century Gothic" panose="020B0502020202020204" pitchFamily="34" charset="0"/>
                <a:ea typeface="+mn-ea"/>
                <a:cs typeface="+mn-cs"/>
              </a:defRPr>
            </a:lvl2pPr>
            <a:lvl3pPr marL="857250" indent="-171450" algn="l" rtl="0" eaLnBrk="0" fontAlgn="base" hangingPunct="0">
              <a:lnSpc>
                <a:spcPct val="90000"/>
              </a:lnSpc>
              <a:spcBef>
                <a:spcPts val="375"/>
              </a:spcBef>
              <a:spcAft>
                <a:spcPct val="0"/>
              </a:spcAft>
              <a:buClr>
                <a:srgbClr val="C1CC30"/>
              </a:buClr>
              <a:buFont typeface="Arial" panose="020B0604020202020204" pitchFamily="34" charset="0"/>
              <a:buChar char="•"/>
              <a:defRPr sz="1500" kern="1200">
                <a:solidFill>
                  <a:schemeClr val="tx1"/>
                </a:solidFill>
                <a:latin typeface="Century Gothic" panose="020B0502020202020204" pitchFamily="34" charset="0"/>
                <a:ea typeface="+mn-ea"/>
                <a:cs typeface="+mn-cs"/>
              </a:defRPr>
            </a:lvl3pPr>
            <a:lvl4pPr marL="1200150" indent="-171450" algn="l"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Century Gothic" panose="020B0502020202020204" pitchFamily="34" charset="0"/>
                <a:ea typeface="+mn-ea"/>
                <a:cs typeface="+mn-cs"/>
              </a:defRPr>
            </a:lvl4pPr>
            <a:lvl5pPr marL="1543050" indent="-171450" algn="l"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Century Gothic" panose="020B0502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Low">
              <a:buFont typeface="Wingdings" panose="05000000000000000000" pitchFamily="2" charset="2"/>
              <a:buNone/>
            </a:pPr>
            <a:r>
              <a:rPr lang="en-US" altLang="en-US" sz="1800" b="1" u="sng" dirty="0"/>
              <a:t>Weekly Progress Report </a:t>
            </a:r>
            <a:r>
              <a:rPr lang="en-US" altLang="en-US" sz="1800" b="1" u="sng" dirty="0" err="1"/>
              <a:t>Attachement</a:t>
            </a:r>
            <a:endParaRPr lang="en-US" altLang="en-US" sz="1800" b="1" u="sng" dirty="0"/>
          </a:p>
          <a:p>
            <a:pPr marL="0" indent="0" algn="justLow">
              <a:buNone/>
            </a:pPr>
            <a:r>
              <a:rPr lang="en-US" altLang="en-US" sz="1800" dirty="0"/>
              <a:t>Contractor/Consultant should ensure that the weekly progress report are supported with required attachment. </a:t>
            </a:r>
          </a:p>
          <a:p>
            <a:pPr marL="0" indent="0" algn="justLow">
              <a:buNone/>
            </a:pPr>
            <a:endParaRPr lang="en-US" altLang="en-US" sz="1800" dirty="0"/>
          </a:p>
          <a:p>
            <a:pPr marL="0" indent="0" algn="justLow">
              <a:buNone/>
            </a:pPr>
            <a:r>
              <a:rPr lang="en-US" altLang="en-US" sz="1800" dirty="0"/>
              <a:t>Those attachment should include the following as a minimum requirement:</a:t>
            </a:r>
          </a:p>
          <a:p>
            <a:pPr marL="0" indent="0" algn="justLow">
              <a:buNone/>
            </a:pPr>
            <a:endParaRPr lang="en-US" altLang="en-US" sz="1800" dirty="0"/>
          </a:p>
          <a:p>
            <a:pPr algn="justLow"/>
            <a:r>
              <a:rPr lang="en-US" altLang="en-US" sz="1800" dirty="0"/>
              <a:t>Approved Primavera P6 Schedule in xer format.</a:t>
            </a:r>
          </a:p>
          <a:p>
            <a:pPr algn="justLow"/>
            <a:r>
              <a:rPr lang="en-US" altLang="en-US" sz="1800" dirty="0"/>
              <a:t>3-5 latest progress photographs in JPG format</a:t>
            </a:r>
          </a:p>
          <a:p>
            <a:pPr algn="justLow"/>
            <a:r>
              <a:rPr lang="en-US" altLang="en-US" sz="1800" dirty="0"/>
              <a:t>Updated Primavera P6 schedule in .xer format &amp; PDF Format Three weeks look ahead in PDF format. (as per </a:t>
            </a:r>
            <a:r>
              <a:rPr lang="en-US" altLang="en-US" sz="1800" dirty="0">
                <a:hlinkClick r:id="rId2"/>
              </a:rPr>
              <a:t>plf link</a:t>
            </a:r>
            <a:r>
              <a:rPr lang="en-US" altLang="en-US" sz="1800" dirty="0"/>
              <a:t>)</a:t>
            </a:r>
          </a:p>
          <a:p>
            <a:pPr algn="justLow"/>
            <a:r>
              <a:rPr lang="en-US" altLang="en-US" sz="1800" dirty="0"/>
              <a:t>Remaining Works in PDF format.</a:t>
            </a:r>
          </a:p>
          <a:p>
            <a:pPr algn="justLow"/>
            <a:r>
              <a:rPr lang="en-US" altLang="en-US" sz="1800" dirty="0"/>
              <a:t>Any other supporting document required per the development of the project.</a:t>
            </a:r>
          </a:p>
          <a:p>
            <a:pPr algn="justLow"/>
            <a:endParaRPr lang="en-US" altLang="en-US" sz="1800" dirty="0"/>
          </a:p>
        </p:txBody>
      </p:sp>
    </p:spTree>
    <p:extLst>
      <p:ext uri="{BB962C8B-B14F-4D97-AF65-F5344CB8AC3E}">
        <p14:creationId xmlns:p14="http://schemas.microsoft.com/office/powerpoint/2010/main" val="38538342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1490F-26A0-D04A-BEA7-2C4E9A8E1E7A}"/>
              </a:ext>
            </a:extLst>
          </p:cNvPr>
          <p:cNvSpPr>
            <a:spLocks noGrp="1"/>
          </p:cNvSpPr>
          <p:nvPr>
            <p:ph type="title"/>
          </p:nvPr>
        </p:nvSpPr>
        <p:spPr/>
        <p:txBody>
          <a:bodyPr/>
          <a:lstStyle/>
          <a:p>
            <a:pPr algn="l"/>
            <a:r>
              <a:rPr lang="en-US" dirty="0"/>
              <a:t>Weekly Report Areas / Sections</a:t>
            </a:r>
          </a:p>
        </p:txBody>
      </p:sp>
    </p:spTree>
    <p:extLst>
      <p:ext uri="{BB962C8B-B14F-4D97-AF65-F5344CB8AC3E}">
        <p14:creationId xmlns:p14="http://schemas.microsoft.com/office/powerpoint/2010/main" val="3703513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Sections</a:t>
            </a:r>
          </a:p>
        </p:txBody>
      </p:sp>
      <p:sp>
        <p:nvSpPr>
          <p:cNvPr id="6" name="Rectangle 5">
            <a:extLst>
              <a:ext uri="{FF2B5EF4-FFF2-40B4-BE49-F238E27FC236}">
                <a16:creationId xmlns:a16="http://schemas.microsoft.com/office/drawing/2014/main" id="{ED98EE53-72BA-4151-A302-AD2BF3E9F60B}"/>
              </a:ext>
            </a:extLst>
          </p:cNvPr>
          <p:cNvSpPr/>
          <p:nvPr/>
        </p:nvSpPr>
        <p:spPr>
          <a:xfrm>
            <a:off x="725735" y="1948934"/>
            <a:ext cx="3817392"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Contract General Information</a:t>
            </a:r>
          </a:p>
        </p:txBody>
      </p:sp>
      <p:sp>
        <p:nvSpPr>
          <p:cNvPr id="8" name="Rectangle 7">
            <a:extLst>
              <a:ext uri="{FF2B5EF4-FFF2-40B4-BE49-F238E27FC236}">
                <a16:creationId xmlns:a16="http://schemas.microsoft.com/office/drawing/2014/main" id="{1F353926-0080-49FF-91C7-97E88602E0C8}"/>
              </a:ext>
            </a:extLst>
          </p:cNvPr>
          <p:cNvSpPr/>
          <p:nvPr/>
        </p:nvSpPr>
        <p:spPr>
          <a:xfrm>
            <a:off x="725735" y="2419350"/>
            <a:ext cx="1691810"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Key Dates </a:t>
            </a:r>
          </a:p>
        </p:txBody>
      </p:sp>
      <p:sp>
        <p:nvSpPr>
          <p:cNvPr id="12" name="Rectangle 11">
            <a:extLst>
              <a:ext uri="{FF2B5EF4-FFF2-40B4-BE49-F238E27FC236}">
                <a16:creationId xmlns:a16="http://schemas.microsoft.com/office/drawing/2014/main" id="{9117EB9E-CC16-470D-93A9-1FFA4FDEA7FC}"/>
              </a:ext>
            </a:extLst>
          </p:cNvPr>
          <p:cNvSpPr/>
          <p:nvPr/>
        </p:nvSpPr>
        <p:spPr>
          <a:xfrm>
            <a:off x="725735" y="2909325"/>
            <a:ext cx="2689069"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Progress Overview </a:t>
            </a:r>
          </a:p>
        </p:txBody>
      </p:sp>
      <p:sp>
        <p:nvSpPr>
          <p:cNvPr id="14" name="Rectangle 13">
            <a:extLst>
              <a:ext uri="{FF2B5EF4-FFF2-40B4-BE49-F238E27FC236}">
                <a16:creationId xmlns:a16="http://schemas.microsoft.com/office/drawing/2014/main" id="{9759D9B9-590C-4790-BFA5-1127427C3664}"/>
              </a:ext>
            </a:extLst>
          </p:cNvPr>
          <p:cNvSpPr/>
          <p:nvPr/>
        </p:nvSpPr>
        <p:spPr>
          <a:xfrm>
            <a:off x="725735" y="3370131"/>
            <a:ext cx="3293722"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Construction Milestones </a:t>
            </a:r>
          </a:p>
        </p:txBody>
      </p:sp>
      <p:sp>
        <p:nvSpPr>
          <p:cNvPr id="15" name="Rectangle 14">
            <a:extLst>
              <a:ext uri="{FF2B5EF4-FFF2-40B4-BE49-F238E27FC236}">
                <a16:creationId xmlns:a16="http://schemas.microsoft.com/office/drawing/2014/main" id="{0C1DAC87-0392-4D38-B0C1-DB39DBD94634}"/>
              </a:ext>
            </a:extLst>
          </p:cNvPr>
          <p:cNvSpPr/>
          <p:nvPr/>
        </p:nvSpPr>
        <p:spPr>
          <a:xfrm>
            <a:off x="748192" y="3840547"/>
            <a:ext cx="2553199"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Submittals Status </a:t>
            </a:r>
          </a:p>
        </p:txBody>
      </p:sp>
      <p:sp>
        <p:nvSpPr>
          <p:cNvPr id="17" name="Rectangle 16">
            <a:extLst>
              <a:ext uri="{FF2B5EF4-FFF2-40B4-BE49-F238E27FC236}">
                <a16:creationId xmlns:a16="http://schemas.microsoft.com/office/drawing/2014/main" id="{0A5A3146-84B8-4367-86BA-F42D42153B4A}"/>
              </a:ext>
            </a:extLst>
          </p:cNvPr>
          <p:cNvSpPr/>
          <p:nvPr/>
        </p:nvSpPr>
        <p:spPr>
          <a:xfrm>
            <a:off x="725735" y="4854418"/>
            <a:ext cx="3284232"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Material Approval Status</a:t>
            </a:r>
          </a:p>
        </p:txBody>
      </p:sp>
      <p:sp>
        <p:nvSpPr>
          <p:cNvPr id="18" name="Rectangle 17">
            <a:extLst>
              <a:ext uri="{FF2B5EF4-FFF2-40B4-BE49-F238E27FC236}">
                <a16:creationId xmlns:a16="http://schemas.microsoft.com/office/drawing/2014/main" id="{828D6351-DA5C-40EF-B47F-E0B247C24BB9}"/>
              </a:ext>
            </a:extLst>
          </p:cNvPr>
          <p:cNvSpPr/>
          <p:nvPr/>
        </p:nvSpPr>
        <p:spPr>
          <a:xfrm>
            <a:off x="7040541" y="1913699"/>
            <a:ext cx="949299"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HSE</a:t>
            </a:r>
          </a:p>
        </p:txBody>
      </p:sp>
      <p:sp>
        <p:nvSpPr>
          <p:cNvPr id="19" name="Rectangle 18">
            <a:extLst>
              <a:ext uri="{FF2B5EF4-FFF2-40B4-BE49-F238E27FC236}">
                <a16:creationId xmlns:a16="http://schemas.microsoft.com/office/drawing/2014/main" id="{057C8D06-032B-4E26-B9D8-B35C4F40C9E7}"/>
              </a:ext>
            </a:extLst>
          </p:cNvPr>
          <p:cNvSpPr/>
          <p:nvPr/>
        </p:nvSpPr>
        <p:spPr>
          <a:xfrm>
            <a:off x="7040541" y="2431874"/>
            <a:ext cx="1397562"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Invoices</a:t>
            </a:r>
          </a:p>
        </p:txBody>
      </p:sp>
      <p:sp>
        <p:nvSpPr>
          <p:cNvPr id="20" name="Rectangle 19">
            <a:extLst>
              <a:ext uri="{FF2B5EF4-FFF2-40B4-BE49-F238E27FC236}">
                <a16:creationId xmlns:a16="http://schemas.microsoft.com/office/drawing/2014/main" id="{BD7B75C2-83A3-4920-8364-699E7289ABB1}"/>
              </a:ext>
            </a:extLst>
          </p:cNvPr>
          <p:cNvSpPr/>
          <p:nvPr/>
        </p:nvSpPr>
        <p:spPr>
          <a:xfrm>
            <a:off x="725735" y="4325303"/>
            <a:ext cx="2879443"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Shop Drawing Status</a:t>
            </a:r>
          </a:p>
        </p:txBody>
      </p:sp>
      <p:sp>
        <p:nvSpPr>
          <p:cNvPr id="22" name="Rectangle 21">
            <a:extLst>
              <a:ext uri="{FF2B5EF4-FFF2-40B4-BE49-F238E27FC236}">
                <a16:creationId xmlns:a16="http://schemas.microsoft.com/office/drawing/2014/main" id="{4883D1DE-6619-4334-8EFE-2E843FFF7142}"/>
              </a:ext>
            </a:extLst>
          </p:cNvPr>
          <p:cNvSpPr/>
          <p:nvPr/>
        </p:nvSpPr>
        <p:spPr>
          <a:xfrm>
            <a:off x="7040541" y="3847667"/>
            <a:ext cx="2445478"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Resources at Site</a:t>
            </a:r>
          </a:p>
        </p:txBody>
      </p:sp>
      <p:sp>
        <p:nvSpPr>
          <p:cNvPr id="24" name="Rectangle 23">
            <a:extLst>
              <a:ext uri="{FF2B5EF4-FFF2-40B4-BE49-F238E27FC236}">
                <a16:creationId xmlns:a16="http://schemas.microsoft.com/office/drawing/2014/main" id="{E8856871-B435-4822-8562-7C0478D560FB}"/>
              </a:ext>
            </a:extLst>
          </p:cNvPr>
          <p:cNvSpPr/>
          <p:nvPr/>
        </p:nvSpPr>
        <p:spPr>
          <a:xfrm>
            <a:off x="7040541" y="4325303"/>
            <a:ext cx="3967368"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Primavera P6 Schedule Status </a:t>
            </a:r>
          </a:p>
        </p:txBody>
      </p:sp>
      <p:sp>
        <p:nvSpPr>
          <p:cNvPr id="26" name="Rectangle 25">
            <a:extLst>
              <a:ext uri="{FF2B5EF4-FFF2-40B4-BE49-F238E27FC236}">
                <a16:creationId xmlns:a16="http://schemas.microsoft.com/office/drawing/2014/main" id="{CA58F7D8-9A58-4ABB-957E-F1F6C6BBFC9D}"/>
              </a:ext>
            </a:extLst>
          </p:cNvPr>
          <p:cNvSpPr/>
          <p:nvPr/>
        </p:nvSpPr>
        <p:spPr>
          <a:xfrm>
            <a:off x="7040541" y="2902290"/>
            <a:ext cx="3665555"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Contract Change Order Log</a:t>
            </a:r>
          </a:p>
        </p:txBody>
      </p:sp>
      <p:sp>
        <p:nvSpPr>
          <p:cNvPr id="27" name="Rectangle 26">
            <a:extLst>
              <a:ext uri="{FF2B5EF4-FFF2-40B4-BE49-F238E27FC236}">
                <a16:creationId xmlns:a16="http://schemas.microsoft.com/office/drawing/2014/main" id="{D0D745F9-7027-4618-AC8F-9A414F025AB5}"/>
              </a:ext>
            </a:extLst>
          </p:cNvPr>
          <p:cNvSpPr/>
          <p:nvPr/>
        </p:nvSpPr>
        <p:spPr>
          <a:xfrm>
            <a:off x="7040541" y="3372706"/>
            <a:ext cx="3264035"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Major Quantity Trackers </a:t>
            </a:r>
          </a:p>
        </p:txBody>
      </p:sp>
      <p:sp>
        <p:nvSpPr>
          <p:cNvPr id="28" name="Rectangle 27">
            <a:extLst>
              <a:ext uri="{FF2B5EF4-FFF2-40B4-BE49-F238E27FC236}">
                <a16:creationId xmlns:a16="http://schemas.microsoft.com/office/drawing/2014/main" id="{CCBF3A41-9053-4FF5-BE15-80C02EA6C3B7}"/>
              </a:ext>
            </a:extLst>
          </p:cNvPr>
          <p:cNvSpPr/>
          <p:nvPr/>
        </p:nvSpPr>
        <p:spPr>
          <a:xfrm>
            <a:off x="7040541" y="4802939"/>
            <a:ext cx="3734356"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Testing And Commissioning </a:t>
            </a:r>
          </a:p>
        </p:txBody>
      </p:sp>
      <p:sp>
        <p:nvSpPr>
          <p:cNvPr id="29" name="Rectangle 28">
            <a:extLst>
              <a:ext uri="{FF2B5EF4-FFF2-40B4-BE49-F238E27FC236}">
                <a16:creationId xmlns:a16="http://schemas.microsoft.com/office/drawing/2014/main" id="{06515FD4-CA9C-4C9F-9CFE-6E161C71552F}"/>
              </a:ext>
            </a:extLst>
          </p:cNvPr>
          <p:cNvSpPr/>
          <p:nvPr/>
        </p:nvSpPr>
        <p:spPr>
          <a:xfrm>
            <a:off x="7040541" y="5270680"/>
            <a:ext cx="1723998"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Top Issues </a:t>
            </a:r>
          </a:p>
        </p:txBody>
      </p:sp>
      <p:sp>
        <p:nvSpPr>
          <p:cNvPr id="30" name="Rectangle 29">
            <a:extLst>
              <a:ext uri="{FF2B5EF4-FFF2-40B4-BE49-F238E27FC236}">
                <a16:creationId xmlns:a16="http://schemas.microsoft.com/office/drawing/2014/main" id="{55745146-0056-4C47-BBFA-112097FFEC7F}"/>
              </a:ext>
            </a:extLst>
          </p:cNvPr>
          <p:cNvSpPr/>
          <p:nvPr/>
        </p:nvSpPr>
        <p:spPr>
          <a:xfrm>
            <a:off x="729245" y="5383533"/>
            <a:ext cx="1295547" cy="369332"/>
          </a:xfrm>
          <a:prstGeom prst="rect">
            <a:avLst/>
          </a:prstGeom>
        </p:spPr>
        <p:txBody>
          <a:bodyPr wrap="none">
            <a:spAutoFit/>
          </a:bodyPr>
          <a:lstStyle/>
          <a:p>
            <a:pPr marL="285750" indent="-285750">
              <a:buFont typeface="Arial" panose="020B0604020202020204" pitchFamily="34" charset="0"/>
              <a:buChar char="•"/>
            </a:pPr>
            <a:r>
              <a:rPr lang="en-US" dirty="0">
                <a:solidFill>
                  <a:srgbClr val="2C6782"/>
                </a:solidFill>
                <a:latin typeface="Gotham" panose="02000504050000020004" pitchFamily="2" charset="0"/>
              </a:rPr>
              <a:t>Quality</a:t>
            </a:r>
          </a:p>
        </p:txBody>
      </p:sp>
    </p:spTree>
    <p:extLst>
      <p:ext uri="{BB962C8B-B14F-4D97-AF65-F5344CB8AC3E}">
        <p14:creationId xmlns:p14="http://schemas.microsoft.com/office/powerpoint/2010/main" val="2579139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928134" cy="733211"/>
          </a:xfrm>
        </p:spPr>
        <p:txBody>
          <a:bodyPr/>
          <a:lstStyle/>
          <a:p>
            <a:pPr algn="l"/>
            <a:r>
              <a:rPr lang="en-US" dirty="0"/>
              <a:t>Weekly Report Areas / General Information</a:t>
            </a:r>
          </a:p>
        </p:txBody>
      </p:sp>
      <p:sp>
        <p:nvSpPr>
          <p:cNvPr id="6" name="Rectangle 5">
            <a:extLst>
              <a:ext uri="{FF2B5EF4-FFF2-40B4-BE49-F238E27FC236}">
                <a16:creationId xmlns:a16="http://schemas.microsoft.com/office/drawing/2014/main" id="{ED98EE53-72BA-4151-A302-AD2BF3E9F60B}"/>
              </a:ext>
            </a:extLst>
          </p:cNvPr>
          <p:cNvSpPr/>
          <p:nvPr/>
        </p:nvSpPr>
        <p:spPr>
          <a:xfrm>
            <a:off x="725735" y="1948934"/>
            <a:ext cx="3905236"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Contract General Information</a:t>
            </a:r>
          </a:p>
        </p:txBody>
      </p:sp>
      <p:sp>
        <p:nvSpPr>
          <p:cNvPr id="5" name="Rectangle 4">
            <a:extLst>
              <a:ext uri="{FF2B5EF4-FFF2-40B4-BE49-F238E27FC236}">
                <a16:creationId xmlns:a16="http://schemas.microsoft.com/office/drawing/2014/main" id="{6F1DF5B5-DD79-4F51-BA9B-22BCA8DA532F}"/>
              </a:ext>
            </a:extLst>
          </p:cNvPr>
          <p:cNvSpPr/>
          <p:nvPr/>
        </p:nvSpPr>
        <p:spPr>
          <a:xfrm>
            <a:off x="725735" y="4178300"/>
            <a:ext cx="10807504" cy="1384995"/>
          </a:xfrm>
          <a:prstGeom prst="rect">
            <a:avLst/>
          </a:prstGeom>
        </p:spPr>
        <p:txBody>
          <a:bodyPr wrap="square">
            <a:spAutoFit/>
          </a:bodyPr>
          <a:lstStyle/>
          <a:p>
            <a:r>
              <a:rPr lang="en-US" altLang="en-US" sz="1200" b="1" dirty="0">
                <a:solidFill>
                  <a:srgbClr val="2C6782"/>
                </a:solidFill>
                <a:latin typeface="Gotham" panose="02000504050000020004" pitchFamily="2" charset="0"/>
              </a:rPr>
              <a:t>Project Name: </a:t>
            </a:r>
            <a:r>
              <a:rPr lang="en-US" altLang="en-US" sz="1200" dirty="0">
                <a:solidFill>
                  <a:srgbClr val="2C6782"/>
                </a:solidFill>
                <a:latin typeface="Gotham" panose="02000504050000020004" pitchFamily="2" charset="0"/>
              </a:rPr>
              <a:t>	Factories Low- Process Unit (HAFR Al BATIN)</a:t>
            </a:r>
          </a:p>
          <a:p>
            <a:r>
              <a:rPr lang="en-US" altLang="en-US" sz="1200" b="1" dirty="0">
                <a:solidFill>
                  <a:srgbClr val="2C6782"/>
                </a:solidFill>
                <a:latin typeface="Gotham" panose="02000504050000020004" pitchFamily="2" charset="0"/>
              </a:rPr>
              <a:t>Project ID:</a:t>
            </a:r>
            <a:r>
              <a:rPr lang="en-US" altLang="en-US" sz="1200" dirty="0">
                <a:solidFill>
                  <a:srgbClr val="2C6782"/>
                </a:solidFill>
                <a:latin typeface="Gotham" panose="02000504050000020004" pitchFamily="2" charset="0"/>
              </a:rPr>
              <a:t>		HFR1-05-003</a:t>
            </a:r>
          </a:p>
          <a:p>
            <a:r>
              <a:rPr lang="en-US" altLang="en-US" sz="1200" b="1" dirty="0">
                <a:solidFill>
                  <a:srgbClr val="2C6782"/>
                </a:solidFill>
                <a:latin typeface="Gotham" panose="02000504050000020004" pitchFamily="2" charset="0"/>
              </a:rPr>
              <a:t>Contractor:	</a:t>
            </a:r>
            <a:r>
              <a:rPr lang="en-US" altLang="en-US" sz="1200" dirty="0">
                <a:solidFill>
                  <a:srgbClr val="2C6782"/>
                </a:solidFill>
                <a:latin typeface="Gotham" panose="02000504050000020004" pitchFamily="2" charset="0"/>
              </a:rPr>
              <a:t>	SOROH AL KHAIR CONTRACTING CO.</a:t>
            </a:r>
          </a:p>
          <a:p>
            <a:r>
              <a:rPr lang="en-US" altLang="en-US" sz="1200" b="1" dirty="0">
                <a:solidFill>
                  <a:srgbClr val="2C6782"/>
                </a:solidFill>
                <a:latin typeface="Gotham" panose="02000504050000020004" pitchFamily="2" charset="0"/>
              </a:rPr>
              <a:t>Consultant:	</a:t>
            </a:r>
            <a:r>
              <a:rPr lang="en-US" altLang="en-US" sz="1200" dirty="0">
                <a:solidFill>
                  <a:srgbClr val="2C6782"/>
                </a:solidFill>
                <a:latin typeface="Gotham" panose="02000504050000020004" pitchFamily="2" charset="0"/>
              </a:rPr>
              <a:t>	EGIS</a:t>
            </a:r>
          </a:p>
          <a:p>
            <a:r>
              <a:rPr lang="en-US" altLang="en-US" sz="1200" b="1" dirty="0">
                <a:solidFill>
                  <a:srgbClr val="2C6782"/>
                </a:solidFill>
                <a:latin typeface="Gotham" panose="02000504050000020004" pitchFamily="2" charset="0"/>
              </a:rPr>
              <a:t>Stage:</a:t>
            </a:r>
            <a:r>
              <a:rPr lang="en-US" altLang="en-US" sz="1200" dirty="0">
                <a:solidFill>
                  <a:srgbClr val="2C6782"/>
                </a:solidFill>
                <a:latin typeface="Gotham" panose="02000504050000020004" pitchFamily="2" charset="0"/>
              </a:rPr>
              <a:t>		Construction</a:t>
            </a:r>
          </a:p>
          <a:p>
            <a:r>
              <a:rPr lang="en-US" altLang="en-US" sz="1200" b="1" dirty="0">
                <a:solidFill>
                  <a:srgbClr val="2C6782"/>
                </a:solidFill>
                <a:latin typeface="Gotham" panose="02000504050000020004" pitchFamily="2" charset="0"/>
              </a:rPr>
              <a:t>Status:</a:t>
            </a:r>
            <a:r>
              <a:rPr lang="en-US" altLang="en-US" sz="1200" dirty="0">
                <a:solidFill>
                  <a:srgbClr val="2C6782"/>
                </a:solidFill>
                <a:latin typeface="Gotham" panose="02000504050000020004" pitchFamily="2" charset="0"/>
              </a:rPr>
              <a:t>		Active.</a:t>
            </a:r>
          </a:p>
          <a:p>
            <a:r>
              <a:rPr lang="en-US" altLang="en-US" sz="1200" b="1" dirty="0">
                <a:solidFill>
                  <a:srgbClr val="2C6782"/>
                </a:solidFill>
                <a:latin typeface="Gotham" panose="02000504050000020004" pitchFamily="2" charset="0"/>
              </a:rPr>
              <a:t>MODON PM: </a:t>
            </a:r>
            <a:r>
              <a:rPr lang="en-US" altLang="en-US" sz="1200" dirty="0">
                <a:solidFill>
                  <a:srgbClr val="2C6782"/>
                </a:solidFill>
                <a:latin typeface="Gotham" panose="02000504050000020004" pitchFamily="2" charset="0"/>
              </a:rPr>
              <a:t>	                           Eng. Mohammad Al Essa</a:t>
            </a:r>
          </a:p>
        </p:txBody>
      </p:sp>
      <p:pic>
        <p:nvPicPr>
          <p:cNvPr id="7" name="Picture 6">
            <a:extLst>
              <a:ext uri="{FF2B5EF4-FFF2-40B4-BE49-F238E27FC236}">
                <a16:creationId xmlns:a16="http://schemas.microsoft.com/office/drawing/2014/main" id="{CED1274C-91CD-C43D-A7D9-8A8D4907C973}"/>
              </a:ext>
            </a:extLst>
          </p:cNvPr>
          <p:cNvPicPr>
            <a:picLocks noChangeAspect="1"/>
          </p:cNvPicPr>
          <p:nvPr/>
        </p:nvPicPr>
        <p:blipFill>
          <a:blip r:embed="rId2"/>
          <a:stretch>
            <a:fillRect/>
          </a:stretch>
        </p:blipFill>
        <p:spPr>
          <a:xfrm>
            <a:off x="4285129" y="1479401"/>
            <a:ext cx="7625918" cy="2034540"/>
          </a:xfrm>
          <a:prstGeom prst="rect">
            <a:avLst/>
          </a:prstGeom>
        </p:spPr>
      </p:pic>
    </p:spTree>
    <p:extLst>
      <p:ext uri="{BB962C8B-B14F-4D97-AF65-F5344CB8AC3E}">
        <p14:creationId xmlns:p14="http://schemas.microsoft.com/office/powerpoint/2010/main" val="540359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Dates</a:t>
            </a:r>
          </a:p>
        </p:txBody>
      </p:sp>
      <p:sp>
        <p:nvSpPr>
          <p:cNvPr id="8" name="Rectangle 7">
            <a:extLst>
              <a:ext uri="{FF2B5EF4-FFF2-40B4-BE49-F238E27FC236}">
                <a16:creationId xmlns:a16="http://schemas.microsoft.com/office/drawing/2014/main" id="{1F353926-0080-49FF-91C7-97E88602E0C8}"/>
              </a:ext>
            </a:extLst>
          </p:cNvPr>
          <p:cNvSpPr/>
          <p:nvPr/>
        </p:nvSpPr>
        <p:spPr>
          <a:xfrm>
            <a:off x="713035" y="1785493"/>
            <a:ext cx="1721946"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Key Dates </a:t>
            </a:r>
          </a:p>
        </p:txBody>
      </p:sp>
      <p:sp>
        <p:nvSpPr>
          <p:cNvPr id="7" name="Rectangle 6">
            <a:extLst>
              <a:ext uri="{FF2B5EF4-FFF2-40B4-BE49-F238E27FC236}">
                <a16:creationId xmlns:a16="http://schemas.microsoft.com/office/drawing/2014/main" id="{09C3C669-1763-42EB-A56A-836EBC60DB58}"/>
              </a:ext>
            </a:extLst>
          </p:cNvPr>
          <p:cNvSpPr/>
          <p:nvPr/>
        </p:nvSpPr>
        <p:spPr>
          <a:xfrm>
            <a:off x="120649" y="4909660"/>
            <a:ext cx="11620501" cy="1569660"/>
          </a:xfrm>
          <a:prstGeom prst="rect">
            <a:avLst/>
          </a:prstGeom>
        </p:spPr>
        <p:txBody>
          <a:bodyPr wrap="square">
            <a:spAutoFit/>
          </a:bodyPr>
          <a:lstStyle/>
          <a:p>
            <a:r>
              <a:rPr lang="en-US" sz="1200" b="1" dirty="0">
                <a:solidFill>
                  <a:srgbClr val="2C6782"/>
                </a:solidFill>
                <a:latin typeface="Gotham" panose="02000504050000020004" pitchFamily="2" charset="0"/>
              </a:rPr>
              <a:t>Contract Award Date: </a:t>
            </a:r>
            <a:r>
              <a:rPr lang="en-US" sz="1200" dirty="0">
                <a:solidFill>
                  <a:srgbClr val="2C6782"/>
                </a:solidFill>
                <a:latin typeface="Gotham" panose="02000504050000020004" pitchFamily="2" charset="0"/>
              </a:rPr>
              <a:t>		15 Oct 2025</a:t>
            </a:r>
          </a:p>
          <a:p>
            <a:r>
              <a:rPr lang="en-US" sz="1200" b="1" dirty="0">
                <a:solidFill>
                  <a:srgbClr val="2C6782"/>
                </a:solidFill>
                <a:latin typeface="Gotham" panose="02000504050000020004" pitchFamily="2" charset="0"/>
              </a:rPr>
              <a:t>Contract Sign Date:</a:t>
            </a:r>
            <a:r>
              <a:rPr lang="en-US" sz="1200" dirty="0">
                <a:solidFill>
                  <a:srgbClr val="2C6782"/>
                </a:solidFill>
                <a:latin typeface="Gotham" panose="02000504050000020004" pitchFamily="2" charset="0"/>
              </a:rPr>
              <a:t>		16 Nov 2025</a:t>
            </a:r>
          </a:p>
          <a:p>
            <a:r>
              <a:rPr lang="en-US" sz="1200" b="1" dirty="0">
                <a:solidFill>
                  <a:srgbClr val="2C6782"/>
                </a:solidFill>
                <a:latin typeface="Gotham" panose="02000504050000020004" pitchFamily="2" charset="0"/>
              </a:rPr>
              <a:t>Site Handover Date:</a:t>
            </a:r>
            <a:r>
              <a:rPr lang="en-US" sz="1200" dirty="0">
                <a:solidFill>
                  <a:srgbClr val="2C6782"/>
                </a:solidFill>
                <a:latin typeface="Gotham" panose="02000504050000020004" pitchFamily="2" charset="0"/>
              </a:rPr>
              <a:t>		27 Nov 2025</a:t>
            </a:r>
          </a:p>
          <a:p>
            <a:r>
              <a:rPr lang="en-US" sz="1200" b="1" dirty="0">
                <a:solidFill>
                  <a:srgbClr val="2C6782"/>
                </a:solidFill>
                <a:latin typeface="Gotham" panose="02000504050000020004" pitchFamily="2" charset="0"/>
              </a:rPr>
              <a:t>Original Completion:</a:t>
            </a:r>
            <a:r>
              <a:rPr lang="en-US" sz="1200" dirty="0">
                <a:solidFill>
                  <a:srgbClr val="2C6782"/>
                </a:solidFill>
                <a:latin typeface="Gotham" panose="02000504050000020004" pitchFamily="2" charset="0"/>
              </a:rPr>
              <a:t>		26 Sep 2026</a:t>
            </a:r>
          </a:p>
          <a:p>
            <a:r>
              <a:rPr lang="en-US" sz="1200" b="1" dirty="0">
                <a:solidFill>
                  <a:srgbClr val="2C6782"/>
                </a:solidFill>
                <a:latin typeface="Gotham" panose="02000504050000020004" pitchFamily="2" charset="0"/>
              </a:rPr>
              <a:t>Revised Completion Date:</a:t>
            </a:r>
            <a:r>
              <a:rPr lang="en-US" sz="1200" dirty="0">
                <a:solidFill>
                  <a:srgbClr val="2C6782"/>
                </a:solidFill>
                <a:latin typeface="Gotham" panose="02000504050000020004" pitchFamily="2" charset="0"/>
              </a:rPr>
              <a:t>	                           26 Sep 2026</a:t>
            </a:r>
          </a:p>
          <a:p>
            <a:r>
              <a:rPr lang="en-US" sz="1200" b="1" dirty="0">
                <a:solidFill>
                  <a:srgbClr val="2C6782"/>
                </a:solidFill>
                <a:latin typeface="Gotham" panose="02000504050000020004" pitchFamily="2" charset="0"/>
              </a:rPr>
              <a:t>Committed Completion Date:</a:t>
            </a:r>
            <a:r>
              <a:rPr lang="en-US" sz="1200" dirty="0">
                <a:solidFill>
                  <a:srgbClr val="2C6782"/>
                </a:solidFill>
                <a:latin typeface="Gotham" panose="02000504050000020004" pitchFamily="2" charset="0"/>
              </a:rPr>
              <a:t>	29 Oct 2026</a:t>
            </a:r>
          </a:p>
          <a:p>
            <a:r>
              <a:rPr lang="en-US" sz="1200" b="1" dirty="0">
                <a:solidFill>
                  <a:srgbClr val="2C6782"/>
                </a:solidFill>
                <a:latin typeface="Gotham" panose="02000504050000020004" pitchFamily="2" charset="0"/>
              </a:rPr>
              <a:t>Forecast Completion:</a:t>
            </a:r>
            <a:r>
              <a:rPr lang="en-US" sz="1200" dirty="0">
                <a:solidFill>
                  <a:srgbClr val="2C6782"/>
                </a:solidFill>
                <a:latin typeface="Gotham" panose="02000504050000020004" pitchFamily="2" charset="0"/>
              </a:rPr>
              <a:t>		07 Nov</a:t>
            </a:r>
            <a:r>
              <a:rPr lang="en-US" altLang="en-US" sz="1200" dirty="0">
                <a:solidFill>
                  <a:srgbClr val="2C6782"/>
                </a:solidFill>
                <a:latin typeface="Gotham" panose="02000504050000020004" pitchFamily="2" charset="0"/>
              </a:rPr>
              <a:t> 2026</a:t>
            </a:r>
            <a:endParaRPr lang="en-US" sz="1200" dirty="0">
              <a:solidFill>
                <a:srgbClr val="2C6782"/>
              </a:solidFill>
              <a:latin typeface="Gotham" panose="02000504050000020004" pitchFamily="2" charset="0"/>
            </a:endParaRPr>
          </a:p>
          <a:p>
            <a:r>
              <a:rPr lang="en-US" sz="1200" b="1" dirty="0">
                <a:solidFill>
                  <a:srgbClr val="2C6782"/>
                </a:solidFill>
                <a:latin typeface="Gotham" panose="02000504050000020004" pitchFamily="2" charset="0"/>
              </a:rPr>
              <a:t>Variance:</a:t>
            </a:r>
            <a:r>
              <a:rPr lang="en-US" sz="1200" dirty="0">
                <a:solidFill>
                  <a:srgbClr val="2C6782"/>
                </a:solidFill>
                <a:latin typeface="Gotham" panose="02000504050000020004" pitchFamily="2" charset="0"/>
              </a:rPr>
              <a:t>			42</a:t>
            </a:r>
          </a:p>
        </p:txBody>
      </p:sp>
      <p:pic>
        <p:nvPicPr>
          <p:cNvPr id="5" name="Picture 4">
            <a:extLst>
              <a:ext uri="{FF2B5EF4-FFF2-40B4-BE49-F238E27FC236}">
                <a16:creationId xmlns:a16="http://schemas.microsoft.com/office/drawing/2014/main" id="{5E78A680-9F93-91A1-ED02-BD79B8E50518}"/>
              </a:ext>
            </a:extLst>
          </p:cNvPr>
          <p:cNvPicPr>
            <a:picLocks noChangeAspect="1"/>
          </p:cNvPicPr>
          <p:nvPr/>
        </p:nvPicPr>
        <p:blipFill>
          <a:blip r:embed="rId2"/>
          <a:stretch>
            <a:fillRect/>
          </a:stretch>
        </p:blipFill>
        <p:spPr>
          <a:xfrm>
            <a:off x="3309257" y="1473040"/>
            <a:ext cx="7924800" cy="3436620"/>
          </a:xfrm>
          <a:prstGeom prst="rect">
            <a:avLst/>
          </a:prstGeom>
        </p:spPr>
      </p:pic>
    </p:spTree>
    <p:extLst>
      <p:ext uri="{BB962C8B-B14F-4D97-AF65-F5344CB8AC3E}">
        <p14:creationId xmlns:p14="http://schemas.microsoft.com/office/powerpoint/2010/main" val="1162628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375170" y="556548"/>
            <a:ext cx="9005646" cy="733211"/>
          </a:xfrm>
        </p:spPr>
        <p:txBody>
          <a:bodyPr/>
          <a:lstStyle/>
          <a:p>
            <a:pPr algn="l"/>
            <a:r>
              <a:rPr lang="en-US" dirty="0"/>
              <a:t>Weekly Report Areas / Dates</a:t>
            </a:r>
          </a:p>
        </p:txBody>
      </p:sp>
      <p:sp>
        <p:nvSpPr>
          <p:cNvPr id="8" name="Rectangle 7">
            <a:extLst>
              <a:ext uri="{FF2B5EF4-FFF2-40B4-BE49-F238E27FC236}">
                <a16:creationId xmlns:a16="http://schemas.microsoft.com/office/drawing/2014/main" id="{1F353926-0080-49FF-91C7-97E88602E0C8}"/>
              </a:ext>
            </a:extLst>
          </p:cNvPr>
          <p:cNvSpPr/>
          <p:nvPr/>
        </p:nvSpPr>
        <p:spPr>
          <a:xfrm>
            <a:off x="713035" y="1785493"/>
            <a:ext cx="1721946"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Key Dates </a:t>
            </a:r>
          </a:p>
        </p:txBody>
      </p:sp>
      <p:sp>
        <p:nvSpPr>
          <p:cNvPr id="9" name="Rectangle 8">
            <a:extLst>
              <a:ext uri="{FF2B5EF4-FFF2-40B4-BE49-F238E27FC236}">
                <a16:creationId xmlns:a16="http://schemas.microsoft.com/office/drawing/2014/main" id="{4A76EA79-7271-4119-AE5B-C60FC2377069}"/>
              </a:ext>
            </a:extLst>
          </p:cNvPr>
          <p:cNvSpPr/>
          <p:nvPr/>
        </p:nvSpPr>
        <p:spPr>
          <a:xfrm>
            <a:off x="453006" y="2575020"/>
            <a:ext cx="4872029" cy="3139321"/>
          </a:xfrm>
          <a:prstGeom prst="rect">
            <a:avLst/>
          </a:prstGeom>
        </p:spPr>
        <p:txBody>
          <a:bodyPr wrap="square">
            <a:spAutoFit/>
          </a:bodyPr>
          <a:lstStyle/>
          <a:p>
            <a:r>
              <a:rPr lang="en-US" sz="1100" b="1" dirty="0">
                <a:solidFill>
                  <a:srgbClr val="2C6782"/>
                </a:solidFill>
                <a:latin typeface="Gotham" panose="02000504050000020004" pitchFamily="2" charset="0"/>
              </a:rPr>
              <a:t>Quality Plan submission:  		</a:t>
            </a:r>
            <a:r>
              <a:rPr lang="en-US" sz="1100" dirty="0">
                <a:solidFill>
                  <a:srgbClr val="2C6782"/>
                </a:solidFill>
                <a:latin typeface="Gotham" panose="02000504050000020004" pitchFamily="2" charset="0"/>
              </a:rPr>
              <a:t>10 Jan 2026</a:t>
            </a:r>
            <a:endParaRPr lang="en-US" sz="1100" b="1" dirty="0">
              <a:solidFill>
                <a:srgbClr val="2C6782"/>
              </a:solidFill>
              <a:latin typeface="Gotham" panose="02000504050000020004" pitchFamily="2" charset="0"/>
            </a:endParaRPr>
          </a:p>
          <a:p>
            <a:r>
              <a:rPr lang="en-US" sz="1100" b="1" dirty="0">
                <a:solidFill>
                  <a:srgbClr val="2C6782"/>
                </a:solidFill>
                <a:latin typeface="Gotham" panose="02000504050000020004" pitchFamily="2" charset="0"/>
              </a:rPr>
              <a:t>Quality Plan approval:		25</a:t>
            </a:r>
            <a:r>
              <a:rPr lang="en-US" sz="1100" dirty="0">
                <a:solidFill>
                  <a:srgbClr val="2C6782"/>
                </a:solidFill>
                <a:latin typeface="Gotham" panose="02000504050000020004" pitchFamily="2" charset="0"/>
              </a:rPr>
              <a:t> Mar 2026</a:t>
            </a:r>
            <a:endParaRPr lang="en-US" sz="1100" b="1" dirty="0">
              <a:solidFill>
                <a:srgbClr val="2C6782"/>
              </a:solidFill>
              <a:latin typeface="Gotham" panose="02000504050000020004" pitchFamily="2" charset="0"/>
            </a:endParaRPr>
          </a:p>
          <a:p>
            <a:r>
              <a:rPr lang="en-US" sz="1100" b="1" dirty="0">
                <a:solidFill>
                  <a:srgbClr val="2C6782"/>
                </a:solidFill>
                <a:latin typeface="Gotham" panose="02000504050000020004" pitchFamily="2" charset="0"/>
              </a:rPr>
              <a:t>Quality Plan Last Update:		25</a:t>
            </a:r>
            <a:r>
              <a:rPr lang="en-US" sz="1100" dirty="0">
                <a:solidFill>
                  <a:srgbClr val="2C6782"/>
                </a:solidFill>
                <a:latin typeface="Gotham" panose="02000504050000020004" pitchFamily="2" charset="0"/>
              </a:rPr>
              <a:t> Mar 2026</a:t>
            </a:r>
            <a:endParaRPr lang="en-US" sz="1100" b="1" dirty="0">
              <a:solidFill>
                <a:srgbClr val="2C6782"/>
              </a:solidFill>
              <a:latin typeface="Gotham" panose="02000504050000020004" pitchFamily="2" charset="0"/>
            </a:endParaRPr>
          </a:p>
          <a:p>
            <a:r>
              <a:rPr lang="en-US" sz="1100" b="1" dirty="0">
                <a:solidFill>
                  <a:srgbClr val="2C6782"/>
                </a:solidFill>
                <a:latin typeface="Gotham" panose="02000504050000020004" pitchFamily="2" charset="0"/>
              </a:rPr>
              <a:t>Safety Plan submission:		3</a:t>
            </a:r>
            <a:r>
              <a:rPr lang="en-US" sz="1100" dirty="0">
                <a:solidFill>
                  <a:srgbClr val="2C6782"/>
                </a:solidFill>
                <a:latin typeface="Gotham" panose="02000504050000020004" pitchFamily="2" charset="0"/>
              </a:rPr>
              <a:t>0 Dec 2025</a:t>
            </a:r>
            <a:endParaRPr lang="en-US" sz="1100" b="1" dirty="0">
              <a:solidFill>
                <a:srgbClr val="2C6782"/>
              </a:solidFill>
              <a:latin typeface="Gotham" panose="02000504050000020004" pitchFamily="2" charset="0"/>
            </a:endParaRPr>
          </a:p>
          <a:p>
            <a:r>
              <a:rPr lang="en-US" sz="1100" b="1" dirty="0">
                <a:solidFill>
                  <a:srgbClr val="2C6782"/>
                </a:solidFill>
                <a:latin typeface="Gotham" panose="02000504050000020004" pitchFamily="2" charset="0"/>
              </a:rPr>
              <a:t>Safety Plan approval:		22</a:t>
            </a:r>
            <a:r>
              <a:rPr lang="en-US" sz="1100" dirty="0">
                <a:solidFill>
                  <a:srgbClr val="2C6782"/>
                </a:solidFill>
                <a:latin typeface="Gotham" panose="02000504050000020004" pitchFamily="2" charset="0"/>
              </a:rPr>
              <a:t> Sep 2026</a:t>
            </a:r>
            <a:endParaRPr lang="en-US" sz="1100" b="1" dirty="0">
              <a:solidFill>
                <a:srgbClr val="2C6782"/>
              </a:solidFill>
              <a:latin typeface="Gotham" panose="02000504050000020004" pitchFamily="2" charset="0"/>
            </a:endParaRPr>
          </a:p>
          <a:p>
            <a:r>
              <a:rPr lang="en-US" sz="1100" b="1" dirty="0">
                <a:solidFill>
                  <a:srgbClr val="2C6782"/>
                </a:solidFill>
                <a:latin typeface="Gotham" panose="02000504050000020004" pitchFamily="2" charset="0"/>
              </a:rPr>
              <a:t>Safety Plan Last Update: 		--</a:t>
            </a:r>
          </a:p>
          <a:p>
            <a:r>
              <a:rPr lang="en-US" sz="1100" b="1" dirty="0">
                <a:solidFill>
                  <a:srgbClr val="2C6782"/>
                </a:solidFill>
                <a:latin typeface="Gotham" panose="02000504050000020004" pitchFamily="2" charset="0"/>
              </a:rPr>
              <a:t>Risk Management Plan submission:	3</a:t>
            </a:r>
            <a:r>
              <a:rPr lang="en-US" sz="1100" dirty="0">
                <a:solidFill>
                  <a:srgbClr val="2C6782"/>
                </a:solidFill>
                <a:latin typeface="Gotham" panose="02000504050000020004" pitchFamily="2" charset="0"/>
              </a:rPr>
              <a:t>0 Dec 2025</a:t>
            </a:r>
            <a:endParaRPr lang="en-US" sz="1100" b="1" dirty="0">
              <a:solidFill>
                <a:srgbClr val="2C6782"/>
              </a:solidFill>
              <a:latin typeface="Gotham" panose="02000504050000020004" pitchFamily="2" charset="0"/>
            </a:endParaRPr>
          </a:p>
          <a:p>
            <a:r>
              <a:rPr lang="en-US" sz="1100" b="1" dirty="0">
                <a:solidFill>
                  <a:srgbClr val="2C6782"/>
                </a:solidFill>
                <a:latin typeface="Gotham" panose="02000504050000020004" pitchFamily="2" charset="0"/>
              </a:rPr>
              <a:t>Risk Management Plan approval: 	22 Sep</a:t>
            </a:r>
            <a:r>
              <a:rPr lang="en-US" sz="1100" dirty="0">
                <a:solidFill>
                  <a:srgbClr val="2C6782"/>
                </a:solidFill>
                <a:latin typeface="Gotham" panose="02000504050000020004" pitchFamily="2" charset="0"/>
              </a:rPr>
              <a:t> 2026</a:t>
            </a:r>
            <a:endParaRPr lang="en-US" sz="1100" b="1" dirty="0">
              <a:solidFill>
                <a:srgbClr val="2C6782"/>
              </a:solidFill>
              <a:latin typeface="Gotham" panose="02000504050000020004" pitchFamily="2" charset="0"/>
            </a:endParaRPr>
          </a:p>
          <a:p>
            <a:r>
              <a:rPr lang="en-US" sz="1100" b="1" dirty="0">
                <a:solidFill>
                  <a:srgbClr val="2C6782"/>
                </a:solidFill>
                <a:latin typeface="Gotham" panose="02000504050000020004" pitchFamily="2" charset="0"/>
              </a:rPr>
              <a:t>Risk Management Plan Last Update: 	--</a:t>
            </a:r>
          </a:p>
          <a:p>
            <a:r>
              <a:rPr lang="en-US" sz="1100" b="1" dirty="0">
                <a:solidFill>
                  <a:srgbClr val="2C6782"/>
                </a:solidFill>
                <a:latin typeface="Gotham" panose="02000504050000020004" pitchFamily="2" charset="0"/>
              </a:rPr>
              <a:t>Baseline Schedule submission:  	                            </a:t>
            </a:r>
            <a:r>
              <a:rPr lang="en-US" sz="1100" dirty="0">
                <a:solidFill>
                  <a:srgbClr val="2C6782"/>
                </a:solidFill>
                <a:latin typeface="Gotham" panose="02000504050000020004" pitchFamily="2" charset="0"/>
              </a:rPr>
              <a:t>29 Dec 2025</a:t>
            </a:r>
            <a:endParaRPr lang="en-US" sz="1100" b="1" dirty="0">
              <a:solidFill>
                <a:srgbClr val="2C6782"/>
              </a:solidFill>
              <a:latin typeface="Gotham" panose="02000504050000020004" pitchFamily="2" charset="0"/>
            </a:endParaRPr>
          </a:p>
          <a:p>
            <a:r>
              <a:rPr lang="en-US" sz="1100" b="1" dirty="0">
                <a:solidFill>
                  <a:srgbClr val="2C6782"/>
                </a:solidFill>
                <a:latin typeface="Gotham" panose="02000504050000020004" pitchFamily="2" charset="0"/>
              </a:rPr>
              <a:t>Baseline Schedule approval: 	                            </a:t>
            </a:r>
            <a:r>
              <a:rPr lang="en-US" sz="1100" dirty="0">
                <a:solidFill>
                  <a:srgbClr val="2C6782"/>
                </a:solidFill>
                <a:latin typeface="Gotham" panose="02000504050000020004" pitchFamily="2" charset="0"/>
              </a:rPr>
              <a:t>7 Mar 2026</a:t>
            </a:r>
            <a:r>
              <a:rPr lang="en-US" sz="1100" b="1" dirty="0">
                <a:solidFill>
                  <a:srgbClr val="2C6782"/>
                </a:solidFill>
                <a:latin typeface="Gotham" panose="02000504050000020004" pitchFamily="2" charset="0"/>
              </a:rPr>
              <a:t>	</a:t>
            </a:r>
          </a:p>
          <a:p>
            <a:r>
              <a:rPr lang="en-US" sz="1100" b="1" dirty="0">
                <a:solidFill>
                  <a:srgbClr val="2C6782"/>
                </a:solidFill>
                <a:latin typeface="Gotham" panose="02000504050000020004" pitchFamily="2" charset="0"/>
              </a:rPr>
              <a:t>No of Schedule Versions: 		</a:t>
            </a:r>
            <a:r>
              <a:rPr lang="en-US" sz="1100" dirty="0">
                <a:solidFill>
                  <a:srgbClr val="2C6782"/>
                </a:solidFill>
                <a:latin typeface="Gotham" panose="02000504050000020004" pitchFamily="2" charset="0"/>
              </a:rPr>
              <a:t>2</a:t>
            </a:r>
            <a:endParaRPr lang="en-US" sz="1100" b="1" dirty="0">
              <a:solidFill>
                <a:srgbClr val="2C6782"/>
              </a:solidFill>
              <a:latin typeface="Gotham" panose="02000504050000020004" pitchFamily="2" charset="0"/>
            </a:endParaRPr>
          </a:p>
          <a:p>
            <a:r>
              <a:rPr lang="en-US" sz="1100" b="1" dirty="0">
                <a:solidFill>
                  <a:srgbClr val="2C6782"/>
                </a:solidFill>
                <a:latin typeface="Gotham" panose="02000504050000020004" pitchFamily="2" charset="0"/>
              </a:rPr>
              <a:t>Last Schedule Approval Date: 	                             --</a:t>
            </a:r>
          </a:p>
          <a:p>
            <a:r>
              <a:rPr lang="en-US" sz="1100" b="1" dirty="0">
                <a:solidFill>
                  <a:srgbClr val="2C6782"/>
                </a:solidFill>
                <a:latin typeface="Gotham" panose="02000504050000020004" pitchFamily="2" charset="0"/>
              </a:rPr>
              <a:t>BOQ submission: 		01 Jan</a:t>
            </a:r>
            <a:r>
              <a:rPr lang="en-US" sz="1100" dirty="0">
                <a:solidFill>
                  <a:srgbClr val="2C6782"/>
                </a:solidFill>
                <a:latin typeface="Gotham" panose="02000504050000020004" pitchFamily="2" charset="0"/>
              </a:rPr>
              <a:t> 2026</a:t>
            </a:r>
            <a:endParaRPr lang="en-US" sz="1100" b="1" dirty="0">
              <a:solidFill>
                <a:srgbClr val="2C6782"/>
              </a:solidFill>
              <a:latin typeface="Gotham" panose="02000504050000020004" pitchFamily="2" charset="0"/>
            </a:endParaRPr>
          </a:p>
          <a:p>
            <a:r>
              <a:rPr lang="en-US" sz="1100" b="1" dirty="0">
                <a:solidFill>
                  <a:srgbClr val="2C6782"/>
                </a:solidFill>
                <a:latin typeface="Gotham" panose="02000504050000020004" pitchFamily="2" charset="0"/>
              </a:rPr>
              <a:t>BOQ approval: 		                             16-May-2026	</a:t>
            </a:r>
          </a:p>
          <a:p>
            <a:r>
              <a:rPr lang="en-US" sz="1100" b="1" dirty="0">
                <a:solidFill>
                  <a:srgbClr val="2C6782"/>
                </a:solidFill>
                <a:latin typeface="Gotham" panose="02000504050000020004" pitchFamily="2" charset="0"/>
              </a:rPr>
              <a:t>No of Approved Version of BOQ: 	 --</a:t>
            </a:r>
            <a:endParaRPr lang="en-US" sz="1100" dirty="0">
              <a:solidFill>
                <a:srgbClr val="2C6782"/>
              </a:solidFill>
              <a:latin typeface="Gotham" panose="02000504050000020004" pitchFamily="2" charset="0"/>
            </a:endParaRPr>
          </a:p>
          <a:p>
            <a:r>
              <a:rPr lang="en-US" sz="1100" b="1" dirty="0">
                <a:solidFill>
                  <a:srgbClr val="2C6782"/>
                </a:solidFill>
                <a:latin typeface="Gotham" panose="02000504050000020004" pitchFamily="2" charset="0"/>
              </a:rPr>
              <a:t>Construction Plan submission : 	</a:t>
            </a:r>
            <a:r>
              <a:rPr lang="en-US" sz="1100" dirty="0">
                <a:solidFill>
                  <a:srgbClr val="2C6782"/>
                </a:solidFill>
                <a:latin typeface="Gotham" panose="02000504050000020004" pitchFamily="2" charset="0"/>
              </a:rPr>
              <a:t>                          22 Sep 2026</a:t>
            </a:r>
          </a:p>
          <a:p>
            <a:r>
              <a:rPr lang="en-US" sz="1100" b="1" dirty="0">
                <a:solidFill>
                  <a:srgbClr val="2C6782"/>
                </a:solidFill>
                <a:latin typeface="Gotham" panose="02000504050000020004" pitchFamily="2" charset="0"/>
              </a:rPr>
              <a:t>Construction Plan Approval : 	                             --	</a:t>
            </a:r>
          </a:p>
        </p:txBody>
      </p:sp>
      <p:pic>
        <p:nvPicPr>
          <p:cNvPr id="4" name="Picture 3">
            <a:extLst>
              <a:ext uri="{FF2B5EF4-FFF2-40B4-BE49-F238E27FC236}">
                <a16:creationId xmlns:a16="http://schemas.microsoft.com/office/drawing/2014/main" id="{D24943DB-F096-CBDA-6020-8D215E301CCB}"/>
              </a:ext>
            </a:extLst>
          </p:cNvPr>
          <p:cNvPicPr>
            <a:picLocks noChangeAspect="1"/>
          </p:cNvPicPr>
          <p:nvPr/>
        </p:nvPicPr>
        <p:blipFill>
          <a:blip r:embed="rId2"/>
          <a:stretch>
            <a:fillRect/>
          </a:stretch>
        </p:blipFill>
        <p:spPr>
          <a:xfrm>
            <a:off x="5504016" y="1341077"/>
            <a:ext cx="4876800" cy="5082540"/>
          </a:xfrm>
          <a:prstGeom prst="rect">
            <a:avLst/>
          </a:prstGeom>
        </p:spPr>
      </p:pic>
    </p:spTree>
    <p:extLst>
      <p:ext uri="{BB962C8B-B14F-4D97-AF65-F5344CB8AC3E}">
        <p14:creationId xmlns:p14="http://schemas.microsoft.com/office/powerpoint/2010/main" val="1027507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Progress</a:t>
            </a:r>
          </a:p>
        </p:txBody>
      </p:sp>
      <p:sp>
        <p:nvSpPr>
          <p:cNvPr id="8" name="Rectangle 7">
            <a:extLst>
              <a:ext uri="{FF2B5EF4-FFF2-40B4-BE49-F238E27FC236}">
                <a16:creationId xmlns:a16="http://schemas.microsoft.com/office/drawing/2014/main" id="{1F353926-0080-49FF-91C7-97E88602E0C8}"/>
              </a:ext>
            </a:extLst>
          </p:cNvPr>
          <p:cNvSpPr/>
          <p:nvPr/>
        </p:nvSpPr>
        <p:spPr>
          <a:xfrm>
            <a:off x="713035" y="1785493"/>
            <a:ext cx="2743059"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Progress Overview </a:t>
            </a:r>
          </a:p>
        </p:txBody>
      </p:sp>
      <p:sp>
        <p:nvSpPr>
          <p:cNvPr id="6" name="TextBox 6">
            <a:extLst>
              <a:ext uri="{FF2B5EF4-FFF2-40B4-BE49-F238E27FC236}">
                <a16:creationId xmlns:a16="http://schemas.microsoft.com/office/drawing/2014/main" id="{3765D09A-87FB-43FB-A356-13A17D9C81FC}"/>
              </a:ext>
            </a:extLst>
          </p:cNvPr>
          <p:cNvSpPr txBox="1">
            <a:spLocks noChangeArrowheads="1"/>
          </p:cNvSpPr>
          <p:nvPr/>
        </p:nvSpPr>
        <p:spPr bwMode="auto">
          <a:xfrm>
            <a:off x="193675" y="5115081"/>
            <a:ext cx="1180465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r>
              <a:rPr lang="en-US" altLang="en-US" sz="1200" b="1" dirty="0">
                <a:solidFill>
                  <a:srgbClr val="2C6782"/>
                </a:solidFill>
                <a:latin typeface="Gotham" panose="02000504050000020004" pitchFamily="2" charset="0"/>
              </a:rPr>
              <a:t>WBS:</a:t>
            </a:r>
            <a:r>
              <a:rPr lang="en-US" altLang="en-US" sz="1200" dirty="0">
                <a:solidFill>
                  <a:srgbClr val="2C6782"/>
                </a:solidFill>
                <a:latin typeface="Gotham" panose="02000504050000020004" pitchFamily="2" charset="0"/>
              </a:rPr>
              <a:t>	 		Deliverables as per Modon Work Breakdown Structure (WBS) and WBS dictionary (Same in P6)</a:t>
            </a:r>
          </a:p>
          <a:p>
            <a:r>
              <a:rPr lang="en-US" altLang="en-US" sz="1200" b="1" dirty="0" err="1">
                <a:solidFill>
                  <a:srgbClr val="2C6782"/>
                </a:solidFill>
                <a:latin typeface="Gotham" panose="02000504050000020004" pitchFamily="2" charset="0"/>
              </a:rPr>
              <a:t>BoQ</a:t>
            </a:r>
            <a:r>
              <a:rPr lang="en-US" altLang="en-US" sz="1200" b="1" dirty="0">
                <a:solidFill>
                  <a:srgbClr val="2C6782"/>
                </a:solidFill>
                <a:latin typeface="Gotham" panose="02000504050000020004" pitchFamily="2" charset="0"/>
              </a:rPr>
              <a:t> Value (SAR)</a:t>
            </a:r>
            <a:r>
              <a:rPr lang="en-US" altLang="en-US" sz="1200" dirty="0">
                <a:solidFill>
                  <a:srgbClr val="2C6782"/>
                </a:solidFill>
                <a:latin typeface="Gotham" panose="02000504050000020004" pitchFamily="2" charset="0"/>
              </a:rPr>
              <a:t>		Value of every WBS element so that total value is equal to the current approved value of the current.</a:t>
            </a:r>
          </a:p>
          <a:p>
            <a:r>
              <a:rPr lang="en-US" altLang="en-US" sz="1200" b="1" dirty="0">
                <a:solidFill>
                  <a:srgbClr val="2C6782"/>
                </a:solidFill>
                <a:latin typeface="Gotham" panose="02000504050000020004" pitchFamily="2" charset="0"/>
              </a:rPr>
              <a:t>%Wt.:</a:t>
            </a:r>
            <a:r>
              <a:rPr lang="en-US" altLang="en-US" sz="1200" dirty="0">
                <a:solidFill>
                  <a:srgbClr val="2C6782"/>
                </a:solidFill>
                <a:latin typeface="Gotham" panose="02000504050000020004" pitchFamily="2" charset="0"/>
              </a:rPr>
              <a:t>			No Entry required – Percentage of each WBS item based on total contract value.</a:t>
            </a:r>
          </a:p>
          <a:p>
            <a:r>
              <a:rPr lang="en-US" altLang="en-US" sz="1200" b="1" dirty="0">
                <a:solidFill>
                  <a:srgbClr val="2C6782"/>
                </a:solidFill>
                <a:latin typeface="Gotham" panose="02000504050000020004" pitchFamily="2" charset="0"/>
              </a:rPr>
              <a:t>Weekly Planned:</a:t>
            </a:r>
            <a:r>
              <a:rPr lang="en-US" altLang="en-US" sz="1200" dirty="0">
                <a:solidFill>
                  <a:srgbClr val="2C6782"/>
                </a:solidFill>
                <a:latin typeface="Gotham" panose="02000504050000020004" pitchFamily="2" charset="0"/>
              </a:rPr>
              <a:t>		Weekly Planned Value of the element derived from scheduling software</a:t>
            </a:r>
          </a:p>
          <a:p>
            <a:r>
              <a:rPr lang="en-US" altLang="en-US" sz="1200" b="1" dirty="0">
                <a:solidFill>
                  <a:srgbClr val="2C6782"/>
                </a:solidFill>
                <a:latin typeface="Gotham" panose="02000504050000020004" pitchFamily="2" charset="0"/>
              </a:rPr>
              <a:t>Weekly Earned:</a:t>
            </a:r>
            <a:r>
              <a:rPr lang="en-US" altLang="en-US" sz="1200" dirty="0">
                <a:solidFill>
                  <a:srgbClr val="2C6782"/>
                </a:solidFill>
                <a:latin typeface="Gotham" panose="02000504050000020004" pitchFamily="2" charset="0"/>
              </a:rPr>
              <a:t>		Weekly Value of the deliverables accomplished, derived from scheduling software</a:t>
            </a:r>
          </a:p>
          <a:p>
            <a:r>
              <a:rPr lang="en-US" altLang="en-US" sz="1200" b="1" dirty="0" err="1">
                <a:solidFill>
                  <a:srgbClr val="2C6782"/>
                </a:solidFill>
                <a:latin typeface="Gotham" panose="02000504050000020004" pitchFamily="2" charset="0"/>
              </a:rPr>
              <a:t>ToDate</a:t>
            </a:r>
            <a:r>
              <a:rPr lang="en-US" altLang="en-US" sz="1200" b="1" dirty="0">
                <a:solidFill>
                  <a:srgbClr val="2C6782"/>
                </a:solidFill>
                <a:latin typeface="Gotham" panose="02000504050000020004" pitchFamily="2" charset="0"/>
              </a:rPr>
              <a:t> Planned:</a:t>
            </a:r>
            <a:r>
              <a:rPr lang="en-US" altLang="en-US" sz="1200" dirty="0">
                <a:solidFill>
                  <a:srgbClr val="2C6782"/>
                </a:solidFill>
                <a:latin typeface="Gotham" panose="02000504050000020004" pitchFamily="2" charset="0"/>
              </a:rPr>
              <a:t>		</a:t>
            </a:r>
            <a:r>
              <a:rPr lang="en-US" altLang="en-US" sz="1200" dirty="0" err="1">
                <a:solidFill>
                  <a:srgbClr val="2C6782"/>
                </a:solidFill>
                <a:latin typeface="Gotham" panose="02000504050000020004" pitchFamily="2" charset="0"/>
              </a:rPr>
              <a:t>ToDate</a:t>
            </a:r>
            <a:r>
              <a:rPr lang="en-US" altLang="en-US" sz="1200" dirty="0">
                <a:solidFill>
                  <a:srgbClr val="2C6782"/>
                </a:solidFill>
                <a:latin typeface="Gotham" panose="02000504050000020004" pitchFamily="2" charset="0"/>
              </a:rPr>
              <a:t> Planned Value of the element derived from scheduling software</a:t>
            </a:r>
          </a:p>
          <a:p>
            <a:r>
              <a:rPr lang="en-US" altLang="en-US" sz="1200" b="1" dirty="0" err="1">
                <a:solidFill>
                  <a:srgbClr val="2C6782"/>
                </a:solidFill>
                <a:latin typeface="Gotham" panose="02000504050000020004" pitchFamily="2" charset="0"/>
              </a:rPr>
              <a:t>ToDate</a:t>
            </a:r>
            <a:r>
              <a:rPr lang="en-US" altLang="en-US" sz="1200" b="1" dirty="0">
                <a:solidFill>
                  <a:srgbClr val="2C6782"/>
                </a:solidFill>
                <a:latin typeface="Gotham" panose="02000504050000020004" pitchFamily="2" charset="0"/>
              </a:rPr>
              <a:t> Earned:</a:t>
            </a:r>
            <a:r>
              <a:rPr lang="en-US" altLang="en-US" sz="1200" dirty="0">
                <a:solidFill>
                  <a:srgbClr val="2C6782"/>
                </a:solidFill>
                <a:latin typeface="Gotham" panose="02000504050000020004" pitchFamily="2" charset="0"/>
              </a:rPr>
              <a:t>		</a:t>
            </a:r>
            <a:r>
              <a:rPr lang="en-US" altLang="en-US" sz="1200" dirty="0" err="1">
                <a:solidFill>
                  <a:srgbClr val="2C6782"/>
                </a:solidFill>
                <a:latin typeface="Gotham" panose="02000504050000020004" pitchFamily="2" charset="0"/>
              </a:rPr>
              <a:t>ToDate</a:t>
            </a:r>
            <a:r>
              <a:rPr lang="en-US" altLang="en-US" sz="1200" dirty="0">
                <a:solidFill>
                  <a:srgbClr val="2C6782"/>
                </a:solidFill>
                <a:latin typeface="Gotham" panose="02000504050000020004" pitchFamily="2" charset="0"/>
              </a:rPr>
              <a:t> Value of the deliverables accomplished, derived from scheduling software</a:t>
            </a:r>
          </a:p>
          <a:p>
            <a:endParaRPr lang="en-US" altLang="en-US" sz="1200" dirty="0">
              <a:solidFill>
                <a:srgbClr val="2C6782"/>
              </a:solidFill>
              <a:latin typeface="Gotham" panose="02000504050000020004" pitchFamily="2" charset="0"/>
            </a:endParaRPr>
          </a:p>
        </p:txBody>
      </p:sp>
      <p:sp>
        <p:nvSpPr>
          <p:cNvPr id="4" name="TextBox 3">
            <a:extLst>
              <a:ext uri="{FF2B5EF4-FFF2-40B4-BE49-F238E27FC236}">
                <a16:creationId xmlns:a16="http://schemas.microsoft.com/office/drawing/2014/main" id="{E9539367-40BB-4D1D-8A66-D7DA3ECF2BD4}"/>
              </a:ext>
            </a:extLst>
          </p:cNvPr>
          <p:cNvSpPr txBox="1"/>
          <p:nvPr/>
        </p:nvSpPr>
        <p:spPr>
          <a:xfrm>
            <a:off x="9774936" y="1170432"/>
            <a:ext cx="2084832" cy="3754874"/>
          </a:xfrm>
          <a:prstGeom prst="rect">
            <a:avLst/>
          </a:prstGeom>
          <a:noFill/>
        </p:spPr>
        <p:txBody>
          <a:bodyPr wrap="square" rtlCol="0">
            <a:spAutoFit/>
          </a:bodyPr>
          <a:lstStyle/>
          <a:p>
            <a:r>
              <a:rPr lang="en-US" sz="1400" dirty="0"/>
              <a:t>Provide the project scope statement and WBS deliverable information. Note that you WBS details can be broken to the convenient level as required and agreed with Modon PM. </a:t>
            </a:r>
            <a:r>
              <a:rPr lang="en-US" sz="1400" dirty="0">
                <a:solidFill>
                  <a:srgbClr val="FF0000"/>
                </a:solidFill>
              </a:rPr>
              <a:t>A precaution is required as this is linked to summary dashboard. Avoid deleting WBS-Level 1 rows any number of rows can be added in WBS Level-2 sections. Check with Modon Project controls if further clarity is required.</a:t>
            </a:r>
          </a:p>
        </p:txBody>
      </p:sp>
      <p:pic>
        <p:nvPicPr>
          <p:cNvPr id="7" name="Picture 6">
            <a:extLst>
              <a:ext uri="{FF2B5EF4-FFF2-40B4-BE49-F238E27FC236}">
                <a16:creationId xmlns:a16="http://schemas.microsoft.com/office/drawing/2014/main" id="{9398CA9C-6CE0-369A-9798-C4D6BCD0C60C}"/>
              </a:ext>
            </a:extLst>
          </p:cNvPr>
          <p:cNvPicPr>
            <a:picLocks noChangeAspect="1"/>
          </p:cNvPicPr>
          <p:nvPr/>
        </p:nvPicPr>
        <p:blipFill>
          <a:blip r:embed="rId2"/>
          <a:stretch>
            <a:fillRect/>
          </a:stretch>
        </p:blipFill>
        <p:spPr>
          <a:xfrm>
            <a:off x="332232" y="1320638"/>
            <a:ext cx="9205769" cy="3560386"/>
          </a:xfrm>
          <a:prstGeom prst="rect">
            <a:avLst/>
          </a:prstGeom>
        </p:spPr>
      </p:pic>
    </p:spTree>
    <p:extLst>
      <p:ext uri="{BB962C8B-B14F-4D97-AF65-F5344CB8AC3E}">
        <p14:creationId xmlns:p14="http://schemas.microsoft.com/office/powerpoint/2010/main" val="231771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Progress</a:t>
            </a:r>
          </a:p>
        </p:txBody>
      </p:sp>
      <p:sp>
        <p:nvSpPr>
          <p:cNvPr id="8" name="Rectangle 7">
            <a:extLst>
              <a:ext uri="{FF2B5EF4-FFF2-40B4-BE49-F238E27FC236}">
                <a16:creationId xmlns:a16="http://schemas.microsoft.com/office/drawing/2014/main" id="{1F353926-0080-49FF-91C7-97E88602E0C8}"/>
              </a:ext>
            </a:extLst>
          </p:cNvPr>
          <p:cNvSpPr/>
          <p:nvPr/>
        </p:nvSpPr>
        <p:spPr>
          <a:xfrm>
            <a:off x="713035" y="1785493"/>
            <a:ext cx="2743059"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Progress Overview </a:t>
            </a:r>
          </a:p>
        </p:txBody>
      </p:sp>
      <p:sp>
        <p:nvSpPr>
          <p:cNvPr id="7" name="TextBox 6">
            <a:extLst>
              <a:ext uri="{FF2B5EF4-FFF2-40B4-BE49-F238E27FC236}">
                <a16:creationId xmlns:a16="http://schemas.microsoft.com/office/drawing/2014/main" id="{C6484820-BFB6-4E8B-BCA7-58F07CA9D819}"/>
              </a:ext>
            </a:extLst>
          </p:cNvPr>
          <p:cNvSpPr txBox="1">
            <a:spLocks noChangeArrowheads="1"/>
          </p:cNvSpPr>
          <p:nvPr/>
        </p:nvSpPr>
        <p:spPr bwMode="auto">
          <a:xfrm>
            <a:off x="220569" y="5072712"/>
            <a:ext cx="1209940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r>
              <a:rPr lang="en-US" altLang="en-US" sz="1200" b="1" dirty="0">
                <a:solidFill>
                  <a:srgbClr val="2C6782"/>
                </a:solidFill>
                <a:latin typeface="Gotham" panose="02000504050000020004" pitchFamily="2" charset="0"/>
              </a:rPr>
              <a:t>Budgeted Effort </a:t>
            </a:r>
            <a:r>
              <a:rPr lang="en-US" altLang="en-US" sz="1200" dirty="0">
                <a:solidFill>
                  <a:srgbClr val="2C6782"/>
                </a:solidFill>
                <a:latin typeface="Gotham" panose="02000504050000020004" pitchFamily="2" charset="0"/>
              </a:rPr>
              <a:t>(Manhours):	Total Manhours/</a:t>
            </a:r>
            <a:r>
              <a:rPr lang="en-US" altLang="en-US" sz="1200" dirty="0" err="1">
                <a:solidFill>
                  <a:srgbClr val="2C6782"/>
                </a:solidFill>
                <a:latin typeface="Gotham" panose="02000504050000020004" pitchFamily="2" charset="0"/>
              </a:rPr>
              <a:t>Mandays</a:t>
            </a:r>
            <a:r>
              <a:rPr lang="en-US" altLang="en-US" sz="1200" dirty="0">
                <a:solidFill>
                  <a:srgbClr val="2C6782"/>
                </a:solidFill>
                <a:latin typeface="Gotham" panose="02000504050000020004" pitchFamily="2" charset="0"/>
              </a:rPr>
              <a:t> planned per WBS and loaded in P6. Select from </a:t>
            </a:r>
            <a:r>
              <a:rPr lang="en-US" altLang="en-US" sz="1200" dirty="0" err="1">
                <a:solidFill>
                  <a:srgbClr val="2C6782"/>
                </a:solidFill>
                <a:latin typeface="Gotham" panose="02000504050000020004" pitchFamily="2" charset="0"/>
              </a:rPr>
              <a:t>Manhours</a:t>
            </a:r>
            <a:r>
              <a:rPr lang="en-US" altLang="en-US" sz="1200" dirty="0">
                <a:solidFill>
                  <a:srgbClr val="2C6782"/>
                </a:solidFill>
                <a:latin typeface="Gotham" panose="02000504050000020004" pitchFamily="2" charset="0"/>
              </a:rPr>
              <a:t>/</a:t>
            </a:r>
            <a:r>
              <a:rPr lang="en-US" altLang="en-US" sz="1200" dirty="0" err="1">
                <a:solidFill>
                  <a:srgbClr val="2C6782"/>
                </a:solidFill>
                <a:latin typeface="Gotham" panose="02000504050000020004" pitchFamily="2" charset="0"/>
              </a:rPr>
              <a:t>Mandays</a:t>
            </a:r>
            <a:r>
              <a:rPr lang="en-US" altLang="en-US" sz="1200" dirty="0">
                <a:solidFill>
                  <a:srgbClr val="2C6782"/>
                </a:solidFill>
                <a:latin typeface="Gotham" panose="02000504050000020004" pitchFamily="2" charset="0"/>
              </a:rPr>
              <a:t> drop down list as applicable. </a:t>
            </a:r>
          </a:p>
          <a:p>
            <a:r>
              <a:rPr lang="en-US" altLang="en-US" sz="1200" b="1" dirty="0">
                <a:solidFill>
                  <a:srgbClr val="2C6782"/>
                </a:solidFill>
                <a:latin typeface="Gotham" panose="02000504050000020004" pitchFamily="2" charset="0"/>
              </a:rPr>
              <a:t>%Wt.:</a:t>
            </a:r>
            <a:r>
              <a:rPr lang="en-US" altLang="en-US" sz="1200" dirty="0">
                <a:solidFill>
                  <a:srgbClr val="2C6782"/>
                </a:solidFill>
                <a:latin typeface="Gotham" panose="02000504050000020004" pitchFamily="2" charset="0"/>
              </a:rPr>
              <a:t>			No Entry required – Percentage of each WBS item based on total </a:t>
            </a:r>
            <a:r>
              <a:rPr lang="en-US" altLang="en-US" sz="1200" dirty="0" err="1">
                <a:solidFill>
                  <a:srgbClr val="2C6782"/>
                </a:solidFill>
                <a:latin typeface="Gotham" panose="02000504050000020004" pitchFamily="2" charset="0"/>
              </a:rPr>
              <a:t>manhours</a:t>
            </a:r>
            <a:r>
              <a:rPr lang="en-US" altLang="en-US" sz="1200" dirty="0">
                <a:solidFill>
                  <a:srgbClr val="2C6782"/>
                </a:solidFill>
                <a:latin typeface="Gotham" panose="02000504050000020004" pitchFamily="2" charset="0"/>
              </a:rPr>
              <a:t>/</a:t>
            </a:r>
            <a:r>
              <a:rPr lang="en-US" altLang="en-US" sz="1200" dirty="0" err="1">
                <a:solidFill>
                  <a:srgbClr val="2C6782"/>
                </a:solidFill>
                <a:latin typeface="Gotham" panose="02000504050000020004" pitchFamily="2" charset="0"/>
              </a:rPr>
              <a:t>mandays</a:t>
            </a:r>
            <a:r>
              <a:rPr lang="en-US" altLang="en-US" sz="1200" dirty="0">
                <a:solidFill>
                  <a:srgbClr val="2C6782"/>
                </a:solidFill>
                <a:latin typeface="Gotham" panose="02000504050000020004" pitchFamily="2" charset="0"/>
              </a:rPr>
              <a:t>.</a:t>
            </a:r>
          </a:p>
          <a:p>
            <a:r>
              <a:rPr lang="en-US" altLang="en-US" sz="1200" b="1" dirty="0">
                <a:solidFill>
                  <a:srgbClr val="2C6782"/>
                </a:solidFill>
                <a:latin typeface="Gotham" panose="02000504050000020004" pitchFamily="2" charset="0"/>
              </a:rPr>
              <a:t>Weekly Planned:</a:t>
            </a:r>
            <a:r>
              <a:rPr lang="en-US" altLang="en-US" sz="1200" dirty="0">
                <a:solidFill>
                  <a:srgbClr val="2C6782"/>
                </a:solidFill>
                <a:latin typeface="Gotham" panose="02000504050000020004" pitchFamily="2" charset="0"/>
              </a:rPr>
              <a:t>		Weekly Planned effort of the element derived from scheduling software</a:t>
            </a:r>
          </a:p>
          <a:p>
            <a:r>
              <a:rPr lang="en-US" altLang="en-US" sz="1200" b="1" dirty="0">
                <a:solidFill>
                  <a:srgbClr val="2C6782"/>
                </a:solidFill>
                <a:latin typeface="Gotham" panose="02000504050000020004" pitchFamily="2" charset="0"/>
              </a:rPr>
              <a:t>Weekly Earned:</a:t>
            </a:r>
            <a:r>
              <a:rPr lang="en-US" altLang="en-US" sz="1200" dirty="0">
                <a:solidFill>
                  <a:srgbClr val="2C6782"/>
                </a:solidFill>
                <a:latin typeface="Gotham" panose="02000504050000020004" pitchFamily="2" charset="0"/>
              </a:rPr>
              <a:t>		Weekly effort of the deliverables accomplished, derived from scheduling software</a:t>
            </a:r>
          </a:p>
          <a:p>
            <a:r>
              <a:rPr lang="en-US" altLang="en-US" sz="1200" b="1" dirty="0" err="1">
                <a:solidFill>
                  <a:srgbClr val="2C6782"/>
                </a:solidFill>
                <a:latin typeface="Gotham" panose="02000504050000020004" pitchFamily="2" charset="0"/>
              </a:rPr>
              <a:t>ToDate</a:t>
            </a:r>
            <a:r>
              <a:rPr lang="en-US" altLang="en-US" sz="1200" b="1" dirty="0">
                <a:solidFill>
                  <a:srgbClr val="2C6782"/>
                </a:solidFill>
                <a:latin typeface="Gotham" panose="02000504050000020004" pitchFamily="2" charset="0"/>
              </a:rPr>
              <a:t> Planned:</a:t>
            </a:r>
            <a:r>
              <a:rPr lang="en-US" altLang="en-US" sz="1200" dirty="0">
                <a:solidFill>
                  <a:srgbClr val="2C6782"/>
                </a:solidFill>
                <a:latin typeface="Gotham" panose="02000504050000020004" pitchFamily="2" charset="0"/>
              </a:rPr>
              <a:t>		</a:t>
            </a:r>
            <a:r>
              <a:rPr lang="en-US" altLang="en-US" sz="1200" dirty="0" err="1">
                <a:solidFill>
                  <a:srgbClr val="2C6782"/>
                </a:solidFill>
                <a:latin typeface="Gotham" panose="02000504050000020004" pitchFamily="2" charset="0"/>
              </a:rPr>
              <a:t>ToDate</a:t>
            </a:r>
            <a:r>
              <a:rPr lang="en-US" altLang="en-US" sz="1200" dirty="0">
                <a:solidFill>
                  <a:srgbClr val="2C6782"/>
                </a:solidFill>
                <a:latin typeface="Gotham" panose="02000504050000020004" pitchFamily="2" charset="0"/>
              </a:rPr>
              <a:t> Planned effort of the element derived from scheduling software</a:t>
            </a:r>
          </a:p>
          <a:p>
            <a:r>
              <a:rPr lang="en-US" altLang="en-US" sz="1200" b="1" dirty="0" err="1">
                <a:solidFill>
                  <a:srgbClr val="2C6782"/>
                </a:solidFill>
                <a:latin typeface="Gotham" panose="02000504050000020004" pitchFamily="2" charset="0"/>
              </a:rPr>
              <a:t>ToDate</a:t>
            </a:r>
            <a:r>
              <a:rPr lang="en-US" altLang="en-US" sz="1200" b="1" dirty="0">
                <a:solidFill>
                  <a:srgbClr val="2C6782"/>
                </a:solidFill>
                <a:latin typeface="Gotham" panose="02000504050000020004" pitchFamily="2" charset="0"/>
              </a:rPr>
              <a:t> Earned:</a:t>
            </a:r>
            <a:r>
              <a:rPr lang="en-US" altLang="en-US" sz="1200" dirty="0">
                <a:solidFill>
                  <a:srgbClr val="2C6782"/>
                </a:solidFill>
                <a:latin typeface="Gotham" panose="02000504050000020004" pitchFamily="2" charset="0"/>
              </a:rPr>
              <a:t>		</a:t>
            </a:r>
            <a:r>
              <a:rPr lang="en-US" altLang="en-US" sz="1200" dirty="0" err="1">
                <a:solidFill>
                  <a:srgbClr val="2C6782"/>
                </a:solidFill>
                <a:latin typeface="Gotham" panose="02000504050000020004" pitchFamily="2" charset="0"/>
              </a:rPr>
              <a:t>ToDate</a:t>
            </a:r>
            <a:r>
              <a:rPr lang="en-US" altLang="en-US" sz="1200" dirty="0">
                <a:solidFill>
                  <a:srgbClr val="2C6782"/>
                </a:solidFill>
                <a:latin typeface="Gotham" panose="02000504050000020004" pitchFamily="2" charset="0"/>
              </a:rPr>
              <a:t> effort of the deliverables accomplished, derived from scheduling software</a:t>
            </a:r>
          </a:p>
          <a:p>
            <a:endParaRPr lang="en-US" altLang="en-US" sz="1200" dirty="0">
              <a:solidFill>
                <a:srgbClr val="2C6782"/>
              </a:solidFill>
              <a:latin typeface="Gotham" panose="02000504050000020004" pitchFamily="2" charset="0"/>
            </a:endParaRPr>
          </a:p>
        </p:txBody>
      </p:sp>
      <p:pic>
        <p:nvPicPr>
          <p:cNvPr id="5" name="Picture 4">
            <a:extLst>
              <a:ext uri="{FF2B5EF4-FFF2-40B4-BE49-F238E27FC236}">
                <a16:creationId xmlns:a16="http://schemas.microsoft.com/office/drawing/2014/main" id="{6A93CF17-68CC-4313-F0B7-EF0EE9C11011}"/>
              </a:ext>
            </a:extLst>
          </p:cNvPr>
          <p:cNvPicPr>
            <a:picLocks noChangeAspect="1"/>
          </p:cNvPicPr>
          <p:nvPr/>
        </p:nvPicPr>
        <p:blipFill>
          <a:blip r:embed="rId2"/>
          <a:stretch>
            <a:fillRect/>
          </a:stretch>
        </p:blipFill>
        <p:spPr>
          <a:xfrm>
            <a:off x="3013710" y="1238250"/>
            <a:ext cx="6886070" cy="3697644"/>
          </a:xfrm>
          <a:prstGeom prst="rect">
            <a:avLst/>
          </a:prstGeom>
        </p:spPr>
      </p:pic>
    </p:spTree>
    <p:extLst>
      <p:ext uri="{BB962C8B-B14F-4D97-AF65-F5344CB8AC3E}">
        <p14:creationId xmlns:p14="http://schemas.microsoft.com/office/powerpoint/2010/main" val="2357819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Progress</a:t>
            </a:r>
          </a:p>
        </p:txBody>
      </p:sp>
      <p:sp>
        <p:nvSpPr>
          <p:cNvPr id="8" name="Rectangle 7">
            <a:extLst>
              <a:ext uri="{FF2B5EF4-FFF2-40B4-BE49-F238E27FC236}">
                <a16:creationId xmlns:a16="http://schemas.microsoft.com/office/drawing/2014/main" id="{1F353926-0080-49FF-91C7-97E88602E0C8}"/>
              </a:ext>
            </a:extLst>
          </p:cNvPr>
          <p:cNvSpPr/>
          <p:nvPr/>
        </p:nvSpPr>
        <p:spPr>
          <a:xfrm>
            <a:off x="713035" y="1785493"/>
            <a:ext cx="2743059"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Progress Overview </a:t>
            </a:r>
          </a:p>
        </p:txBody>
      </p:sp>
      <p:sp>
        <p:nvSpPr>
          <p:cNvPr id="9" name="TextBox 3">
            <a:extLst>
              <a:ext uri="{FF2B5EF4-FFF2-40B4-BE49-F238E27FC236}">
                <a16:creationId xmlns:a16="http://schemas.microsoft.com/office/drawing/2014/main" id="{EC32A585-CA63-40B5-8F3C-1FD1CF221ED5}"/>
              </a:ext>
            </a:extLst>
          </p:cNvPr>
          <p:cNvSpPr txBox="1"/>
          <p:nvPr/>
        </p:nvSpPr>
        <p:spPr>
          <a:xfrm>
            <a:off x="385762" y="5400169"/>
            <a:ext cx="11806238" cy="1200329"/>
          </a:xfrm>
          <a:prstGeom prst="rect">
            <a:avLst/>
          </a:prstGeom>
          <a:noFill/>
        </p:spPr>
        <p:txBody>
          <a:bodyPr>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sz="1200" dirty="0">
                <a:solidFill>
                  <a:srgbClr val="2C6782"/>
                </a:solidFill>
              </a:rPr>
              <a:t>Following Cumulative Curves should be plotted; Value (SAR) in %age against Time for: </a:t>
            </a:r>
          </a:p>
          <a:p>
            <a:pPr marL="342900" indent="-342900">
              <a:buFontTx/>
              <a:buAutoNum type="arabicPeriod"/>
              <a:defRPr/>
            </a:pPr>
            <a:r>
              <a:rPr lang="en-US" sz="1200" dirty="0">
                <a:solidFill>
                  <a:srgbClr val="2C6782"/>
                </a:solidFill>
              </a:rPr>
              <a:t>Base line or Original Plan </a:t>
            </a:r>
          </a:p>
          <a:p>
            <a:pPr marL="342900" indent="-342900">
              <a:buFontTx/>
              <a:buAutoNum type="arabicPeriod"/>
              <a:defRPr/>
            </a:pPr>
            <a:r>
              <a:rPr lang="en-US" sz="1200" dirty="0">
                <a:solidFill>
                  <a:srgbClr val="2C6782"/>
                </a:solidFill>
              </a:rPr>
              <a:t>Revised Plan (Only if EOT/CO is approved by MODON through change management)</a:t>
            </a:r>
          </a:p>
          <a:p>
            <a:pPr marL="342900" indent="-342900">
              <a:buFontTx/>
              <a:buAutoNum type="arabicPeriod"/>
              <a:defRPr/>
            </a:pPr>
            <a:r>
              <a:rPr lang="en-US" sz="1200" dirty="0">
                <a:solidFill>
                  <a:srgbClr val="2C6782"/>
                </a:solidFill>
              </a:rPr>
              <a:t>Earn Value for the work accomplished</a:t>
            </a:r>
          </a:p>
          <a:p>
            <a:pPr marL="342900" indent="-342900">
              <a:buFontTx/>
              <a:buAutoNum type="arabicPeriod"/>
              <a:defRPr/>
            </a:pPr>
            <a:r>
              <a:rPr lang="en-US" sz="1200" dirty="0">
                <a:solidFill>
                  <a:srgbClr val="2C6782"/>
                </a:solidFill>
              </a:rPr>
              <a:t>Forecast Curve </a:t>
            </a:r>
          </a:p>
          <a:p>
            <a:pPr marL="342900" indent="-342900">
              <a:buFontTx/>
              <a:buAutoNum type="arabicPeriod"/>
              <a:defRPr/>
            </a:pPr>
            <a:r>
              <a:rPr lang="en-US" sz="1200" dirty="0">
                <a:solidFill>
                  <a:srgbClr val="2C6782"/>
                </a:solidFill>
              </a:rPr>
              <a:t>Gross Paid Value (Invoices)</a:t>
            </a:r>
          </a:p>
        </p:txBody>
      </p:sp>
      <p:sp>
        <p:nvSpPr>
          <p:cNvPr id="10" name="TextBox 6">
            <a:extLst>
              <a:ext uri="{FF2B5EF4-FFF2-40B4-BE49-F238E27FC236}">
                <a16:creationId xmlns:a16="http://schemas.microsoft.com/office/drawing/2014/main" id="{C68188B2-48CE-4A28-8068-A6FFB5611BB3}"/>
              </a:ext>
            </a:extLst>
          </p:cNvPr>
          <p:cNvSpPr txBox="1"/>
          <p:nvPr/>
        </p:nvSpPr>
        <p:spPr>
          <a:xfrm>
            <a:off x="8463611" y="5430947"/>
            <a:ext cx="3094329" cy="1169551"/>
          </a:xfrm>
          <a:prstGeom prst="rect">
            <a:avLst/>
          </a:prstGeom>
          <a:solidFill>
            <a:schemeClr val="accent4">
              <a:lumMod val="20000"/>
              <a:lumOff val="80000"/>
            </a:schemeClr>
          </a:solidFill>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sz="1400" dirty="0"/>
              <a:t>Note that the data entry for the curves is in sheet named </a:t>
            </a:r>
            <a:r>
              <a:rPr lang="en-US" sz="1400" b="1" dirty="0"/>
              <a:t>“EV-Chart Data”. </a:t>
            </a:r>
            <a:r>
              <a:rPr lang="en-US" sz="1400" dirty="0"/>
              <a:t>All the four curves should have data from P6 except for the invoices those should be entered manually every month.</a:t>
            </a:r>
          </a:p>
        </p:txBody>
      </p:sp>
      <p:graphicFrame>
        <p:nvGraphicFramePr>
          <p:cNvPr id="3" name="Chart 2">
            <a:extLst>
              <a:ext uri="{FF2B5EF4-FFF2-40B4-BE49-F238E27FC236}">
                <a16:creationId xmlns:a16="http://schemas.microsoft.com/office/drawing/2014/main" id="{AC84F2B3-7BC6-4B72-9229-73385856D10E}"/>
              </a:ext>
            </a:extLst>
          </p:cNvPr>
          <p:cNvGraphicFramePr>
            <a:graphicFrameLocks/>
          </p:cNvGraphicFramePr>
          <p:nvPr>
            <p:extLst>
              <p:ext uri="{D42A27DB-BD31-4B8C-83A1-F6EECF244321}">
                <p14:modId xmlns:p14="http://schemas.microsoft.com/office/powerpoint/2010/main" val="2513068177"/>
              </p:ext>
            </p:extLst>
          </p:nvPr>
        </p:nvGraphicFramePr>
        <p:xfrm>
          <a:off x="895739" y="1446245"/>
          <a:ext cx="9953320" cy="388153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19004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Progress</a:t>
            </a:r>
          </a:p>
        </p:txBody>
      </p:sp>
      <p:sp>
        <p:nvSpPr>
          <p:cNvPr id="8" name="Rectangle 7">
            <a:extLst>
              <a:ext uri="{FF2B5EF4-FFF2-40B4-BE49-F238E27FC236}">
                <a16:creationId xmlns:a16="http://schemas.microsoft.com/office/drawing/2014/main" id="{1F353926-0080-49FF-91C7-97E88602E0C8}"/>
              </a:ext>
            </a:extLst>
          </p:cNvPr>
          <p:cNvSpPr/>
          <p:nvPr/>
        </p:nvSpPr>
        <p:spPr>
          <a:xfrm>
            <a:off x="713035" y="1785493"/>
            <a:ext cx="2743059"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Progress Overview </a:t>
            </a:r>
          </a:p>
        </p:txBody>
      </p:sp>
      <p:sp>
        <p:nvSpPr>
          <p:cNvPr id="11" name="TextBox 3">
            <a:extLst>
              <a:ext uri="{FF2B5EF4-FFF2-40B4-BE49-F238E27FC236}">
                <a16:creationId xmlns:a16="http://schemas.microsoft.com/office/drawing/2014/main" id="{9955A7D8-E163-460B-9AB9-57FB436E7381}"/>
              </a:ext>
            </a:extLst>
          </p:cNvPr>
          <p:cNvSpPr txBox="1"/>
          <p:nvPr/>
        </p:nvSpPr>
        <p:spPr>
          <a:xfrm>
            <a:off x="119710" y="5586710"/>
            <a:ext cx="11806238" cy="938719"/>
          </a:xfrm>
          <a:prstGeom prst="rect">
            <a:avLst/>
          </a:prstGeom>
          <a:noFill/>
        </p:spPr>
        <p:txBody>
          <a:bodyPr>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sz="1100" dirty="0">
                <a:solidFill>
                  <a:srgbClr val="2C6782"/>
                </a:solidFill>
                <a:latin typeface="Gotham" panose="02000504050000020004" pitchFamily="2" charset="0"/>
              </a:rPr>
              <a:t>Following Cumulative Curves should be plotted; Labor units in %age against Time for: </a:t>
            </a:r>
          </a:p>
          <a:p>
            <a:pPr marL="342900" indent="-342900">
              <a:buFontTx/>
              <a:buAutoNum type="arabicPeriod"/>
              <a:defRPr/>
            </a:pPr>
            <a:r>
              <a:rPr lang="en-US" sz="1100" dirty="0">
                <a:solidFill>
                  <a:srgbClr val="2C6782"/>
                </a:solidFill>
                <a:latin typeface="Gotham" panose="02000504050000020004" pitchFamily="2" charset="0"/>
              </a:rPr>
              <a:t>Base line or Original Plan Effort (</a:t>
            </a:r>
            <a:r>
              <a:rPr lang="en-US" sz="1100" dirty="0" err="1">
                <a:solidFill>
                  <a:srgbClr val="2C6782"/>
                </a:solidFill>
                <a:latin typeface="Gotham" panose="02000504050000020004" pitchFamily="2" charset="0"/>
              </a:rPr>
              <a:t>Manhours</a:t>
            </a:r>
            <a:r>
              <a:rPr lang="en-US" sz="1100" dirty="0">
                <a:solidFill>
                  <a:srgbClr val="2C6782"/>
                </a:solidFill>
                <a:latin typeface="Gotham" panose="02000504050000020004" pitchFamily="2" charset="0"/>
              </a:rPr>
              <a:t>/</a:t>
            </a:r>
            <a:r>
              <a:rPr lang="en-US" sz="1100" dirty="0" err="1">
                <a:solidFill>
                  <a:srgbClr val="2C6782"/>
                </a:solidFill>
                <a:latin typeface="Gotham" panose="02000504050000020004" pitchFamily="2" charset="0"/>
              </a:rPr>
              <a:t>Mandays</a:t>
            </a:r>
            <a:r>
              <a:rPr lang="en-US" sz="1100" dirty="0">
                <a:solidFill>
                  <a:srgbClr val="2C6782"/>
                </a:solidFill>
                <a:latin typeface="Gotham" panose="02000504050000020004" pitchFamily="2" charset="0"/>
              </a:rPr>
              <a:t> whatever is applicable)</a:t>
            </a:r>
          </a:p>
          <a:p>
            <a:pPr marL="342900" indent="-342900">
              <a:buFontTx/>
              <a:buAutoNum type="arabicPeriod"/>
              <a:defRPr/>
            </a:pPr>
            <a:r>
              <a:rPr lang="en-US" sz="1100" dirty="0">
                <a:solidFill>
                  <a:srgbClr val="2C6782"/>
                </a:solidFill>
                <a:latin typeface="Gotham" panose="02000504050000020004" pitchFamily="2" charset="0"/>
              </a:rPr>
              <a:t>Revised Plan (Only if EOT/CO is approved by MODON (</a:t>
            </a:r>
            <a:r>
              <a:rPr lang="en-US" sz="1100" dirty="0" err="1">
                <a:solidFill>
                  <a:srgbClr val="2C6782"/>
                </a:solidFill>
                <a:latin typeface="Gotham" panose="02000504050000020004" pitchFamily="2" charset="0"/>
              </a:rPr>
              <a:t>Manhours</a:t>
            </a:r>
            <a:r>
              <a:rPr lang="en-US" sz="1100" dirty="0">
                <a:solidFill>
                  <a:srgbClr val="2C6782"/>
                </a:solidFill>
                <a:latin typeface="Gotham" panose="02000504050000020004" pitchFamily="2" charset="0"/>
              </a:rPr>
              <a:t>/</a:t>
            </a:r>
            <a:r>
              <a:rPr lang="en-US" sz="1100" dirty="0" err="1">
                <a:solidFill>
                  <a:srgbClr val="2C6782"/>
                </a:solidFill>
                <a:latin typeface="Gotham" panose="02000504050000020004" pitchFamily="2" charset="0"/>
              </a:rPr>
              <a:t>Mandays</a:t>
            </a:r>
            <a:r>
              <a:rPr lang="en-US" sz="1100" dirty="0">
                <a:solidFill>
                  <a:srgbClr val="2C6782"/>
                </a:solidFill>
                <a:latin typeface="Gotham" panose="02000504050000020004" pitchFamily="2" charset="0"/>
              </a:rPr>
              <a:t> whatever is applicable)</a:t>
            </a:r>
          </a:p>
          <a:p>
            <a:pPr marL="342900" indent="-342900">
              <a:buFontTx/>
              <a:buAutoNum type="arabicPeriod"/>
              <a:defRPr/>
            </a:pPr>
            <a:r>
              <a:rPr lang="en-US" sz="1100" b="1" dirty="0">
                <a:solidFill>
                  <a:srgbClr val="2C6782"/>
                </a:solidFill>
                <a:latin typeface="Gotham" panose="02000504050000020004" pitchFamily="2" charset="0"/>
              </a:rPr>
              <a:t>Earned</a:t>
            </a:r>
            <a:r>
              <a:rPr lang="en-US" sz="1100" dirty="0">
                <a:solidFill>
                  <a:srgbClr val="2C6782"/>
                </a:solidFill>
                <a:latin typeface="Gotham" panose="02000504050000020004" pitchFamily="2" charset="0"/>
              </a:rPr>
              <a:t> </a:t>
            </a:r>
            <a:r>
              <a:rPr lang="en-US" sz="1100" dirty="0" err="1">
                <a:solidFill>
                  <a:srgbClr val="2C6782"/>
                </a:solidFill>
                <a:latin typeface="Gotham" panose="02000504050000020004" pitchFamily="2" charset="0"/>
              </a:rPr>
              <a:t>manhour</a:t>
            </a:r>
            <a:r>
              <a:rPr lang="en-US" sz="1100" dirty="0">
                <a:solidFill>
                  <a:srgbClr val="2C6782"/>
                </a:solidFill>
                <a:latin typeface="Gotham" panose="02000504050000020004" pitchFamily="2" charset="0"/>
              </a:rPr>
              <a:t> or </a:t>
            </a:r>
            <a:r>
              <a:rPr lang="en-US" sz="1100" dirty="0" err="1">
                <a:solidFill>
                  <a:srgbClr val="2C6782"/>
                </a:solidFill>
                <a:latin typeface="Gotham" panose="02000504050000020004" pitchFamily="2" charset="0"/>
              </a:rPr>
              <a:t>mandays</a:t>
            </a:r>
            <a:r>
              <a:rPr lang="en-US" sz="1100" dirty="0">
                <a:solidFill>
                  <a:srgbClr val="2C6782"/>
                </a:solidFill>
                <a:latin typeface="Gotham" panose="02000504050000020004" pitchFamily="2" charset="0"/>
              </a:rPr>
              <a:t> for the work accomplished. </a:t>
            </a:r>
            <a:r>
              <a:rPr lang="en-US" sz="1100" b="1" dirty="0">
                <a:solidFill>
                  <a:srgbClr val="2C6782"/>
                </a:solidFill>
                <a:latin typeface="Gotham" panose="02000504050000020004" pitchFamily="2" charset="0"/>
              </a:rPr>
              <a:t>(Not the Actual </a:t>
            </a:r>
            <a:r>
              <a:rPr lang="en-US" sz="1100" b="1" dirty="0" err="1">
                <a:solidFill>
                  <a:srgbClr val="2C6782"/>
                </a:solidFill>
                <a:latin typeface="Gotham" panose="02000504050000020004" pitchFamily="2" charset="0"/>
              </a:rPr>
              <a:t>manhours</a:t>
            </a:r>
            <a:r>
              <a:rPr lang="en-US" sz="1100" b="1" dirty="0">
                <a:solidFill>
                  <a:srgbClr val="2C6782"/>
                </a:solidFill>
                <a:latin typeface="Gotham" panose="02000504050000020004" pitchFamily="2" charset="0"/>
              </a:rPr>
              <a:t> or </a:t>
            </a:r>
            <a:r>
              <a:rPr lang="en-US" sz="1100" b="1" dirty="0" err="1">
                <a:solidFill>
                  <a:srgbClr val="2C6782"/>
                </a:solidFill>
                <a:latin typeface="Gotham" panose="02000504050000020004" pitchFamily="2" charset="0"/>
              </a:rPr>
              <a:t>mandays</a:t>
            </a:r>
            <a:r>
              <a:rPr lang="en-US" sz="1100" b="1" dirty="0">
                <a:solidFill>
                  <a:srgbClr val="2C6782"/>
                </a:solidFill>
                <a:latin typeface="Gotham" panose="02000504050000020004" pitchFamily="2" charset="0"/>
              </a:rPr>
              <a:t> spent on site)</a:t>
            </a:r>
          </a:p>
          <a:p>
            <a:pPr marL="342900" indent="-342900">
              <a:buFontTx/>
              <a:buAutoNum type="arabicPeriod"/>
              <a:defRPr/>
            </a:pPr>
            <a:r>
              <a:rPr lang="en-US" sz="1100" dirty="0">
                <a:solidFill>
                  <a:srgbClr val="2C6782"/>
                </a:solidFill>
                <a:latin typeface="Gotham" panose="02000504050000020004" pitchFamily="2" charset="0"/>
              </a:rPr>
              <a:t>Forecast Curve for the remaining period of time</a:t>
            </a:r>
          </a:p>
        </p:txBody>
      </p:sp>
      <p:sp>
        <p:nvSpPr>
          <p:cNvPr id="12" name="TextBox 6">
            <a:extLst>
              <a:ext uri="{FF2B5EF4-FFF2-40B4-BE49-F238E27FC236}">
                <a16:creationId xmlns:a16="http://schemas.microsoft.com/office/drawing/2014/main" id="{27D7736E-11B9-4604-84E2-40DD8A920A05}"/>
              </a:ext>
            </a:extLst>
          </p:cNvPr>
          <p:cNvSpPr txBox="1"/>
          <p:nvPr/>
        </p:nvSpPr>
        <p:spPr>
          <a:xfrm>
            <a:off x="8977961" y="5571322"/>
            <a:ext cx="3094329" cy="954107"/>
          </a:xfrm>
          <a:prstGeom prst="rect">
            <a:avLst/>
          </a:prstGeom>
          <a:solidFill>
            <a:schemeClr val="accent4">
              <a:lumMod val="20000"/>
              <a:lumOff val="80000"/>
            </a:schemeClr>
          </a:solidFill>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sz="1400" dirty="0"/>
              <a:t>Note that the data entry for the curves is in sheet named </a:t>
            </a:r>
            <a:r>
              <a:rPr lang="en-US" sz="1400" b="1" dirty="0"/>
              <a:t>“Physical-Chart Data”. </a:t>
            </a:r>
            <a:r>
              <a:rPr lang="en-US" sz="1400" dirty="0"/>
              <a:t>All the four curves should have data from P6.</a:t>
            </a:r>
          </a:p>
        </p:txBody>
      </p:sp>
      <p:graphicFrame>
        <p:nvGraphicFramePr>
          <p:cNvPr id="4" name="Chart 3">
            <a:extLst>
              <a:ext uri="{FF2B5EF4-FFF2-40B4-BE49-F238E27FC236}">
                <a16:creationId xmlns:a16="http://schemas.microsoft.com/office/drawing/2014/main" id="{00000000-0008-0000-0000-000012000000}"/>
              </a:ext>
            </a:extLst>
          </p:cNvPr>
          <p:cNvGraphicFramePr>
            <a:graphicFrameLocks/>
          </p:cNvGraphicFramePr>
          <p:nvPr>
            <p:extLst>
              <p:ext uri="{D42A27DB-BD31-4B8C-83A1-F6EECF244321}">
                <p14:modId xmlns:p14="http://schemas.microsoft.com/office/powerpoint/2010/main" val="101752015"/>
              </p:ext>
            </p:extLst>
          </p:nvPr>
        </p:nvGraphicFramePr>
        <p:xfrm>
          <a:off x="702733" y="1539550"/>
          <a:ext cx="10786534" cy="380689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94031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Milestones</a:t>
            </a:r>
          </a:p>
        </p:txBody>
      </p:sp>
      <p:sp>
        <p:nvSpPr>
          <p:cNvPr id="14" name="Rectangle 13">
            <a:extLst>
              <a:ext uri="{FF2B5EF4-FFF2-40B4-BE49-F238E27FC236}">
                <a16:creationId xmlns:a16="http://schemas.microsoft.com/office/drawing/2014/main" id="{9759D9B9-590C-4790-BFA5-1127427C3664}"/>
              </a:ext>
            </a:extLst>
          </p:cNvPr>
          <p:cNvSpPr/>
          <p:nvPr/>
        </p:nvSpPr>
        <p:spPr>
          <a:xfrm>
            <a:off x="725735" y="1947393"/>
            <a:ext cx="3350597"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Construction Milestones </a:t>
            </a:r>
          </a:p>
        </p:txBody>
      </p:sp>
      <p:sp>
        <p:nvSpPr>
          <p:cNvPr id="23" name="Rectangle 22">
            <a:extLst>
              <a:ext uri="{FF2B5EF4-FFF2-40B4-BE49-F238E27FC236}">
                <a16:creationId xmlns:a16="http://schemas.microsoft.com/office/drawing/2014/main" id="{E745D8A2-0C3A-4BB9-98F3-23003959801E}"/>
              </a:ext>
            </a:extLst>
          </p:cNvPr>
          <p:cNvSpPr/>
          <p:nvPr/>
        </p:nvSpPr>
        <p:spPr>
          <a:xfrm>
            <a:off x="478085" y="2666584"/>
            <a:ext cx="5351215" cy="2062103"/>
          </a:xfrm>
          <a:prstGeom prst="rect">
            <a:avLst/>
          </a:prstGeom>
        </p:spPr>
        <p:txBody>
          <a:bodyPr wrap="square">
            <a:spAutoFit/>
          </a:bodyPr>
          <a:lstStyle/>
          <a:p>
            <a:pPr algn="justLow"/>
            <a:r>
              <a:rPr lang="en-US" sz="1600" dirty="0">
                <a:solidFill>
                  <a:srgbClr val="2C6782"/>
                </a:solidFill>
                <a:latin typeface="Gotham" panose="02000504050000020004" pitchFamily="2" charset="0"/>
              </a:rPr>
              <a:t>Contractor to list all important milestones upon agreement with consultant and MODON to track the status of such milestones. The construction milestones should be included into P6 data and information should extracted weekly.</a:t>
            </a:r>
          </a:p>
          <a:p>
            <a:pPr algn="justLow"/>
            <a:endParaRPr lang="en-US" sz="1600" dirty="0">
              <a:solidFill>
                <a:srgbClr val="2C6782"/>
              </a:solidFill>
              <a:latin typeface="Gotham" panose="02000504050000020004" pitchFamily="2" charset="0"/>
            </a:endParaRPr>
          </a:p>
          <a:p>
            <a:pPr algn="justLow"/>
            <a:r>
              <a:rPr lang="en-US" sz="1600" dirty="0">
                <a:solidFill>
                  <a:srgbClr val="2C6782"/>
                </a:solidFill>
                <a:latin typeface="Gotham" panose="02000504050000020004" pitchFamily="2" charset="0"/>
              </a:rPr>
              <a:t>Status should be update manually for Actuals as “A” and forecast as “F”</a:t>
            </a:r>
          </a:p>
        </p:txBody>
      </p:sp>
      <p:pic>
        <p:nvPicPr>
          <p:cNvPr id="5" name="Picture 4">
            <a:extLst>
              <a:ext uri="{FF2B5EF4-FFF2-40B4-BE49-F238E27FC236}">
                <a16:creationId xmlns:a16="http://schemas.microsoft.com/office/drawing/2014/main" id="{422AFFD8-B94E-C896-8700-C5A8562DD697}"/>
              </a:ext>
            </a:extLst>
          </p:cNvPr>
          <p:cNvPicPr>
            <a:picLocks noChangeAspect="1"/>
          </p:cNvPicPr>
          <p:nvPr/>
        </p:nvPicPr>
        <p:blipFill>
          <a:blip r:embed="rId2"/>
          <a:stretch>
            <a:fillRect/>
          </a:stretch>
        </p:blipFill>
        <p:spPr>
          <a:xfrm>
            <a:off x="6095999" y="1392750"/>
            <a:ext cx="5617915" cy="4252270"/>
          </a:xfrm>
          <a:prstGeom prst="rect">
            <a:avLst/>
          </a:prstGeom>
        </p:spPr>
      </p:pic>
    </p:spTree>
    <p:extLst>
      <p:ext uri="{BB962C8B-B14F-4D97-AF65-F5344CB8AC3E}">
        <p14:creationId xmlns:p14="http://schemas.microsoft.com/office/powerpoint/2010/main" val="2328663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Submittals</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2595582"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Submittals Status </a:t>
            </a:r>
          </a:p>
        </p:txBody>
      </p:sp>
      <p:sp>
        <p:nvSpPr>
          <p:cNvPr id="23" name="Rectangle 22">
            <a:extLst>
              <a:ext uri="{FF2B5EF4-FFF2-40B4-BE49-F238E27FC236}">
                <a16:creationId xmlns:a16="http://schemas.microsoft.com/office/drawing/2014/main" id="{FD7FFEB4-7FCD-4306-ADCD-061C8FA5AF42}"/>
              </a:ext>
            </a:extLst>
          </p:cNvPr>
          <p:cNvSpPr/>
          <p:nvPr/>
        </p:nvSpPr>
        <p:spPr>
          <a:xfrm>
            <a:off x="449510" y="3882297"/>
            <a:ext cx="10847140" cy="2339102"/>
          </a:xfrm>
          <a:prstGeom prst="rect">
            <a:avLst/>
          </a:prstGeom>
        </p:spPr>
        <p:txBody>
          <a:bodyPr wrap="square">
            <a:spAutoFit/>
          </a:bodyPr>
          <a:lstStyle/>
          <a:p>
            <a:pPr algn="justLow"/>
            <a:r>
              <a:rPr lang="en-US" sz="1400" dirty="0">
                <a:solidFill>
                  <a:srgbClr val="2C6782"/>
                </a:solidFill>
                <a:latin typeface="Gotham" panose="02000504050000020004" pitchFamily="2" charset="0"/>
              </a:rPr>
              <a:t>Contractor should be able to determine all the shop drawing needed for the project and categorize it into disciplines or per approved WBS.</a:t>
            </a:r>
          </a:p>
          <a:p>
            <a:pPr algn="justLow"/>
            <a:endParaRPr lang="en-US" sz="1400"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Total : </a:t>
            </a:r>
            <a:r>
              <a:rPr lang="en-US" sz="1400" dirty="0">
                <a:solidFill>
                  <a:srgbClr val="2C6782"/>
                </a:solidFill>
                <a:latin typeface="Gotham" panose="02000504050000020004" pitchFamily="2" charset="0"/>
              </a:rPr>
              <a:t>266</a:t>
            </a:r>
          </a:p>
          <a:p>
            <a:pPr algn="justLow"/>
            <a:r>
              <a:rPr lang="en-US" sz="1400" b="1" dirty="0">
                <a:solidFill>
                  <a:srgbClr val="2C6782"/>
                </a:solidFill>
                <a:latin typeface="Gotham" panose="02000504050000020004" pitchFamily="2" charset="0"/>
              </a:rPr>
              <a:t>Total Processed Drawings Codes (A,B,C,D) : 266</a:t>
            </a:r>
            <a:endParaRPr lang="en-US" sz="1400"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Remaining Drawings: 0</a:t>
            </a:r>
            <a:endParaRPr lang="en-US" sz="1400"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Pending Submittal with Consultant: 0</a:t>
            </a:r>
          </a:p>
          <a:p>
            <a:pPr algn="justLow"/>
            <a:r>
              <a:rPr lang="en-US" sz="1400" b="1" dirty="0">
                <a:solidFill>
                  <a:srgbClr val="2C6782"/>
                </a:solidFill>
                <a:latin typeface="Gotham" panose="02000504050000020004" pitchFamily="2" charset="0"/>
              </a:rPr>
              <a:t>Total Submittals:266</a:t>
            </a:r>
          </a:p>
          <a:p>
            <a:pPr algn="justLow"/>
            <a:endParaRPr lang="en-US" sz="1600" dirty="0">
              <a:solidFill>
                <a:srgbClr val="2C6782"/>
              </a:solidFill>
              <a:latin typeface="Gotham" panose="02000504050000020004" pitchFamily="2" charset="0"/>
            </a:endParaRPr>
          </a:p>
          <a:p>
            <a:pPr algn="justLow"/>
            <a:endParaRPr lang="en-US" sz="1600" dirty="0">
              <a:solidFill>
                <a:srgbClr val="2C6782"/>
              </a:solidFill>
              <a:latin typeface="Gotham" panose="02000504050000020004" pitchFamily="2" charset="0"/>
            </a:endParaRPr>
          </a:p>
          <a:p>
            <a:pPr algn="justLow"/>
            <a:endParaRPr lang="en-US" sz="1600" dirty="0">
              <a:solidFill>
                <a:srgbClr val="2C6782"/>
              </a:solidFill>
              <a:latin typeface="Gotham" panose="02000504050000020004" pitchFamily="2" charset="0"/>
            </a:endParaRPr>
          </a:p>
        </p:txBody>
      </p:sp>
      <p:pic>
        <p:nvPicPr>
          <p:cNvPr id="4" name="Picture 3">
            <a:extLst>
              <a:ext uri="{FF2B5EF4-FFF2-40B4-BE49-F238E27FC236}">
                <a16:creationId xmlns:a16="http://schemas.microsoft.com/office/drawing/2014/main" id="{8254DA16-0B46-3464-E29F-5C28FCCD4306}"/>
              </a:ext>
            </a:extLst>
          </p:cNvPr>
          <p:cNvPicPr>
            <a:picLocks noChangeAspect="1"/>
          </p:cNvPicPr>
          <p:nvPr/>
        </p:nvPicPr>
        <p:blipFill>
          <a:blip r:embed="rId2"/>
          <a:stretch>
            <a:fillRect/>
          </a:stretch>
        </p:blipFill>
        <p:spPr>
          <a:xfrm>
            <a:off x="3069771" y="1635579"/>
            <a:ext cx="8396494" cy="2019300"/>
          </a:xfrm>
          <a:prstGeom prst="rect">
            <a:avLst/>
          </a:prstGeom>
        </p:spPr>
      </p:pic>
    </p:spTree>
    <p:extLst>
      <p:ext uri="{BB962C8B-B14F-4D97-AF65-F5344CB8AC3E}">
        <p14:creationId xmlns:p14="http://schemas.microsoft.com/office/powerpoint/2010/main" val="3305996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Shop Drawings</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2231701"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Shop Drawings</a:t>
            </a:r>
          </a:p>
        </p:txBody>
      </p:sp>
      <p:sp>
        <p:nvSpPr>
          <p:cNvPr id="23" name="Rectangle 22">
            <a:extLst>
              <a:ext uri="{FF2B5EF4-FFF2-40B4-BE49-F238E27FC236}">
                <a16:creationId xmlns:a16="http://schemas.microsoft.com/office/drawing/2014/main" id="{FD7FFEB4-7FCD-4306-ADCD-061C8FA5AF42}"/>
              </a:ext>
            </a:extLst>
          </p:cNvPr>
          <p:cNvSpPr/>
          <p:nvPr/>
        </p:nvSpPr>
        <p:spPr>
          <a:xfrm>
            <a:off x="449510" y="3882297"/>
            <a:ext cx="10847140" cy="2339102"/>
          </a:xfrm>
          <a:prstGeom prst="rect">
            <a:avLst/>
          </a:prstGeom>
        </p:spPr>
        <p:txBody>
          <a:bodyPr wrap="square">
            <a:spAutoFit/>
          </a:bodyPr>
          <a:lstStyle/>
          <a:p>
            <a:pPr algn="justLow"/>
            <a:r>
              <a:rPr lang="en-US" sz="1400" dirty="0">
                <a:solidFill>
                  <a:srgbClr val="2C6782"/>
                </a:solidFill>
                <a:latin typeface="Gotham" panose="02000504050000020004" pitchFamily="2" charset="0"/>
              </a:rPr>
              <a:t>Contractor should be able to determine all the shop drawing needed for the project and categorize it into disciplines or per approved WBS.</a:t>
            </a:r>
          </a:p>
          <a:p>
            <a:pPr algn="justLow"/>
            <a:endParaRPr lang="en-US" sz="1400"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Total : </a:t>
            </a:r>
            <a:r>
              <a:rPr lang="en-US" sz="1400" dirty="0">
                <a:solidFill>
                  <a:srgbClr val="2C6782"/>
                </a:solidFill>
                <a:latin typeface="Gotham" panose="02000504050000020004" pitchFamily="2" charset="0"/>
              </a:rPr>
              <a:t>266</a:t>
            </a:r>
          </a:p>
          <a:p>
            <a:pPr algn="justLow"/>
            <a:r>
              <a:rPr lang="en-US" sz="1400" b="1" dirty="0">
                <a:solidFill>
                  <a:srgbClr val="2C6782"/>
                </a:solidFill>
                <a:latin typeface="Gotham" panose="02000504050000020004" pitchFamily="2" charset="0"/>
              </a:rPr>
              <a:t>Total Processed Drawings Codes (A,B,C,D) : 266</a:t>
            </a:r>
            <a:endParaRPr lang="en-US" sz="1400"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Remaining Drawings: 0</a:t>
            </a:r>
            <a:endParaRPr lang="en-US" sz="1400"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Pending Submittal with Consultant: </a:t>
            </a:r>
            <a:r>
              <a:rPr lang="en-US" sz="1400" dirty="0">
                <a:solidFill>
                  <a:srgbClr val="2C6782"/>
                </a:solidFill>
                <a:latin typeface="Gotham" panose="02000504050000020004" pitchFamily="2" charset="0"/>
              </a:rPr>
              <a:t>0</a:t>
            </a:r>
            <a:endParaRPr lang="en-US" sz="1400" b="1"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Total Submittals: </a:t>
            </a:r>
            <a:r>
              <a:rPr lang="en-US" sz="1400" dirty="0">
                <a:solidFill>
                  <a:srgbClr val="2C6782"/>
                </a:solidFill>
                <a:latin typeface="Gotham" panose="02000504050000020004" pitchFamily="2" charset="0"/>
              </a:rPr>
              <a:t>266</a:t>
            </a:r>
            <a:endParaRPr lang="en-US" sz="1400" b="1" dirty="0">
              <a:solidFill>
                <a:srgbClr val="2C6782"/>
              </a:solidFill>
              <a:latin typeface="Gotham" panose="02000504050000020004" pitchFamily="2" charset="0"/>
            </a:endParaRPr>
          </a:p>
          <a:p>
            <a:pPr algn="justLow"/>
            <a:endParaRPr lang="en-US" sz="1600" dirty="0">
              <a:solidFill>
                <a:srgbClr val="2C6782"/>
              </a:solidFill>
              <a:latin typeface="Gotham" panose="02000504050000020004" pitchFamily="2" charset="0"/>
            </a:endParaRPr>
          </a:p>
          <a:p>
            <a:pPr algn="justLow"/>
            <a:endParaRPr lang="en-US" sz="1600" dirty="0">
              <a:solidFill>
                <a:srgbClr val="2C6782"/>
              </a:solidFill>
              <a:latin typeface="Gotham" panose="02000504050000020004" pitchFamily="2" charset="0"/>
            </a:endParaRPr>
          </a:p>
          <a:p>
            <a:pPr algn="justLow"/>
            <a:endParaRPr lang="en-US" sz="1600" dirty="0">
              <a:solidFill>
                <a:srgbClr val="2C6782"/>
              </a:solidFill>
              <a:latin typeface="Gotham" panose="02000504050000020004" pitchFamily="2" charset="0"/>
            </a:endParaRPr>
          </a:p>
        </p:txBody>
      </p:sp>
      <p:pic>
        <p:nvPicPr>
          <p:cNvPr id="4" name="Picture 3">
            <a:extLst>
              <a:ext uri="{FF2B5EF4-FFF2-40B4-BE49-F238E27FC236}">
                <a16:creationId xmlns:a16="http://schemas.microsoft.com/office/drawing/2014/main" id="{0447218C-659C-CC6A-0EFC-1936E87C0891}"/>
              </a:ext>
            </a:extLst>
          </p:cNvPr>
          <p:cNvPicPr>
            <a:picLocks noChangeAspect="1"/>
          </p:cNvPicPr>
          <p:nvPr/>
        </p:nvPicPr>
        <p:blipFill>
          <a:blip r:embed="rId2"/>
          <a:stretch>
            <a:fillRect/>
          </a:stretch>
        </p:blipFill>
        <p:spPr>
          <a:xfrm>
            <a:off x="3069771" y="1635579"/>
            <a:ext cx="8396494" cy="2019300"/>
          </a:xfrm>
          <a:prstGeom prst="rect">
            <a:avLst/>
          </a:prstGeom>
        </p:spPr>
      </p:pic>
    </p:spTree>
    <p:extLst>
      <p:ext uri="{BB962C8B-B14F-4D97-AF65-F5344CB8AC3E}">
        <p14:creationId xmlns:p14="http://schemas.microsoft.com/office/powerpoint/2010/main" val="3902117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Materials</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2595582"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Material Approval</a:t>
            </a:r>
          </a:p>
        </p:txBody>
      </p:sp>
      <p:sp>
        <p:nvSpPr>
          <p:cNvPr id="23" name="Rectangle 22">
            <a:extLst>
              <a:ext uri="{FF2B5EF4-FFF2-40B4-BE49-F238E27FC236}">
                <a16:creationId xmlns:a16="http://schemas.microsoft.com/office/drawing/2014/main" id="{FD7FFEB4-7FCD-4306-ADCD-061C8FA5AF42}"/>
              </a:ext>
            </a:extLst>
          </p:cNvPr>
          <p:cNvSpPr/>
          <p:nvPr/>
        </p:nvSpPr>
        <p:spPr>
          <a:xfrm>
            <a:off x="449510" y="3882297"/>
            <a:ext cx="10847140" cy="2554545"/>
          </a:xfrm>
          <a:prstGeom prst="rect">
            <a:avLst/>
          </a:prstGeom>
        </p:spPr>
        <p:txBody>
          <a:bodyPr wrap="square">
            <a:spAutoFit/>
          </a:bodyPr>
          <a:lstStyle/>
          <a:p>
            <a:pPr algn="justLow"/>
            <a:r>
              <a:rPr lang="en-US" sz="1400" dirty="0">
                <a:solidFill>
                  <a:srgbClr val="2C6782"/>
                </a:solidFill>
                <a:latin typeface="Gotham" panose="02000504050000020004" pitchFamily="2" charset="0"/>
              </a:rPr>
              <a:t>Contractor should be able to determine all the material that will require prior approval for the project and categorize it into disciplines or per approved WBS.</a:t>
            </a:r>
          </a:p>
          <a:p>
            <a:pPr algn="justLow"/>
            <a:endParaRPr lang="en-US" sz="1400"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Total : </a:t>
            </a:r>
            <a:r>
              <a:rPr lang="en-US" sz="1400" dirty="0">
                <a:solidFill>
                  <a:srgbClr val="2C6782"/>
                </a:solidFill>
                <a:latin typeface="Gotham" panose="02000504050000020004" pitchFamily="2" charset="0"/>
              </a:rPr>
              <a:t>86</a:t>
            </a:r>
          </a:p>
          <a:p>
            <a:pPr algn="justLow"/>
            <a:r>
              <a:rPr lang="en-US" sz="1400" b="1" dirty="0">
                <a:solidFill>
                  <a:srgbClr val="2C6782"/>
                </a:solidFill>
                <a:latin typeface="Gotham" panose="02000504050000020004" pitchFamily="2" charset="0"/>
              </a:rPr>
              <a:t>Total Processed Material Codes (A,B,C,D) : 84</a:t>
            </a:r>
            <a:endParaRPr lang="en-US" sz="1400"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Remaining to Approve: </a:t>
            </a:r>
            <a:r>
              <a:rPr lang="en-US" sz="1400" dirty="0">
                <a:solidFill>
                  <a:srgbClr val="2C6782"/>
                </a:solidFill>
                <a:latin typeface="Gotham" panose="02000504050000020004" pitchFamily="2" charset="0"/>
              </a:rPr>
              <a:t>0</a:t>
            </a:r>
          </a:p>
          <a:p>
            <a:pPr algn="justLow"/>
            <a:r>
              <a:rPr lang="en-US" sz="1400" b="1" dirty="0">
                <a:solidFill>
                  <a:srgbClr val="2C6782"/>
                </a:solidFill>
                <a:latin typeface="Gotham" panose="02000504050000020004" pitchFamily="2" charset="0"/>
              </a:rPr>
              <a:t>Pending Submittal with Consultant: </a:t>
            </a:r>
            <a:r>
              <a:rPr lang="en-US" sz="1400" dirty="0">
                <a:solidFill>
                  <a:srgbClr val="2C6782"/>
                </a:solidFill>
                <a:latin typeface="Gotham" panose="02000504050000020004" pitchFamily="2" charset="0"/>
              </a:rPr>
              <a:t>2</a:t>
            </a:r>
            <a:endParaRPr lang="en-US" sz="1400" b="1"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Total Submittals: </a:t>
            </a:r>
            <a:r>
              <a:rPr lang="en-US" sz="1400" dirty="0">
                <a:solidFill>
                  <a:srgbClr val="2C6782"/>
                </a:solidFill>
                <a:latin typeface="Gotham" panose="02000504050000020004" pitchFamily="2" charset="0"/>
              </a:rPr>
              <a:t>86</a:t>
            </a:r>
            <a:endParaRPr lang="en-US" sz="1400" b="1" dirty="0">
              <a:solidFill>
                <a:srgbClr val="2C6782"/>
              </a:solidFill>
              <a:latin typeface="Gotham" panose="02000504050000020004" pitchFamily="2" charset="0"/>
            </a:endParaRPr>
          </a:p>
          <a:p>
            <a:pPr algn="justLow"/>
            <a:endParaRPr lang="en-US" sz="1600" dirty="0">
              <a:solidFill>
                <a:srgbClr val="2C6782"/>
              </a:solidFill>
              <a:latin typeface="Gotham" panose="02000504050000020004" pitchFamily="2" charset="0"/>
            </a:endParaRPr>
          </a:p>
          <a:p>
            <a:pPr algn="justLow"/>
            <a:endParaRPr lang="en-US" sz="1600" dirty="0">
              <a:solidFill>
                <a:srgbClr val="2C6782"/>
              </a:solidFill>
              <a:latin typeface="Gotham" panose="02000504050000020004" pitchFamily="2" charset="0"/>
            </a:endParaRPr>
          </a:p>
          <a:p>
            <a:pPr algn="justLow"/>
            <a:endParaRPr lang="en-US" sz="1600" dirty="0">
              <a:solidFill>
                <a:srgbClr val="2C6782"/>
              </a:solidFill>
              <a:latin typeface="Gotham" panose="02000504050000020004" pitchFamily="2" charset="0"/>
            </a:endParaRPr>
          </a:p>
        </p:txBody>
      </p:sp>
      <p:pic>
        <p:nvPicPr>
          <p:cNvPr id="4" name="Picture 3">
            <a:extLst>
              <a:ext uri="{FF2B5EF4-FFF2-40B4-BE49-F238E27FC236}">
                <a16:creationId xmlns:a16="http://schemas.microsoft.com/office/drawing/2014/main" id="{7E69FFF5-94E6-E9C7-6261-082176D0FB0A}"/>
              </a:ext>
            </a:extLst>
          </p:cNvPr>
          <p:cNvPicPr>
            <a:picLocks noChangeAspect="1"/>
          </p:cNvPicPr>
          <p:nvPr/>
        </p:nvPicPr>
        <p:blipFill>
          <a:blip r:embed="rId2"/>
          <a:stretch>
            <a:fillRect/>
          </a:stretch>
        </p:blipFill>
        <p:spPr>
          <a:xfrm>
            <a:off x="2957803" y="1639389"/>
            <a:ext cx="8780651" cy="2011680"/>
          </a:xfrm>
          <a:prstGeom prst="rect">
            <a:avLst/>
          </a:prstGeom>
        </p:spPr>
      </p:pic>
    </p:spTree>
    <p:extLst>
      <p:ext uri="{BB962C8B-B14F-4D97-AF65-F5344CB8AC3E}">
        <p14:creationId xmlns:p14="http://schemas.microsoft.com/office/powerpoint/2010/main" val="2634273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Quality </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2307042"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Quality Reports</a:t>
            </a:r>
          </a:p>
        </p:txBody>
      </p:sp>
      <p:sp>
        <p:nvSpPr>
          <p:cNvPr id="23" name="Rectangle 22">
            <a:extLst>
              <a:ext uri="{FF2B5EF4-FFF2-40B4-BE49-F238E27FC236}">
                <a16:creationId xmlns:a16="http://schemas.microsoft.com/office/drawing/2014/main" id="{FD7FFEB4-7FCD-4306-ADCD-061C8FA5AF42}"/>
              </a:ext>
            </a:extLst>
          </p:cNvPr>
          <p:cNvSpPr/>
          <p:nvPr/>
        </p:nvSpPr>
        <p:spPr>
          <a:xfrm>
            <a:off x="449510" y="3882297"/>
            <a:ext cx="10847140" cy="2769989"/>
          </a:xfrm>
          <a:prstGeom prst="rect">
            <a:avLst/>
          </a:prstGeom>
        </p:spPr>
        <p:txBody>
          <a:bodyPr wrap="square">
            <a:spAutoFit/>
          </a:bodyPr>
          <a:lstStyle/>
          <a:p>
            <a:pPr algn="justLow"/>
            <a:r>
              <a:rPr lang="en-US" sz="1400" dirty="0">
                <a:solidFill>
                  <a:srgbClr val="2C6782"/>
                </a:solidFill>
                <a:latin typeface="Gotham" panose="02000504050000020004" pitchFamily="2" charset="0"/>
              </a:rPr>
              <a:t>This section is designed to track the number and status of Non Conformance Report (NRC), Site Instructions (SI), Material Inspection Reports (MIR) and Field Inspection Reports (FIR).</a:t>
            </a:r>
          </a:p>
          <a:p>
            <a:pPr algn="justLow"/>
            <a:endParaRPr lang="en-US" sz="1400"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Issued : </a:t>
            </a:r>
            <a:r>
              <a:rPr lang="en-US" sz="1400" dirty="0">
                <a:solidFill>
                  <a:srgbClr val="2C6782"/>
                </a:solidFill>
                <a:latin typeface="Gotham" panose="02000504050000020004" pitchFamily="2" charset="0"/>
              </a:rPr>
              <a:t>Total items issued by contractor/consultant.</a:t>
            </a:r>
          </a:p>
          <a:p>
            <a:pPr algn="justLow"/>
            <a:r>
              <a:rPr lang="en-US" sz="1400" b="1" dirty="0">
                <a:solidFill>
                  <a:srgbClr val="2C6782"/>
                </a:solidFill>
                <a:latin typeface="Gotham" panose="02000504050000020004" pitchFamily="2" charset="0"/>
              </a:rPr>
              <a:t>Closed : </a:t>
            </a:r>
            <a:r>
              <a:rPr lang="en-US" sz="1400" dirty="0">
                <a:solidFill>
                  <a:srgbClr val="2C6782"/>
                </a:solidFill>
                <a:latin typeface="Gotham" panose="02000504050000020004" pitchFamily="2" charset="0"/>
              </a:rPr>
              <a:t>Total items that has been addressed properly and closed by consultant. </a:t>
            </a:r>
          </a:p>
          <a:p>
            <a:pPr algn="justLow"/>
            <a:r>
              <a:rPr lang="en-US" sz="1400" b="1" dirty="0">
                <a:solidFill>
                  <a:srgbClr val="2C6782"/>
                </a:solidFill>
                <a:latin typeface="Gotham" panose="02000504050000020004" pitchFamily="2" charset="0"/>
              </a:rPr>
              <a:t>Pending: </a:t>
            </a:r>
            <a:r>
              <a:rPr lang="en-US" sz="1400" dirty="0">
                <a:solidFill>
                  <a:srgbClr val="2C6782"/>
                </a:solidFill>
                <a:latin typeface="Gotham" panose="02000504050000020004" pitchFamily="2" charset="0"/>
              </a:rPr>
              <a:t>Total items that are pending action with contractor/consultant that require further action to be properly closed.</a:t>
            </a:r>
          </a:p>
          <a:p>
            <a:pPr algn="justLow"/>
            <a:r>
              <a:rPr lang="en-US" sz="1400" b="1" dirty="0">
                <a:solidFill>
                  <a:srgbClr val="2C6782"/>
                </a:solidFill>
                <a:latin typeface="Gotham" panose="02000504050000020004" pitchFamily="2" charset="0"/>
              </a:rPr>
              <a:t>Average Closing in Days: </a:t>
            </a:r>
            <a:r>
              <a:rPr lang="en-US" sz="1400" dirty="0">
                <a:solidFill>
                  <a:srgbClr val="2C6782"/>
                </a:solidFill>
                <a:latin typeface="Gotham" panose="02000504050000020004" pitchFamily="2" charset="0"/>
              </a:rPr>
              <a:t>This should calculate the actual average duration to close the items in the closed category . </a:t>
            </a:r>
            <a:endParaRPr lang="en-US" sz="1400" b="1"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Pending (Duration): </a:t>
            </a:r>
            <a:r>
              <a:rPr lang="en-US" sz="1400" dirty="0">
                <a:solidFill>
                  <a:srgbClr val="2C6782"/>
                </a:solidFill>
                <a:latin typeface="Gotham" panose="02000504050000020004" pitchFamily="2" charset="0"/>
              </a:rPr>
              <a:t>This should calculate the pending items status in terms of duration elapsed within contractor/consultant.</a:t>
            </a:r>
            <a:endParaRPr lang="en-US" sz="1400" b="1" dirty="0">
              <a:solidFill>
                <a:srgbClr val="2C6782"/>
              </a:solidFill>
              <a:latin typeface="Gotham" panose="02000504050000020004" pitchFamily="2" charset="0"/>
            </a:endParaRPr>
          </a:p>
          <a:p>
            <a:pPr algn="justLow"/>
            <a:endParaRPr lang="en-US" sz="1600" dirty="0">
              <a:solidFill>
                <a:srgbClr val="2C6782"/>
              </a:solidFill>
              <a:latin typeface="Gotham" panose="02000504050000020004" pitchFamily="2" charset="0"/>
            </a:endParaRPr>
          </a:p>
          <a:p>
            <a:pPr algn="justLow"/>
            <a:endParaRPr lang="en-US" sz="1600" dirty="0">
              <a:solidFill>
                <a:srgbClr val="2C6782"/>
              </a:solidFill>
              <a:latin typeface="Gotham" panose="02000504050000020004" pitchFamily="2" charset="0"/>
            </a:endParaRPr>
          </a:p>
          <a:p>
            <a:pPr algn="justLow"/>
            <a:endParaRPr lang="en-US" sz="1600" dirty="0">
              <a:solidFill>
                <a:srgbClr val="2C6782"/>
              </a:solidFill>
              <a:latin typeface="Gotham" panose="02000504050000020004" pitchFamily="2" charset="0"/>
            </a:endParaRPr>
          </a:p>
        </p:txBody>
      </p:sp>
      <p:pic>
        <p:nvPicPr>
          <p:cNvPr id="5" name="Picture 4">
            <a:extLst>
              <a:ext uri="{FF2B5EF4-FFF2-40B4-BE49-F238E27FC236}">
                <a16:creationId xmlns:a16="http://schemas.microsoft.com/office/drawing/2014/main" id="{76435ECD-8024-FA34-12E7-65E5C54C60EE}"/>
              </a:ext>
            </a:extLst>
          </p:cNvPr>
          <p:cNvPicPr>
            <a:picLocks noChangeAspect="1"/>
          </p:cNvPicPr>
          <p:nvPr/>
        </p:nvPicPr>
        <p:blipFill>
          <a:blip r:embed="rId2"/>
          <a:stretch>
            <a:fillRect/>
          </a:stretch>
        </p:blipFill>
        <p:spPr>
          <a:xfrm>
            <a:off x="2890935" y="1513181"/>
            <a:ext cx="8686800" cy="1584960"/>
          </a:xfrm>
          <a:prstGeom prst="rect">
            <a:avLst/>
          </a:prstGeom>
        </p:spPr>
      </p:pic>
    </p:spTree>
    <p:extLst>
      <p:ext uri="{BB962C8B-B14F-4D97-AF65-F5344CB8AC3E}">
        <p14:creationId xmlns:p14="http://schemas.microsoft.com/office/powerpoint/2010/main" val="1491404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Quality</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2026517"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Quality Audit</a:t>
            </a:r>
          </a:p>
        </p:txBody>
      </p:sp>
      <p:sp>
        <p:nvSpPr>
          <p:cNvPr id="23" name="Rectangle 22">
            <a:extLst>
              <a:ext uri="{FF2B5EF4-FFF2-40B4-BE49-F238E27FC236}">
                <a16:creationId xmlns:a16="http://schemas.microsoft.com/office/drawing/2014/main" id="{FD7FFEB4-7FCD-4306-ADCD-061C8FA5AF42}"/>
              </a:ext>
            </a:extLst>
          </p:cNvPr>
          <p:cNvSpPr/>
          <p:nvPr/>
        </p:nvSpPr>
        <p:spPr>
          <a:xfrm>
            <a:off x="725735" y="2560856"/>
            <a:ext cx="5646490" cy="1815882"/>
          </a:xfrm>
          <a:prstGeom prst="rect">
            <a:avLst/>
          </a:prstGeom>
        </p:spPr>
        <p:txBody>
          <a:bodyPr wrap="square">
            <a:spAutoFit/>
          </a:bodyPr>
          <a:lstStyle/>
          <a:p>
            <a:pPr algn="justLow"/>
            <a:r>
              <a:rPr lang="en-US" sz="1400" dirty="0">
                <a:solidFill>
                  <a:srgbClr val="2C6782"/>
                </a:solidFill>
                <a:latin typeface="Gotham" panose="02000504050000020004" pitchFamily="2" charset="0"/>
              </a:rPr>
              <a:t>QC Observation checklist is an audit that PMC consultant will conduct and issue on a weekly basis. </a:t>
            </a:r>
          </a:p>
          <a:p>
            <a:pPr algn="justLow"/>
            <a:endParaRPr lang="en-US" sz="1400" dirty="0">
              <a:solidFill>
                <a:srgbClr val="2C6782"/>
              </a:solidFill>
              <a:latin typeface="Gotham" panose="02000504050000020004" pitchFamily="2" charset="0"/>
            </a:endParaRPr>
          </a:p>
          <a:p>
            <a:pPr algn="justLow"/>
            <a:r>
              <a:rPr lang="en-US" sz="1400" dirty="0">
                <a:solidFill>
                  <a:srgbClr val="2C6782"/>
                </a:solidFill>
                <a:latin typeface="Gotham" panose="02000504050000020004" pitchFamily="2" charset="0"/>
              </a:rPr>
              <a:t>Contractor is required to take the quality control observation checklist and reflect it into the weekly report on weekly basis.</a:t>
            </a:r>
          </a:p>
          <a:p>
            <a:pPr algn="justLow"/>
            <a:endParaRPr lang="en-US" sz="1400" dirty="0">
              <a:solidFill>
                <a:srgbClr val="2C6782"/>
              </a:solidFill>
              <a:latin typeface="Gotham" panose="02000504050000020004" pitchFamily="2" charset="0"/>
            </a:endParaRPr>
          </a:p>
          <a:p>
            <a:pPr algn="justLow"/>
            <a:r>
              <a:rPr lang="en-US" sz="1400" dirty="0">
                <a:solidFill>
                  <a:srgbClr val="2C6782"/>
                </a:solidFill>
                <a:latin typeface="Gotham" panose="02000504050000020004" pitchFamily="2" charset="0"/>
              </a:rPr>
              <a:t>Also, contractor should maintain a log for all weekly audits score and duration required to close all comments. </a:t>
            </a:r>
            <a:endParaRPr lang="en-US" sz="1600" dirty="0">
              <a:solidFill>
                <a:srgbClr val="2C6782"/>
              </a:solidFill>
              <a:latin typeface="Gotham" panose="02000504050000020004" pitchFamily="2" charset="0"/>
            </a:endParaRPr>
          </a:p>
        </p:txBody>
      </p:sp>
      <p:sp>
        <p:nvSpPr>
          <p:cNvPr id="8" name="TextBox 7">
            <a:extLst>
              <a:ext uri="{FF2B5EF4-FFF2-40B4-BE49-F238E27FC236}">
                <a16:creationId xmlns:a16="http://schemas.microsoft.com/office/drawing/2014/main" id="{5FB80CB2-41F7-446C-95E6-65723CCECE8D}"/>
              </a:ext>
            </a:extLst>
          </p:cNvPr>
          <p:cNvSpPr txBox="1"/>
          <p:nvPr/>
        </p:nvSpPr>
        <p:spPr>
          <a:xfrm>
            <a:off x="9285800" y="168362"/>
            <a:ext cx="2350008" cy="1107996"/>
          </a:xfrm>
          <a:prstGeom prst="rect">
            <a:avLst/>
          </a:prstGeom>
          <a:noFill/>
        </p:spPr>
        <p:txBody>
          <a:bodyPr wrap="square" rtlCol="0">
            <a:spAutoFit/>
          </a:bodyPr>
          <a:lstStyle/>
          <a:p>
            <a:r>
              <a:rPr lang="en-US" sz="1100" dirty="0">
                <a:solidFill>
                  <a:srgbClr val="FF0000"/>
                </a:solidFill>
              </a:rPr>
              <a:t>Note that the Quality checklist may get updated from Modon Quality department from time to time.  Site planner to confirm with Modon Project Controls if he has the latest checklist</a:t>
            </a:r>
          </a:p>
        </p:txBody>
      </p:sp>
      <p:pic>
        <p:nvPicPr>
          <p:cNvPr id="5" name="Picture 4">
            <a:extLst>
              <a:ext uri="{FF2B5EF4-FFF2-40B4-BE49-F238E27FC236}">
                <a16:creationId xmlns:a16="http://schemas.microsoft.com/office/drawing/2014/main" id="{5A6EB93B-3DF5-DE1A-3B74-87A42BE10C79}"/>
              </a:ext>
            </a:extLst>
          </p:cNvPr>
          <p:cNvPicPr>
            <a:picLocks noChangeAspect="1"/>
          </p:cNvPicPr>
          <p:nvPr/>
        </p:nvPicPr>
        <p:blipFill>
          <a:blip r:embed="rId2"/>
          <a:stretch>
            <a:fillRect/>
          </a:stretch>
        </p:blipFill>
        <p:spPr>
          <a:xfrm>
            <a:off x="253365" y="4376738"/>
            <a:ext cx="6118860" cy="2340818"/>
          </a:xfrm>
          <a:prstGeom prst="rect">
            <a:avLst/>
          </a:prstGeom>
        </p:spPr>
      </p:pic>
      <p:pic>
        <p:nvPicPr>
          <p:cNvPr id="9" name="Picture 8">
            <a:extLst>
              <a:ext uri="{FF2B5EF4-FFF2-40B4-BE49-F238E27FC236}">
                <a16:creationId xmlns:a16="http://schemas.microsoft.com/office/drawing/2014/main" id="{EC675BBD-44A0-C76A-664B-60E3BE3F442D}"/>
              </a:ext>
            </a:extLst>
          </p:cNvPr>
          <p:cNvPicPr>
            <a:picLocks noChangeAspect="1"/>
          </p:cNvPicPr>
          <p:nvPr/>
        </p:nvPicPr>
        <p:blipFill>
          <a:blip r:embed="rId3"/>
          <a:stretch>
            <a:fillRect/>
          </a:stretch>
        </p:blipFill>
        <p:spPr>
          <a:xfrm>
            <a:off x="6960638" y="1276357"/>
            <a:ext cx="4777064" cy="5206859"/>
          </a:xfrm>
          <a:prstGeom prst="rect">
            <a:avLst/>
          </a:prstGeom>
        </p:spPr>
      </p:pic>
    </p:spTree>
    <p:extLst>
      <p:ext uri="{BB962C8B-B14F-4D97-AF65-F5344CB8AC3E}">
        <p14:creationId xmlns:p14="http://schemas.microsoft.com/office/powerpoint/2010/main" val="3063932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HSE </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4868640"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Health, Safety &amp; Environmental (HSE)</a:t>
            </a:r>
          </a:p>
        </p:txBody>
      </p:sp>
      <p:sp>
        <p:nvSpPr>
          <p:cNvPr id="10" name="Rectangle 9">
            <a:extLst>
              <a:ext uri="{FF2B5EF4-FFF2-40B4-BE49-F238E27FC236}">
                <a16:creationId xmlns:a16="http://schemas.microsoft.com/office/drawing/2014/main" id="{F42C0EAA-55A6-4BDB-B4CD-0EEA6016D698}"/>
              </a:ext>
            </a:extLst>
          </p:cNvPr>
          <p:cNvSpPr/>
          <p:nvPr/>
        </p:nvSpPr>
        <p:spPr>
          <a:xfrm>
            <a:off x="172795" y="3033079"/>
            <a:ext cx="7150565" cy="3477875"/>
          </a:xfrm>
          <a:prstGeom prst="rect">
            <a:avLst/>
          </a:prstGeom>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a:defRPr/>
            </a:pPr>
            <a:r>
              <a:rPr lang="en-US" sz="1100" b="1" dirty="0">
                <a:solidFill>
                  <a:srgbClr val="2C6782"/>
                </a:solidFill>
                <a:latin typeface="Gotham" panose="02000504050000020004" pitchFamily="2" charset="0"/>
              </a:rPr>
              <a:t>Total Hours Worked:</a:t>
            </a:r>
            <a:r>
              <a:rPr lang="en-US" sz="1100" dirty="0">
                <a:solidFill>
                  <a:srgbClr val="2C6782"/>
                </a:solidFill>
                <a:latin typeface="Gotham" panose="02000504050000020004" pitchFamily="2" charset="0"/>
              </a:rPr>
              <a:t>		Total Man-hours worked.</a:t>
            </a:r>
          </a:p>
          <a:p>
            <a:pPr>
              <a:defRPr/>
            </a:pPr>
            <a:r>
              <a:rPr lang="en-US" sz="1100" b="1" dirty="0">
                <a:solidFill>
                  <a:srgbClr val="2C6782"/>
                </a:solidFill>
                <a:latin typeface="Gotham" panose="02000504050000020004" pitchFamily="2" charset="0"/>
              </a:rPr>
              <a:t>Safe Hours Worked: </a:t>
            </a:r>
            <a:r>
              <a:rPr lang="en-US" sz="1100" dirty="0">
                <a:solidFill>
                  <a:srgbClr val="2C6782"/>
                </a:solidFill>
                <a:latin typeface="Gotham" panose="02000504050000020004" pitchFamily="2" charset="0"/>
              </a:rPr>
              <a:t>		Total Safe Man-hours worked Reported Incidents</a:t>
            </a:r>
          </a:p>
          <a:p>
            <a:pPr>
              <a:defRPr/>
            </a:pPr>
            <a:r>
              <a:rPr lang="en-US" sz="1100" b="1" dirty="0">
                <a:solidFill>
                  <a:srgbClr val="2C6782"/>
                </a:solidFill>
                <a:latin typeface="Gotham" panose="02000504050000020004" pitchFamily="2" charset="0"/>
              </a:rPr>
              <a:t>Total Manpower:</a:t>
            </a:r>
            <a:r>
              <a:rPr lang="en-US" sz="1100" dirty="0">
                <a:solidFill>
                  <a:srgbClr val="2C6782"/>
                </a:solidFill>
                <a:latin typeface="Gotham" panose="02000504050000020004" pitchFamily="2" charset="0"/>
              </a:rPr>
              <a:t>		The average number of available manpower on site. </a:t>
            </a:r>
          </a:p>
          <a:p>
            <a:pPr>
              <a:defRPr/>
            </a:pPr>
            <a:r>
              <a:rPr lang="en-US" sz="1100" b="1" dirty="0">
                <a:solidFill>
                  <a:srgbClr val="2C6782"/>
                </a:solidFill>
                <a:latin typeface="Gotham" panose="02000504050000020004" pitchFamily="2" charset="0"/>
              </a:rPr>
              <a:t>Near Misses:</a:t>
            </a:r>
            <a:r>
              <a:rPr lang="en-US" sz="1100" dirty="0">
                <a:solidFill>
                  <a:srgbClr val="2C6782"/>
                </a:solidFill>
                <a:latin typeface="Gotham" panose="02000504050000020004" pitchFamily="2" charset="0"/>
              </a:rPr>
              <a:t>			The number of near misses occurred at the project.</a:t>
            </a:r>
          </a:p>
          <a:p>
            <a:pPr>
              <a:defRPr/>
            </a:pPr>
            <a:r>
              <a:rPr lang="en-US" sz="1100" b="1" dirty="0">
                <a:solidFill>
                  <a:srgbClr val="2C6782"/>
                </a:solidFill>
                <a:latin typeface="Gotham" panose="02000504050000020004" pitchFamily="2" charset="0"/>
              </a:rPr>
              <a:t>Lost Working Days:		</a:t>
            </a:r>
            <a:r>
              <a:rPr lang="en-US" sz="1100" dirty="0">
                <a:solidFill>
                  <a:srgbClr val="2C6782"/>
                </a:solidFill>
                <a:latin typeface="Gotham" panose="02000504050000020004" pitchFamily="2" charset="0"/>
              </a:rPr>
              <a:t>The number of Lost Working Days occurred at the project.</a:t>
            </a:r>
            <a:endParaRPr lang="en-US" sz="1100" b="1" dirty="0">
              <a:solidFill>
                <a:srgbClr val="2C6782"/>
              </a:solidFill>
              <a:latin typeface="Gotham" panose="02000504050000020004" pitchFamily="2" charset="0"/>
            </a:endParaRPr>
          </a:p>
          <a:p>
            <a:pPr>
              <a:defRPr/>
            </a:pPr>
            <a:r>
              <a:rPr lang="en-US" sz="1100" b="1" dirty="0">
                <a:solidFill>
                  <a:srgbClr val="2C6782"/>
                </a:solidFill>
                <a:latin typeface="Gotham" panose="02000504050000020004" pitchFamily="2" charset="0"/>
              </a:rPr>
              <a:t>Fatalities:</a:t>
            </a:r>
            <a:r>
              <a:rPr lang="en-US" sz="1100" dirty="0">
                <a:solidFill>
                  <a:srgbClr val="2C6782"/>
                </a:solidFill>
                <a:latin typeface="Gotham" panose="02000504050000020004" pitchFamily="2" charset="0"/>
              </a:rPr>
              <a:t>			Fatalities occurred in the project.</a:t>
            </a:r>
          </a:p>
          <a:p>
            <a:pPr>
              <a:defRPr/>
            </a:pPr>
            <a:r>
              <a:rPr lang="en-US" sz="1100" b="1" dirty="0">
                <a:solidFill>
                  <a:srgbClr val="2C6782"/>
                </a:solidFill>
                <a:latin typeface="Gotham" panose="02000504050000020004" pitchFamily="2" charset="0"/>
              </a:rPr>
              <a:t>Environmental Incident:		</a:t>
            </a:r>
            <a:r>
              <a:rPr lang="en-US" sz="1100" dirty="0">
                <a:solidFill>
                  <a:srgbClr val="2C6782"/>
                </a:solidFill>
                <a:latin typeface="Gotham" panose="02000504050000020004" pitchFamily="2" charset="0"/>
              </a:rPr>
              <a:t>The number of Lost Working Days occurred at the project.	</a:t>
            </a:r>
          </a:p>
          <a:p>
            <a:pPr>
              <a:defRPr/>
            </a:pPr>
            <a:r>
              <a:rPr lang="en-US" sz="1100" b="1" dirty="0">
                <a:solidFill>
                  <a:srgbClr val="2C6782"/>
                </a:solidFill>
                <a:latin typeface="Gotham" panose="02000504050000020004" pitchFamily="2" charset="0"/>
              </a:rPr>
              <a:t>Medical Treatment:		</a:t>
            </a:r>
            <a:r>
              <a:rPr lang="en-US" sz="1100" dirty="0">
                <a:solidFill>
                  <a:srgbClr val="2C6782"/>
                </a:solidFill>
                <a:latin typeface="Gotham" panose="02000504050000020004" pitchFamily="2" charset="0"/>
              </a:rPr>
              <a:t>The number of Medical treatment occurred at the project.</a:t>
            </a:r>
          </a:p>
          <a:p>
            <a:pPr>
              <a:defRPr/>
            </a:pPr>
            <a:r>
              <a:rPr lang="en-US" sz="1100" b="1" dirty="0">
                <a:solidFill>
                  <a:srgbClr val="2C6782"/>
                </a:solidFill>
                <a:latin typeface="Gotham" panose="02000504050000020004" pitchFamily="2" charset="0"/>
              </a:rPr>
              <a:t>Fire Incident Cases:		</a:t>
            </a:r>
            <a:r>
              <a:rPr lang="en-US" sz="1100" dirty="0">
                <a:solidFill>
                  <a:srgbClr val="2C6782"/>
                </a:solidFill>
                <a:latin typeface="Gotham" panose="02000504050000020004" pitchFamily="2" charset="0"/>
              </a:rPr>
              <a:t>The number of Fire Incident Cases occurred at the project.</a:t>
            </a:r>
          </a:p>
          <a:p>
            <a:pPr>
              <a:defRPr/>
            </a:pPr>
            <a:r>
              <a:rPr lang="en-US" sz="1100" b="1" dirty="0">
                <a:solidFill>
                  <a:srgbClr val="2C6782"/>
                </a:solidFill>
                <a:latin typeface="Gotham" panose="02000504050000020004" pitchFamily="2" charset="0"/>
              </a:rPr>
              <a:t>Property Damage Cases:		</a:t>
            </a:r>
            <a:r>
              <a:rPr lang="en-US" sz="1100" dirty="0">
                <a:solidFill>
                  <a:srgbClr val="2C6782"/>
                </a:solidFill>
                <a:latin typeface="Gotham" panose="02000504050000020004" pitchFamily="2" charset="0"/>
              </a:rPr>
              <a:t>The number of Property Damage Cases occurred at the project.</a:t>
            </a:r>
            <a:endParaRPr lang="en-US" sz="1100" b="1" dirty="0">
              <a:solidFill>
                <a:srgbClr val="2C6782"/>
              </a:solidFill>
              <a:latin typeface="Gotham" panose="02000504050000020004" pitchFamily="2" charset="0"/>
            </a:endParaRPr>
          </a:p>
          <a:p>
            <a:pPr>
              <a:defRPr/>
            </a:pPr>
            <a:r>
              <a:rPr lang="en-US" sz="1100" b="1" dirty="0">
                <a:solidFill>
                  <a:srgbClr val="2C6782"/>
                </a:solidFill>
                <a:latin typeface="Gotham" panose="02000504050000020004" pitchFamily="2" charset="0"/>
              </a:rPr>
              <a:t>Safety Trainings:</a:t>
            </a:r>
            <a:r>
              <a:rPr lang="en-US" sz="1100" dirty="0">
                <a:solidFill>
                  <a:srgbClr val="2C6782"/>
                </a:solidFill>
                <a:latin typeface="Gotham" panose="02000504050000020004" pitchFamily="2" charset="0"/>
              </a:rPr>
              <a:t>		The number of Safety Trainings Conducted at the project.</a:t>
            </a:r>
          </a:p>
          <a:p>
            <a:pPr>
              <a:defRPr/>
            </a:pPr>
            <a:r>
              <a:rPr lang="en-US" sz="1100" b="1" dirty="0">
                <a:solidFill>
                  <a:srgbClr val="2C6782"/>
                </a:solidFill>
                <a:latin typeface="Gotham" panose="02000504050000020004" pitchFamily="2" charset="0"/>
              </a:rPr>
              <a:t>Induction Training:		</a:t>
            </a:r>
            <a:r>
              <a:rPr lang="en-US" sz="1100" dirty="0">
                <a:solidFill>
                  <a:srgbClr val="2C6782"/>
                </a:solidFill>
                <a:latin typeface="Gotham" panose="02000504050000020004" pitchFamily="2" charset="0"/>
              </a:rPr>
              <a:t>The number of Induction training at the project.</a:t>
            </a:r>
            <a:endParaRPr lang="en-US" sz="1100" b="1" dirty="0">
              <a:solidFill>
                <a:srgbClr val="2C6782"/>
              </a:solidFill>
              <a:latin typeface="Gotham" panose="02000504050000020004" pitchFamily="2" charset="0"/>
            </a:endParaRPr>
          </a:p>
          <a:p>
            <a:pPr>
              <a:defRPr/>
            </a:pPr>
            <a:r>
              <a:rPr lang="en-US" sz="1100" b="1" dirty="0">
                <a:solidFill>
                  <a:srgbClr val="2C6782"/>
                </a:solidFill>
                <a:latin typeface="Gotham" panose="02000504050000020004" pitchFamily="2" charset="0"/>
              </a:rPr>
              <a:t>Toolbox Talks:		</a:t>
            </a:r>
            <a:r>
              <a:rPr lang="en-US" sz="1100" dirty="0">
                <a:solidFill>
                  <a:srgbClr val="2C6782"/>
                </a:solidFill>
                <a:latin typeface="Gotham" panose="02000504050000020004" pitchFamily="2" charset="0"/>
              </a:rPr>
              <a:t>The number of Toolbox talks occurred at the project.</a:t>
            </a:r>
          </a:p>
          <a:p>
            <a:pPr>
              <a:defRPr/>
            </a:pPr>
            <a:r>
              <a:rPr lang="en-US" sz="1100" b="1" dirty="0">
                <a:solidFill>
                  <a:srgbClr val="2C6782"/>
                </a:solidFill>
                <a:latin typeface="Gotham" panose="02000504050000020004" pitchFamily="2" charset="0"/>
              </a:rPr>
              <a:t>Award Recognition:		</a:t>
            </a:r>
            <a:r>
              <a:rPr lang="en-US" sz="1100" dirty="0">
                <a:solidFill>
                  <a:srgbClr val="2C6782"/>
                </a:solidFill>
                <a:latin typeface="Gotham" panose="02000504050000020004" pitchFamily="2" charset="0"/>
              </a:rPr>
              <a:t>The number of Award recognition at the project.</a:t>
            </a:r>
          </a:p>
          <a:p>
            <a:pPr>
              <a:defRPr/>
            </a:pPr>
            <a:r>
              <a:rPr lang="en-US" sz="1100" b="1" dirty="0">
                <a:solidFill>
                  <a:srgbClr val="2C6782"/>
                </a:solidFill>
                <a:latin typeface="Gotham" panose="02000504050000020004" pitchFamily="2" charset="0"/>
              </a:rPr>
              <a:t>Inspection Conducted by Consultant:	</a:t>
            </a:r>
            <a:r>
              <a:rPr lang="en-US" sz="1100" dirty="0">
                <a:solidFill>
                  <a:srgbClr val="2C6782"/>
                </a:solidFill>
                <a:latin typeface="Gotham" panose="02000504050000020004" pitchFamily="2" charset="0"/>
              </a:rPr>
              <a:t>The number of inspection conducted by PMC consultant at the project.</a:t>
            </a:r>
          </a:p>
          <a:p>
            <a:pPr>
              <a:defRPr/>
            </a:pPr>
            <a:r>
              <a:rPr lang="en-US" sz="1100" b="1" dirty="0">
                <a:solidFill>
                  <a:srgbClr val="2C6782"/>
                </a:solidFill>
                <a:latin typeface="Gotham" panose="02000504050000020004" pitchFamily="2" charset="0"/>
              </a:rPr>
              <a:t>Inspection Conducted by Client:	</a:t>
            </a:r>
            <a:r>
              <a:rPr lang="en-US" sz="1100" dirty="0">
                <a:solidFill>
                  <a:srgbClr val="2C6782"/>
                </a:solidFill>
                <a:latin typeface="Gotham" panose="02000504050000020004" pitchFamily="2" charset="0"/>
              </a:rPr>
              <a:t>The number of inspection conducted by client or client representative at the project.</a:t>
            </a:r>
          </a:p>
        </p:txBody>
      </p:sp>
      <p:pic>
        <p:nvPicPr>
          <p:cNvPr id="5" name="Picture 4">
            <a:extLst>
              <a:ext uri="{FF2B5EF4-FFF2-40B4-BE49-F238E27FC236}">
                <a16:creationId xmlns:a16="http://schemas.microsoft.com/office/drawing/2014/main" id="{F07B77AB-165D-CA37-6A0E-E93E1A53DAA3}"/>
              </a:ext>
            </a:extLst>
          </p:cNvPr>
          <p:cNvPicPr>
            <a:picLocks noChangeAspect="1"/>
          </p:cNvPicPr>
          <p:nvPr/>
        </p:nvPicPr>
        <p:blipFill>
          <a:blip r:embed="rId2"/>
          <a:stretch>
            <a:fillRect/>
          </a:stretch>
        </p:blipFill>
        <p:spPr>
          <a:xfrm>
            <a:off x="7231223" y="1276357"/>
            <a:ext cx="4787981" cy="4000500"/>
          </a:xfrm>
          <a:prstGeom prst="rect">
            <a:avLst/>
          </a:prstGeom>
        </p:spPr>
      </p:pic>
    </p:spTree>
    <p:extLst>
      <p:ext uri="{BB962C8B-B14F-4D97-AF65-F5344CB8AC3E}">
        <p14:creationId xmlns:p14="http://schemas.microsoft.com/office/powerpoint/2010/main" val="9738636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HSE </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5694188"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Health, Safety &amp; Environmental (HSE) Audits</a:t>
            </a:r>
          </a:p>
        </p:txBody>
      </p:sp>
      <p:sp>
        <p:nvSpPr>
          <p:cNvPr id="13" name="Rectangle 12">
            <a:extLst>
              <a:ext uri="{FF2B5EF4-FFF2-40B4-BE49-F238E27FC236}">
                <a16:creationId xmlns:a16="http://schemas.microsoft.com/office/drawing/2014/main" id="{448A0D87-7DF7-4AA8-B7EF-98889287FE5D}"/>
              </a:ext>
            </a:extLst>
          </p:cNvPr>
          <p:cNvSpPr/>
          <p:nvPr/>
        </p:nvSpPr>
        <p:spPr>
          <a:xfrm>
            <a:off x="725735" y="2560856"/>
            <a:ext cx="5646490" cy="2031325"/>
          </a:xfrm>
          <a:prstGeom prst="rect">
            <a:avLst/>
          </a:prstGeom>
        </p:spPr>
        <p:txBody>
          <a:bodyPr wrap="square">
            <a:spAutoFit/>
          </a:bodyPr>
          <a:lstStyle/>
          <a:p>
            <a:pPr algn="justLow"/>
            <a:r>
              <a:rPr lang="en-US" sz="1400" dirty="0">
                <a:solidFill>
                  <a:srgbClr val="2C6782"/>
                </a:solidFill>
                <a:latin typeface="Gotham" panose="02000504050000020004" pitchFamily="2" charset="0"/>
              </a:rPr>
              <a:t>HSE Site Inspection Report is an audit that PMC consultant will conduct and issue on a weekly basis. </a:t>
            </a:r>
          </a:p>
          <a:p>
            <a:pPr algn="justLow"/>
            <a:endParaRPr lang="en-US" sz="1400" dirty="0">
              <a:solidFill>
                <a:srgbClr val="2C6782"/>
              </a:solidFill>
              <a:latin typeface="Gotham" panose="02000504050000020004" pitchFamily="2" charset="0"/>
            </a:endParaRPr>
          </a:p>
          <a:p>
            <a:pPr algn="justLow"/>
            <a:r>
              <a:rPr lang="en-US" sz="1400" dirty="0">
                <a:solidFill>
                  <a:srgbClr val="2C6782"/>
                </a:solidFill>
                <a:latin typeface="Gotham" panose="02000504050000020004" pitchFamily="2" charset="0"/>
              </a:rPr>
              <a:t>Contractor is required to take the HSE Inspection Report Summary sheet and reflect it into the weekly report on weekly basis.</a:t>
            </a:r>
          </a:p>
          <a:p>
            <a:pPr algn="justLow"/>
            <a:endParaRPr lang="en-US" sz="1400" dirty="0">
              <a:solidFill>
                <a:srgbClr val="2C6782"/>
              </a:solidFill>
              <a:latin typeface="Gotham" panose="02000504050000020004" pitchFamily="2" charset="0"/>
            </a:endParaRPr>
          </a:p>
          <a:p>
            <a:pPr algn="justLow"/>
            <a:r>
              <a:rPr lang="en-US" sz="1400" dirty="0">
                <a:solidFill>
                  <a:srgbClr val="2C6782"/>
                </a:solidFill>
                <a:latin typeface="Gotham" panose="02000504050000020004" pitchFamily="2" charset="0"/>
              </a:rPr>
              <a:t>Also, contractor should maintain a log for all weekly audits score and duration required to close all comments. </a:t>
            </a:r>
            <a:endParaRPr lang="en-US" sz="1600" dirty="0">
              <a:solidFill>
                <a:srgbClr val="2C6782"/>
              </a:solidFill>
              <a:latin typeface="Gotham" panose="02000504050000020004" pitchFamily="2" charset="0"/>
            </a:endParaRPr>
          </a:p>
        </p:txBody>
      </p:sp>
      <p:sp>
        <p:nvSpPr>
          <p:cNvPr id="7" name="TextBox 6">
            <a:extLst>
              <a:ext uri="{FF2B5EF4-FFF2-40B4-BE49-F238E27FC236}">
                <a16:creationId xmlns:a16="http://schemas.microsoft.com/office/drawing/2014/main" id="{F10EF5C6-2C50-4015-9791-6039A7BEF5B5}"/>
              </a:ext>
            </a:extLst>
          </p:cNvPr>
          <p:cNvSpPr txBox="1"/>
          <p:nvPr/>
        </p:nvSpPr>
        <p:spPr>
          <a:xfrm>
            <a:off x="9285800" y="168362"/>
            <a:ext cx="2350008" cy="1107996"/>
          </a:xfrm>
          <a:prstGeom prst="rect">
            <a:avLst/>
          </a:prstGeom>
          <a:noFill/>
        </p:spPr>
        <p:txBody>
          <a:bodyPr wrap="square" rtlCol="0">
            <a:spAutoFit/>
          </a:bodyPr>
          <a:lstStyle/>
          <a:p>
            <a:r>
              <a:rPr lang="en-US" sz="1100" dirty="0">
                <a:solidFill>
                  <a:srgbClr val="FF0000"/>
                </a:solidFill>
              </a:rPr>
              <a:t>Note that the HSE checklist may get updated from Modon Safety department from time to time.  Site planner to confirm with Modon Project Controls if he has the latest checklist</a:t>
            </a:r>
          </a:p>
        </p:txBody>
      </p:sp>
      <p:pic>
        <p:nvPicPr>
          <p:cNvPr id="5" name="Picture 4">
            <a:extLst>
              <a:ext uri="{FF2B5EF4-FFF2-40B4-BE49-F238E27FC236}">
                <a16:creationId xmlns:a16="http://schemas.microsoft.com/office/drawing/2014/main" id="{A32B1B51-D77A-F1F0-5CE8-EB5B894C64A9}"/>
              </a:ext>
            </a:extLst>
          </p:cNvPr>
          <p:cNvPicPr>
            <a:picLocks noChangeAspect="1"/>
          </p:cNvPicPr>
          <p:nvPr/>
        </p:nvPicPr>
        <p:blipFill>
          <a:blip r:embed="rId2"/>
          <a:stretch>
            <a:fillRect/>
          </a:stretch>
        </p:blipFill>
        <p:spPr>
          <a:xfrm>
            <a:off x="285128" y="4352290"/>
            <a:ext cx="6134795" cy="2031326"/>
          </a:xfrm>
          <a:prstGeom prst="rect">
            <a:avLst/>
          </a:prstGeom>
        </p:spPr>
      </p:pic>
      <p:pic>
        <p:nvPicPr>
          <p:cNvPr id="9" name="Picture 8">
            <a:extLst>
              <a:ext uri="{FF2B5EF4-FFF2-40B4-BE49-F238E27FC236}">
                <a16:creationId xmlns:a16="http://schemas.microsoft.com/office/drawing/2014/main" id="{0E55ABCE-5B42-A38C-3D64-373D35F4284F}"/>
              </a:ext>
            </a:extLst>
          </p:cNvPr>
          <p:cNvPicPr>
            <a:picLocks noChangeAspect="1"/>
          </p:cNvPicPr>
          <p:nvPr/>
        </p:nvPicPr>
        <p:blipFill>
          <a:blip r:embed="rId3"/>
          <a:stretch>
            <a:fillRect/>
          </a:stretch>
        </p:blipFill>
        <p:spPr>
          <a:xfrm>
            <a:off x="7231391" y="1343608"/>
            <a:ext cx="4675481" cy="5514392"/>
          </a:xfrm>
          <a:prstGeom prst="rect">
            <a:avLst/>
          </a:prstGeom>
        </p:spPr>
      </p:pic>
    </p:spTree>
    <p:extLst>
      <p:ext uri="{BB962C8B-B14F-4D97-AF65-F5344CB8AC3E}">
        <p14:creationId xmlns:p14="http://schemas.microsoft.com/office/powerpoint/2010/main" val="3052063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2" y="543146"/>
            <a:ext cx="9770937" cy="733211"/>
          </a:xfrm>
        </p:spPr>
        <p:txBody>
          <a:bodyPr/>
          <a:lstStyle/>
          <a:p>
            <a:pPr algn="l"/>
            <a:r>
              <a:rPr lang="en-US" dirty="0"/>
              <a:t>Weekly Report Areas / Invoices</a:t>
            </a:r>
          </a:p>
        </p:txBody>
      </p:sp>
      <p:sp>
        <p:nvSpPr>
          <p:cNvPr id="15" name="Rectangle 14">
            <a:extLst>
              <a:ext uri="{FF2B5EF4-FFF2-40B4-BE49-F238E27FC236}">
                <a16:creationId xmlns:a16="http://schemas.microsoft.com/office/drawing/2014/main" id="{0C1DAC87-0392-4D38-B0C1-DB39DBD94634}"/>
              </a:ext>
            </a:extLst>
          </p:cNvPr>
          <p:cNvSpPr/>
          <p:nvPr/>
        </p:nvSpPr>
        <p:spPr>
          <a:xfrm>
            <a:off x="1195519" y="1276357"/>
            <a:ext cx="1837362"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Invoice Log</a:t>
            </a:r>
          </a:p>
        </p:txBody>
      </p:sp>
      <p:sp>
        <p:nvSpPr>
          <p:cNvPr id="7" name="Rectangle 6">
            <a:extLst>
              <a:ext uri="{FF2B5EF4-FFF2-40B4-BE49-F238E27FC236}">
                <a16:creationId xmlns:a16="http://schemas.microsoft.com/office/drawing/2014/main" id="{C9B7C1C6-3980-4061-9610-71D7C765B35C}"/>
              </a:ext>
            </a:extLst>
          </p:cNvPr>
          <p:cNvSpPr/>
          <p:nvPr/>
        </p:nvSpPr>
        <p:spPr>
          <a:xfrm>
            <a:off x="243744" y="2600479"/>
            <a:ext cx="11704512" cy="4185761"/>
          </a:xfrm>
          <a:prstGeom prst="rect">
            <a:avLst/>
          </a:prstGeom>
        </p:spPr>
        <p:txBody>
          <a:bodyPr wrap="square">
            <a:spAutoFit/>
          </a:bodyPr>
          <a:lstStyle/>
          <a:p>
            <a:pPr algn="justLow"/>
            <a:r>
              <a:rPr lang="en-US" sz="1400" b="1" dirty="0">
                <a:solidFill>
                  <a:srgbClr val="2C6782"/>
                </a:solidFill>
                <a:latin typeface="Gotham" panose="02000504050000020004" pitchFamily="2" charset="0"/>
              </a:rPr>
              <a:t>Invoice Log</a:t>
            </a:r>
            <a:r>
              <a:rPr lang="en-US" sz="1400" dirty="0">
                <a:solidFill>
                  <a:srgbClr val="2C6782"/>
                </a:solidFill>
                <a:latin typeface="Gotham" panose="02000504050000020004" pitchFamily="2" charset="0"/>
              </a:rPr>
              <a:t> will contain the details of each invoice submitted to MODON</a:t>
            </a:r>
          </a:p>
          <a:p>
            <a:pPr algn="justLow"/>
            <a:endParaRPr lang="en-US" sz="1400"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Gross Value : </a:t>
            </a:r>
            <a:r>
              <a:rPr lang="en-US" sz="1400" dirty="0">
                <a:solidFill>
                  <a:srgbClr val="2C6782"/>
                </a:solidFill>
                <a:latin typeface="Gotham" panose="02000504050000020004" pitchFamily="2" charset="0"/>
              </a:rPr>
              <a:t>		Gross Value of the invoice</a:t>
            </a:r>
          </a:p>
          <a:p>
            <a:pPr algn="justLow"/>
            <a:r>
              <a:rPr lang="en-US" sz="1400" b="1" dirty="0">
                <a:solidFill>
                  <a:srgbClr val="2C6782"/>
                </a:solidFill>
                <a:latin typeface="Gotham" panose="02000504050000020004" pitchFamily="2" charset="0"/>
              </a:rPr>
              <a:t>AP Recovery:</a:t>
            </a:r>
            <a:r>
              <a:rPr lang="en-US" sz="1400" dirty="0">
                <a:solidFill>
                  <a:srgbClr val="2C6782"/>
                </a:solidFill>
                <a:latin typeface="Gotham" panose="02000504050000020004" pitchFamily="2" charset="0"/>
              </a:rPr>
              <a:t>		Advance Payment recovery deducted from the invoice. </a:t>
            </a:r>
          </a:p>
          <a:p>
            <a:pPr algn="justLow"/>
            <a:r>
              <a:rPr lang="en-US" sz="1400" b="1" dirty="0">
                <a:solidFill>
                  <a:srgbClr val="2C6782"/>
                </a:solidFill>
                <a:latin typeface="Gotham" panose="02000504050000020004" pitchFamily="2" charset="0"/>
              </a:rPr>
              <a:t>Retention:</a:t>
            </a:r>
            <a:r>
              <a:rPr lang="en-US" sz="1400" dirty="0">
                <a:solidFill>
                  <a:srgbClr val="2C6782"/>
                </a:solidFill>
                <a:latin typeface="Gotham" panose="02000504050000020004" pitchFamily="2" charset="0"/>
              </a:rPr>
              <a:t>		Retention recovered from the invoice.</a:t>
            </a:r>
          </a:p>
          <a:p>
            <a:pPr algn="justLow"/>
            <a:r>
              <a:rPr lang="en-US" sz="1400" b="1" dirty="0">
                <a:solidFill>
                  <a:srgbClr val="2C6782"/>
                </a:solidFill>
                <a:latin typeface="Gotham" panose="02000504050000020004" pitchFamily="2" charset="0"/>
              </a:rPr>
              <a:t>Deduction/Penalties:</a:t>
            </a:r>
            <a:r>
              <a:rPr lang="en-US" sz="1400" dirty="0">
                <a:solidFill>
                  <a:srgbClr val="2C6782"/>
                </a:solidFill>
                <a:latin typeface="Gotham" panose="02000504050000020004" pitchFamily="2" charset="0"/>
              </a:rPr>
              <a:t>	amount of deduction or penalties have been applied to the invoice.	</a:t>
            </a:r>
          </a:p>
          <a:p>
            <a:pPr algn="justLow"/>
            <a:r>
              <a:rPr lang="en-US" sz="1400" b="1" dirty="0">
                <a:solidFill>
                  <a:srgbClr val="2C6782"/>
                </a:solidFill>
                <a:latin typeface="Gotham" panose="02000504050000020004" pitchFamily="2" charset="0"/>
              </a:rPr>
              <a:t>Amount (Net):</a:t>
            </a:r>
            <a:r>
              <a:rPr lang="en-US" sz="1400" dirty="0">
                <a:solidFill>
                  <a:srgbClr val="2C6782"/>
                </a:solidFill>
                <a:latin typeface="Gotham" panose="02000504050000020004" pitchFamily="2" charset="0"/>
              </a:rPr>
              <a:t>		Calculated automatically based on gross value and all deductions.</a:t>
            </a:r>
          </a:p>
          <a:p>
            <a:pPr algn="justLow"/>
            <a:r>
              <a:rPr lang="en-US" sz="1400" b="1" dirty="0">
                <a:solidFill>
                  <a:srgbClr val="2C6782"/>
                </a:solidFill>
                <a:latin typeface="Gotham" panose="02000504050000020004" pitchFamily="2" charset="0"/>
              </a:rPr>
              <a:t>Start/End Date:</a:t>
            </a:r>
            <a:r>
              <a:rPr lang="en-US" sz="1400" dirty="0">
                <a:solidFill>
                  <a:srgbClr val="2C6782"/>
                </a:solidFill>
                <a:latin typeface="Gotham" panose="02000504050000020004" pitchFamily="2" charset="0"/>
              </a:rPr>
              <a:t>		Period of the invoice</a:t>
            </a:r>
          </a:p>
          <a:p>
            <a:pPr algn="justLow"/>
            <a:r>
              <a:rPr lang="en-US" sz="1400" b="1" dirty="0">
                <a:solidFill>
                  <a:srgbClr val="2C6782"/>
                </a:solidFill>
                <a:latin typeface="Gotham" panose="02000504050000020004" pitchFamily="2" charset="0"/>
              </a:rPr>
              <a:t>Date to CM:</a:t>
            </a:r>
            <a:r>
              <a:rPr lang="en-US" sz="1400" dirty="0">
                <a:solidFill>
                  <a:srgbClr val="2C6782"/>
                </a:solidFill>
                <a:latin typeface="Gotham" panose="02000504050000020004" pitchFamily="2" charset="0"/>
              </a:rPr>
              <a:t>		Date the contractor sent the invoice to consultant for approval.</a:t>
            </a:r>
          </a:p>
          <a:p>
            <a:pPr algn="justLow"/>
            <a:r>
              <a:rPr lang="en-US" sz="1400" b="1" dirty="0">
                <a:solidFill>
                  <a:srgbClr val="2C6782"/>
                </a:solidFill>
                <a:latin typeface="Gotham" panose="02000504050000020004" pitchFamily="2" charset="0"/>
              </a:rPr>
              <a:t>CM Approval:</a:t>
            </a:r>
            <a:r>
              <a:rPr lang="en-US" sz="1400" dirty="0">
                <a:solidFill>
                  <a:srgbClr val="2C6782"/>
                </a:solidFill>
                <a:latin typeface="Gotham" panose="02000504050000020004" pitchFamily="2" charset="0"/>
              </a:rPr>
              <a:t>		Dropdown list (Y/N). If consultant approved the invoice should show “Y”. Otherwise, “N”.</a:t>
            </a:r>
          </a:p>
          <a:p>
            <a:pPr algn="justLow"/>
            <a:r>
              <a:rPr lang="en-US" sz="1400" b="1" dirty="0">
                <a:solidFill>
                  <a:srgbClr val="2C6782"/>
                </a:solidFill>
                <a:latin typeface="Gotham" panose="02000504050000020004" pitchFamily="2" charset="0"/>
              </a:rPr>
              <a:t>CM Reply Date:</a:t>
            </a:r>
            <a:r>
              <a:rPr lang="en-US" sz="1400" dirty="0">
                <a:solidFill>
                  <a:srgbClr val="2C6782"/>
                </a:solidFill>
                <a:latin typeface="Gotham" panose="02000504050000020004" pitchFamily="2" charset="0"/>
              </a:rPr>
              <a:t>		Consultant approval date.</a:t>
            </a:r>
          </a:p>
          <a:p>
            <a:pPr algn="justLow"/>
            <a:r>
              <a:rPr lang="en-US" sz="1400" b="1" dirty="0">
                <a:solidFill>
                  <a:srgbClr val="2C6782"/>
                </a:solidFill>
                <a:latin typeface="Gotham" panose="02000504050000020004" pitchFamily="2" charset="0"/>
              </a:rPr>
              <a:t>Date to PM:</a:t>
            </a:r>
            <a:r>
              <a:rPr lang="en-US" sz="1400" dirty="0">
                <a:solidFill>
                  <a:srgbClr val="2C6782"/>
                </a:solidFill>
                <a:latin typeface="Gotham" panose="02000504050000020004" pitchFamily="2" charset="0"/>
              </a:rPr>
              <a:t>		Date the consultant sent the invoice to MODON for approval.</a:t>
            </a:r>
          </a:p>
          <a:p>
            <a:pPr algn="justLow"/>
            <a:r>
              <a:rPr lang="en-US" sz="1400" b="1" dirty="0">
                <a:solidFill>
                  <a:srgbClr val="2C6782"/>
                </a:solidFill>
                <a:latin typeface="Gotham" panose="02000504050000020004" pitchFamily="2" charset="0"/>
              </a:rPr>
              <a:t>PM Approval:</a:t>
            </a:r>
            <a:r>
              <a:rPr lang="en-US" sz="1400" dirty="0">
                <a:solidFill>
                  <a:srgbClr val="2C6782"/>
                </a:solidFill>
                <a:latin typeface="Gotham" panose="02000504050000020004" pitchFamily="2" charset="0"/>
              </a:rPr>
              <a:t>		Dropdown list (Y/N). If MODON PM approved the invoice should show “Y”. Otherwise, “N”.</a:t>
            </a:r>
          </a:p>
          <a:p>
            <a:pPr algn="justLow"/>
            <a:r>
              <a:rPr lang="en-US" sz="1400" b="1" dirty="0">
                <a:solidFill>
                  <a:srgbClr val="2C6782"/>
                </a:solidFill>
                <a:latin typeface="Gotham" panose="02000504050000020004" pitchFamily="2" charset="0"/>
              </a:rPr>
              <a:t>PM Reply Date:</a:t>
            </a:r>
            <a:r>
              <a:rPr lang="en-US" sz="1400" dirty="0">
                <a:solidFill>
                  <a:srgbClr val="2C6782"/>
                </a:solidFill>
                <a:latin typeface="Gotham" panose="02000504050000020004" pitchFamily="2" charset="0"/>
              </a:rPr>
              <a:t>		MODON PM approval date.</a:t>
            </a:r>
          </a:p>
          <a:p>
            <a:pPr algn="justLow"/>
            <a:r>
              <a:rPr lang="en-US" sz="1400" b="1" dirty="0">
                <a:solidFill>
                  <a:srgbClr val="2C6782"/>
                </a:solidFill>
                <a:latin typeface="Gotham" panose="02000504050000020004" pitchFamily="2" charset="0"/>
              </a:rPr>
              <a:t>Date to Accounts:</a:t>
            </a:r>
            <a:r>
              <a:rPr lang="en-US" sz="1400" dirty="0">
                <a:solidFill>
                  <a:srgbClr val="2C6782"/>
                </a:solidFill>
                <a:latin typeface="Gotham" panose="02000504050000020004" pitchFamily="2" charset="0"/>
              </a:rPr>
              <a:t>		Date sent the invoice to accounts for processing.</a:t>
            </a:r>
          </a:p>
          <a:p>
            <a:pPr algn="justLow"/>
            <a:r>
              <a:rPr lang="en-US" sz="1400" b="1" dirty="0">
                <a:solidFill>
                  <a:srgbClr val="2C6782"/>
                </a:solidFill>
                <a:latin typeface="Gotham" panose="02000504050000020004" pitchFamily="2" charset="0"/>
              </a:rPr>
              <a:t>Account Approval:	</a:t>
            </a:r>
            <a:r>
              <a:rPr lang="en-US" sz="1400" dirty="0">
                <a:solidFill>
                  <a:srgbClr val="2C6782"/>
                </a:solidFill>
                <a:latin typeface="Gotham" panose="02000504050000020004" pitchFamily="2" charset="0"/>
              </a:rPr>
              <a:t>	Dropdown list (Y/N). If MODON accounts approved the invoice should show “Y”. Otherwise, “N”.</a:t>
            </a:r>
          </a:p>
          <a:p>
            <a:pPr algn="justLow"/>
            <a:r>
              <a:rPr lang="en-US" sz="1400" b="1" dirty="0">
                <a:solidFill>
                  <a:srgbClr val="2C6782"/>
                </a:solidFill>
                <a:latin typeface="Gotham" panose="02000504050000020004" pitchFamily="2" charset="0"/>
              </a:rPr>
              <a:t>Account Reply Date:</a:t>
            </a:r>
            <a:r>
              <a:rPr lang="en-US" sz="1400" dirty="0">
                <a:solidFill>
                  <a:srgbClr val="2C6782"/>
                </a:solidFill>
                <a:latin typeface="Gotham" panose="02000504050000020004" pitchFamily="2" charset="0"/>
              </a:rPr>
              <a:t>	MODON Account approval Date.</a:t>
            </a:r>
          </a:p>
          <a:p>
            <a:pPr algn="justLow"/>
            <a:r>
              <a:rPr lang="en-US" sz="1400" b="1" dirty="0">
                <a:solidFill>
                  <a:srgbClr val="2C6782"/>
                </a:solidFill>
                <a:latin typeface="Gotham" panose="02000504050000020004" pitchFamily="2" charset="0"/>
              </a:rPr>
              <a:t>Amount Paid:</a:t>
            </a:r>
            <a:r>
              <a:rPr lang="en-US" sz="1400" dirty="0">
                <a:solidFill>
                  <a:srgbClr val="2C6782"/>
                </a:solidFill>
                <a:latin typeface="Gotham" panose="02000504050000020004" pitchFamily="2" charset="0"/>
              </a:rPr>
              <a:t>		Amount paid to the contractor. </a:t>
            </a:r>
          </a:p>
          <a:p>
            <a:pPr algn="justLow"/>
            <a:r>
              <a:rPr lang="en-US" sz="1400" b="1" dirty="0">
                <a:solidFill>
                  <a:srgbClr val="2C6782"/>
                </a:solidFill>
                <a:latin typeface="Gotham" panose="02000504050000020004" pitchFamily="2" charset="0"/>
              </a:rPr>
              <a:t>Remarks:	</a:t>
            </a:r>
            <a:r>
              <a:rPr lang="en-US" sz="1400" dirty="0">
                <a:solidFill>
                  <a:srgbClr val="2C6782"/>
                </a:solidFill>
                <a:latin typeface="Gotham" panose="02000504050000020004" pitchFamily="2" charset="0"/>
              </a:rPr>
              <a:t>		Any remarks related to the invoice. </a:t>
            </a:r>
          </a:p>
        </p:txBody>
      </p:sp>
      <p:pic>
        <p:nvPicPr>
          <p:cNvPr id="4" name="Picture 3">
            <a:extLst>
              <a:ext uri="{FF2B5EF4-FFF2-40B4-BE49-F238E27FC236}">
                <a16:creationId xmlns:a16="http://schemas.microsoft.com/office/drawing/2014/main" id="{38CADE8B-FDCE-F1EC-B9BB-E3F12526C0BF}"/>
              </a:ext>
            </a:extLst>
          </p:cNvPr>
          <p:cNvPicPr>
            <a:picLocks noChangeAspect="1"/>
          </p:cNvPicPr>
          <p:nvPr/>
        </p:nvPicPr>
        <p:blipFill>
          <a:blip r:embed="rId2"/>
          <a:stretch>
            <a:fillRect/>
          </a:stretch>
        </p:blipFill>
        <p:spPr>
          <a:xfrm>
            <a:off x="243744" y="1056474"/>
            <a:ext cx="10962321" cy="1544005"/>
          </a:xfrm>
          <a:prstGeom prst="rect">
            <a:avLst/>
          </a:prstGeom>
        </p:spPr>
      </p:pic>
    </p:spTree>
    <p:extLst>
      <p:ext uri="{BB962C8B-B14F-4D97-AF65-F5344CB8AC3E}">
        <p14:creationId xmlns:p14="http://schemas.microsoft.com/office/powerpoint/2010/main" val="29999986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2" y="543146"/>
            <a:ext cx="9770937" cy="733211"/>
          </a:xfrm>
        </p:spPr>
        <p:txBody>
          <a:bodyPr/>
          <a:lstStyle/>
          <a:p>
            <a:pPr algn="l"/>
            <a:r>
              <a:rPr lang="en-US" dirty="0"/>
              <a:t>Weekly Report Areas / Invoices</a:t>
            </a:r>
          </a:p>
        </p:txBody>
      </p:sp>
      <p:sp>
        <p:nvSpPr>
          <p:cNvPr id="15" name="Rectangle 14">
            <a:extLst>
              <a:ext uri="{FF2B5EF4-FFF2-40B4-BE49-F238E27FC236}">
                <a16:creationId xmlns:a16="http://schemas.microsoft.com/office/drawing/2014/main" id="{0C1DAC87-0392-4D38-B0C1-DB39DBD94634}"/>
              </a:ext>
            </a:extLst>
          </p:cNvPr>
          <p:cNvSpPr/>
          <p:nvPr/>
        </p:nvSpPr>
        <p:spPr>
          <a:xfrm>
            <a:off x="1195519" y="1276357"/>
            <a:ext cx="2486578"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Invoice Summary</a:t>
            </a:r>
          </a:p>
        </p:txBody>
      </p:sp>
      <p:sp>
        <p:nvSpPr>
          <p:cNvPr id="7" name="Rectangle 6">
            <a:extLst>
              <a:ext uri="{FF2B5EF4-FFF2-40B4-BE49-F238E27FC236}">
                <a16:creationId xmlns:a16="http://schemas.microsoft.com/office/drawing/2014/main" id="{C9B7C1C6-3980-4061-9610-71D7C765B35C}"/>
              </a:ext>
            </a:extLst>
          </p:cNvPr>
          <p:cNvSpPr/>
          <p:nvPr/>
        </p:nvSpPr>
        <p:spPr>
          <a:xfrm>
            <a:off x="604008" y="3236974"/>
            <a:ext cx="11704512" cy="2677656"/>
          </a:xfrm>
          <a:prstGeom prst="rect">
            <a:avLst/>
          </a:prstGeom>
        </p:spPr>
        <p:txBody>
          <a:bodyPr wrap="square">
            <a:spAutoFit/>
          </a:bodyPr>
          <a:lstStyle/>
          <a:p>
            <a:pPr algn="justLow"/>
            <a:r>
              <a:rPr lang="en-US" sz="1400" b="1" dirty="0">
                <a:solidFill>
                  <a:srgbClr val="2C6782"/>
                </a:solidFill>
                <a:latin typeface="Gotham" panose="02000504050000020004" pitchFamily="2" charset="0"/>
              </a:rPr>
              <a:t>Invoice Summary</a:t>
            </a:r>
            <a:r>
              <a:rPr lang="en-US" sz="1400" dirty="0">
                <a:solidFill>
                  <a:srgbClr val="2C6782"/>
                </a:solidFill>
                <a:latin typeface="Gotham" panose="02000504050000020004" pitchFamily="2" charset="0"/>
              </a:rPr>
              <a:t> will contain the details of each invoice submitted to MODON. </a:t>
            </a:r>
          </a:p>
          <a:p>
            <a:pPr algn="justLow"/>
            <a:endParaRPr lang="en-US" sz="1400"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Original Contract Value:</a:t>
            </a:r>
            <a:r>
              <a:rPr lang="en-US" sz="1400" dirty="0">
                <a:solidFill>
                  <a:srgbClr val="2C6782"/>
                </a:solidFill>
                <a:latin typeface="Gotham" panose="02000504050000020004" pitchFamily="2" charset="0"/>
              </a:rPr>
              <a:t>	The original contract value for construction works (Not including O&amp;M).</a:t>
            </a:r>
          </a:p>
          <a:p>
            <a:pPr algn="justLow"/>
            <a:r>
              <a:rPr lang="en-US" sz="1400" b="1" dirty="0">
                <a:solidFill>
                  <a:srgbClr val="2C6782"/>
                </a:solidFill>
                <a:latin typeface="Gotham" panose="02000504050000020004" pitchFamily="2" charset="0"/>
              </a:rPr>
              <a:t>Revised Contract Value :</a:t>
            </a:r>
            <a:r>
              <a:rPr lang="en-US" sz="1400" dirty="0">
                <a:solidFill>
                  <a:srgbClr val="2C6782"/>
                </a:solidFill>
                <a:latin typeface="Gotham" panose="02000504050000020004" pitchFamily="2" charset="0"/>
              </a:rPr>
              <a:t>	The revised contract value for construction works if there are any change in the contract value. </a:t>
            </a:r>
          </a:p>
          <a:p>
            <a:pPr algn="justLow"/>
            <a:r>
              <a:rPr lang="en-US" sz="1400" b="1" dirty="0">
                <a:solidFill>
                  <a:srgbClr val="2C6782"/>
                </a:solidFill>
                <a:latin typeface="Gotham" panose="02000504050000020004" pitchFamily="2" charset="0"/>
              </a:rPr>
              <a:t>Estimated Completion Value:</a:t>
            </a:r>
            <a:r>
              <a:rPr lang="en-US" sz="1400" dirty="0">
                <a:solidFill>
                  <a:srgbClr val="2C6782"/>
                </a:solidFill>
                <a:latin typeface="Gotham" panose="02000504050000020004" pitchFamily="2" charset="0"/>
              </a:rPr>
              <a:t>	The forecast completion value.</a:t>
            </a:r>
          </a:p>
          <a:p>
            <a:pPr algn="justLow"/>
            <a:r>
              <a:rPr lang="en-US" sz="1400" b="1" dirty="0">
                <a:solidFill>
                  <a:srgbClr val="2C6782"/>
                </a:solidFill>
                <a:latin typeface="Gotham" panose="02000504050000020004" pitchFamily="2" charset="0"/>
              </a:rPr>
              <a:t>O&amp;M Value:	</a:t>
            </a:r>
            <a:r>
              <a:rPr lang="en-US" sz="1400" dirty="0">
                <a:solidFill>
                  <a:srgbClr val="2C6782"/>
                </a:solidFill>
                <a:latin typeface="Gotham" panose="02000504050000020004" pitchFamily="2" charset="0"/>
              </a:rPr>
              <a:t>	Value of Operation and Maintenance if any.	</a:t>
            </a:r>
          </a:p>
          <a:p>
            <a:pPr algn="justLow"/>
            <a:r>
              <a:rPr lang="en-US" sz="1400" b="1" dirty="0">
                <a:solidFill>
                  <a:srgbClr val="2C6782"/>
                </a:solidFill>
                <a:latin typeface="Gotham" panose="02000504050000020004" pitchFamily="2" charset="0"/>
              </a:rPr>
              <a:t>Revised O&amp;M Value:</a:t>
            </a:r>
            <a:r>
              <a:rPr lang="en-US" sz="1400" dirty="0">
                <a:solidFill>
                  <a:srgbClr val="2C6782"/>
                </a:solidFill>
                <a:latin typeface="Gotham" panose="02000504050000020004" pitchFamily="2" charset="0"/>
              </a:rPr>
              <a:t>		The revised Operation and Maintenance value if there are any change in the contract value. </a:t>
            </a:r>
          </a:p>
          <a:p>
            <a:pPr algn="justLow"/>
            <a:r>
              <a:rPr lang="en-US" sz="1400" b="1" dirty="0">
                <a:solidFill>
                  <a:srgbClr val="2C6782"/>
                </a:solidFill>
                <a:latin typeface="Gotham" panose="02000504050000020004" pitchFamily="2" charset="0"/>
              </a:rPr>
              <a:t>Advance Payments:</a:t>
            </a:r>
            <a:r>
              <a:rPr lang="en-US" sz="1400" dirty="0">
                <a:solidFill>
                  <a:srgbClr val="2C6782"/>
                </a:solidFill>
                <a:latin typeface="Gotham" panose="02000504050000020004" pitchFamily="2" charset="0"/>
              </a:rPr>
              <a:t>		Total percentage of the advance payment relative to the contract value.</a:t>
            </a:r>
          </a:p>
          <a:p>
            <a:pPr algn="justLow"/>
            <a:r>
              <a:rPr lang="en-US" sz="1400" b="1" dirty="0">
                <a:solidFill>
                  <a:srgbClr val="2C6782"/>
                </a:solidFill>
                <a:latin typeface="Gotham" panose="02000504050000020004" pitchFamily="2" charset="0"/>
              </a:rPr>
              <a:t>Retention:</a:t>
            </a:r>
            <a:r>
              <a:rPr lang="en-US" sz="1400" dirty="0">
                <a:solidFill>
                  <a:srgbClr val="2C6782"/>
                </a:solidFill>
                <a:latin typeface="Gotham" panose="02000504050000020004" pitchFamily="2" charset="0"/>
              </a:rPr>
              <a:t>		Total percentage of the retention value relative to the contract value.</a:t>
            </a:r>
          </a:p>
          <a:p>
            <a:pPr algn="justLow"/>
            <a:endParaRPr lang="en-US" sz="1400" dirty="0">
              <a:solidFill>
                <a:srgbClr val="2C6782"/>
              </a:solidFill>
              <a:latin typeface="Gotham" panose="02000504050000020004" pitchFamily="2" charset="0"/>
            </a:endParaRPr>
          </a:p>
          <a:p>
            <a:pPr algn="justLow"/>
            <a:r>
              <a:rPr lang="en-US" sz="1400" dirty="0">
                <a:solidFill>
                  <a:srgbClr val="2C6782"/>
                </a:solidFill>
                <a:latin typeface="Gotham" panose="02000504050000020004" pitchFamily="2" charset="0"/>
              </a:rPr>
              <a:t>Remaining cells will be automatically calculated based on the information provided in the detail invoice log.</a:t>
            </a:r>
          </a:p>
          <a:p>
            <a:pPr algn="justLow"/>
            <a:endParaRPr lang="en-US" sz="1400" dirty="0">
              <a:solidFill>
                <a:srgbClr val="2C6782"/>
              </a:solidFill>
              <a:latin typeface="Gotham" panose="02000504050000020004" pitchFamily="2" charset="0"/>
            </a:endParaRPr>
          </a:p>
        </p:txBody>
      </p:sp>
      <p:pic>
        <p:nvPicPr>
          <p:cNvPr id="5" name="Picture 4">
            <a:extLst>
              <a:ext uri="{FF2B5EF4-FFF2-40B4-BE49-F238E27FC236}">
                <a16:creationId xmlns:a16="http://schemas.microsoft.com/office/drawing/2014/main" id="{1EC4D49B-3363-371F-A2C5-E3A461E2AD20}"/>
              </a:ext>
            </a:extLst>
          </p:cNvPr>
          <p:cNvPicPr>
            <a:picLocks noChangeAspect="1"/>
          </p:cNvPicPr>
          <p:nvPr/>
        </p:nvPicPr>
        <p:blipFill>
          <a:blip r:embed="rId2"/>
          <a:stretch>
            <a:fillRect/>
          </a:stretch>
        </p:blipFill>
        <p:spPr>
          <a:xfrm>
            <a:off x="604007" y="1691594"/>
            <a:ext cx="11298743" cy="873625"/>
          </a:xfrm>
          <a:prstGeom prst="rect">
            <a:avLst/>
          </a:prstGeom>
        </p:spPr>
      </p:pic>
    </p:spTree>
    <p:extLst>
      <p:ext uri="{BB962C8B-B14F-4D97-AF65-F5344CB8AC3E}">
        <p14:creationId xmlns:p14="http://schemas.microsoft.com/office/powerpoint/2010/main" val="35288693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CCOs</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4227439"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Contract Change Orders (CCOs)</a:t>
            </a:r>
          </a:p>
        </p:txBody>
      </p:sp>
      <p:sp>
        <p:nvSpPr>
          <p:cNvPr id="13" name="Rectangle 12">
            <a:extLst>
              <a:ext uri="{FF2B5EF4-FFF2-40B4-BE49-F238E27FC236}">
                <a16:creationId xmlns:a16="http://schemas.microsoft.com/office/drawing/2014/main" id="{448A0D87-7DF7-4AA8-B7EF-98889287FE5D}"/>
              </a:ext>
            </a:extLst>
          </p:cNvPr>
          <p:cNvSpPr/>
          <p:nvPr/>
        </p:nvSpPr>
        <p:spPr>
          <a:xfrm>
            <a:off x="725735" y="2560856"/>
            <a:ext cx="5646490" cy="523220"/>
          </a:xfrm>
          <a:prstGeom prst="rect">
            <a:avLst/>
          </a:prstGeom>
        </p:spPr>
        <p:txBody>
          <a:bodyPr wrap="square">
            <a:spAutoFit/>
          </a:bodyPr>
          <a:lstStyle/>
          <a:p>
            <a:pPr algn="justLow"/>
            <a:r>
              <a:rPr lang="en-US" sz="1400" dirty="0">
                <a:solidFill>
                  <a:srgbClr val="2C6782"/>
                </a:solidFill>
                <a:latin typeface="Gotham" panose="02000504050000020004" pitchFamily="2" charset="0"/>
              </a:rPr>
              <a:t>This will enable the contractor to maintain high-level log of the contract changes to the contract. </a:t>
            </a:r>
            <a:endParaRPr lang="en-US" sz="1600" dirty="0">
              <a:solidFill>
                <a:srgbClr val="2C6782"/>
              </a:solidFill>
              <a:latin typeface="Gotham" panose="02000504050000020004" pitchFamily="2" charset="0"/>
            </a:endParaRPr>
          </a:p>
        </p:txBody>
      </p:sp>
      <p:sp>
        <p:nvSpPr>
          <p:cNvPr id="9" name="Rectangle 8">
            <a:extLst>
              <a:ext uri="{FF2B5EF4-FFF2-40B4-BE49-F238E27FC236}">
                <a16:creationId xmlns:a16="http://schemas.microsoft.com/office/drawing/2014/main" id="{66F40F15-E01E-40E2-A030-637CC3B8ADF1}"/>
              </a:ext>
            </a:extLst>
          </p:cNvPr>
          <p:cNvSpPr/>
          <p:nvPr/>
        </p:nvSpPr>
        <p:spPr>
          <a:xfrm>
            <a:off x="725735" y="3667292"/>
            <a:ext cx="11102742" cy="1600438"/>
          </a:xfrm>
          <a:prstGeom prst="rect">
            <a:avLst/>
          </a:prstGeom>
        </p:spPr>
        <p:txBody>
          <a:bodyPr wrap="square">
            <a:spAutoFit/>
          </a:bodyPr>
          <a:lstStyle/>
          <a:p>
            <a:pPr algn="justLow"/>
            <a:r>
              <a:rPr lang="en-US" sz="1400" b="1" dirty="0">
                <a:solidFill>
                  <a:srgbClr val="2C6782"/>
                </a:solidFill>
                <a:latin typeface="Gotham" panose="02000504050000020004" pitchFamily="2" charset="0"/>
              </a:rPr>
              <a:t>Date Added.:		</a:t>
            </a:r>
            <a:r>
              <a:rPr lang="en-US" sz="1400" dirty="0">
                <a:solidFill>
                  <a:srgbClr val="2C6782"/>
                </a:solidFill>
                <a:latin typeface="Gotham" panose="02000504050000020004" pitchFamily="2" charset="0"/>
              </a:rPr>
              <a:t>Date submitted to MODON.</a:t>
            </a:r>
          </a:p>
          <a:p>
            <a:pPr algn="justLow"/>
            <a:r>
              <a:rPr lang="en-US" sz="1400" b="1" dirty="0">
                <a:solidFill>
                  <a:srgbClr val="2C6782"/>
                </a:solidFill>
                <a:latin typeface="Gotham" panose="02000504050000020004" pitchFamily="2" charset="0"/>
              </a:rPr>
              <a:t>Description of Change:	</a:t>
            </a:r>
            <a:r>
              <a:rPr lang="en-US" sz="1400" dirty="0">
                <a:solidFill>
                  <a:srgbClr val="2C6782"/>
                </a:solidFill>
                <a:latin typeface="Gotham" panose="02000504050000020004" pitchFamily="2" charset="0"/>
              </a:rPr>
              <a:t>Should include a brief description of the changes and the reason for the change.</a:t>
            </a:r>
          </a:p>
          <a:p>
            <a:pPr algn="justLow"/>
            <a:r>
              <a:rPr lang="en-US" sz="1400" b="1" dirty="0">
                <a:solidFill>
                  <a:srgbClr val="2C6782"/>
                </a:solidFill>
                <a:latin typeface="Gotham" panose="02000504050000020004" pitchFamily="2" charset="0"/>
              </a:rPr>
              <a:t>Status:			</a:t>
            </a:r>
            <a:r>
              <a:rPr lang="en-US" sz="1400" dirty="0">
                <a:solidFill>
                  <a:srgbClr val="2C6782"/>
                </a:solidFill>
                <a:latin typeface="Gotham" panose="02000504050000020004" pitchFamily="2" charset="0"/>
              </a:rPr>
              <a:t>Status of the CCO, dropdown list “Approved, Pending and Potential”. </a:t>
            </a:r>
          </a:p>
          <a:p>
            <a:pPr algn="justLow"/>
            <a:r>
              <a:rPr lang="en-US" sz="1400" b="1" dirty="0">
                <a:solidFill>
                  <a:srgbClr val="2C6782"/>
                </a:solidFill>
                <a:latin typeface="Gotham" panose="02000504050000020004" pitchFamily="2" charset="0"/>
              </a:rPr>
              <a:t>SR:			</a:t>
            </a:r>
            <a:r>
              <a:rPr lang="en-US" sz="1400" dirty="0">
                <a:solidFill>
                  <a:srgbClr val="2C6782"/>
                </a:solidFill>
                <a:latin typeface="Gotham" panose="02000504050000020004" pitchFamily="2" charset="0"/>
              </a:rPr>
              <a:t>Cost of change order.</a:t>
            </a:r>
          </a:p>
          <a:p>
            <a:pPr algn="justLow"/>
            <a:r>
              <a:rPr lang="en-US" sz="1400" b="1" dirty="0">
                <a:solidFill>
                  <a:srgbClr val="2C6782"/>
                </a:solidFill>
                <a:latin typeface="Gotham" panose="02000504050000020004" pitchFamily="2" charset="0"/>
              </a:rPr>
              <a:t>Schedule Impact:		</a:t>
            </a:r>
            <a:r>
              <a:rPr lang="en-US" sz="1400" dirty="0">
                <a:solidFill>
                  <a:srgbClr val="2C6782"/>
                </a:solidFill>
                <a:latin typeface="Gotham" panose="02000504050000020004" pitchFamily="2" charset="0"/>
              </a:rPr>
              <a:t>Duration of the change order in Months.</a:t>
            </a:r>
          </a:p>
          <a:p>
            <a:pPr algn="justLow"/>
            <a:r>
              <a:rPr lang="en-US" sz="1400" b="1" dirty="0">
                <a:solidFill>
                  <a:srgbClr val="2C6782"/>
                </a:solidFill>
                <a:latin typeface="Gotham" panose="02000504050000020004" pitchFamily="2" charset="0"/>
              </a:rPr>
              <a:t>Date Approved: 		</a:t>
            </a:r>
            <a:r>
              <a:rPr lang="en-US" sz="1400" dirty="0">
                <a:solidFill>
                  <a:srgbClr val="2C6782"/>
                </a:solidFill>
                <a:latin typeface="Gotham" panose="02000504050000020004" pitchFamily="2" charset="0"/>
              </a:rPr>
              <a:t>Date of CCO approval from MODON officially. </a:t>
            </a:r>
          </a:p>
          <a:p>
            <a:pPr algn="justLow"/>
            <a:r>
              <a:rPr lang="en-US" sz="1400" b="1" dirty="0">
                <a:solidFill>
                  <a:srgbClr val="2C6782"/>
                </a:solidFill>
                <a:latin typeface="Gotham" panose="02000504050000020004" pitchFamily="2" charset="0"/>
              </a:rPr>
              <a:t>Duration:			</a:t>
            </a:r>
            <a:r>
              <a:rPr lang="en-US" sz="1400" dirty="0">
                <a:solidFill>
                  <a:srgbClr val="2C6782"/>
                </a:solidFill>
                <a:latin typeface="Gotham" panose="02000504050000020004" pitchFamily="2" charset="0"/>
              </a:rPr>
              <a:t>Calculated cell with no input required. 	 </a:t>
            </a:r>
            <a:endParaRPr lang="en-US" sz="1600" dirty="0">
              <a:solidFill>
                <a:srgbClr val="2C6782"/>
              </a:solidFill>
              <a:latin typeface="Gotham" panose="02000504050000020004" pitchFamily="2" charset="0"/>
            </a:endParaRPr>
          </a:p>
        </p:txBody>
      </p:sp>
    </p:spTree>
    <p:extLst>
      <p:ext uri="{BB962C8B-B14F-4D97-AF65-F5344CB8AC3E}">
        <p14:creationId xmlns:p14="http://schemas.microsoft.com/office/powerpoint/2010/main" val="34512852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Quantities</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3268844"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Major Quantity Trackers</a:t>
            </a:r>
          </a:p>
        </p:txBody>
      </p:sp>
      <p:sp>
        <p:nvSpPr>
          <p:cNvPr id="10" name="TextBox 6">
            <a:extLst>
              <a:ext uri="{FF2B5EF4-FFF2-40B4-BE49-F238E27FC236}">
                <a16:creationId xmlns:a16="http://schemas.microsoft.com/office/drawing/2014/main" id="{B1E95D9C-9C95-4731-BE6C-D2527D473596}"/>
              </a:ext>
            </a:extLst>
          </p:cNvPr>
          <p:cNvSpPr txBox="1">
            <a:spLocks noChangeArrowheads="1"/>
          </p:cNvSpPr>
          <p:nvPr/>
        </p:nvSpPr>
        <p:spPr bwMode="auto">
          <a:xfrm>
            <a:off x="192881" y="4851221"/>
            <a:ext cx="11806238" cy="738664"/>
          </a:xfrm>
          <a:prstGeom prst="rect">
            <a:avLst/>
          </a:prstGeom>
        </p:spPr>
        <p:txBody>
          <a:bodyPr wrap="square">
            <a:spAutoFit/>
          </a:bodyPr>
          <a:lstStyle>
            <a:defPPr>
              <a:defRPr lang="en-US"/>
            </a:defPPr>
            <a:lvl1pPr algn="justLow">
              <a:defRPr sz="1400">
                <a:solidFill>
                  <a:srgbClr val="2C6782"/>
                </a:solidFill>
                <a:latin typeface="Gotham" panose="02000504050000020004" pitchFamily="2" charset="0"/>
              </a:defRPr>
            </a:lvl1pPr>
          </a:lstStyle>
          <a:p>
            <a:r>
              <a:rPr lang="en-US" altLang="en-US" dirty="0"/>
              <a:t>Identify major quantities to be tracked for the successful completion of project. This list can be agreed with MODON PM / CM at site. Provide the total quantity of the item, the plan to date and actual to date and remaining of the item at site along with the unit of measurement (UOM)</a:t>
            </a:r>
          </a:p>
        </p:txBody>
      </p:sp>
      <p:pic>
        <p:nvPicPr>
          <p:cNvPr id="5" name="Picture 4">
            <a:extLst>
              <a:ext uri="{FF2B5EF4-FFF2-40B4-BE49-F238E27FC236}">
                <a16:creationId xmlns:a16="http://schemas.microsoft.com/office/drawing/2014/main" id="{857B4557-CCBC-0E38-3A59-7872E674C4D5}"/>
              </a:ext>
            </a:extLst>
          </p:cNvPr>
          <p:cNvPicPr>
            <a:picLocks noChangeAspect="1"/>
          </p:cNvPicPr>
          <p:nvPr/>
        </p:nvPicPr>
        <p:blipFill>
          <a:blip r:embed="rId2"/>
          <a:stretch>
            <a:fillRect/>
          </a:stretch>
        </p:blipFill>
        <p:spPr>
          <a:xfrm>
            <a:off x="560070" y="2990850"/>
            <a:ext cx="11071860" cy="876300"/>
          </a:xfrm>
          <a:prstGeom prst="rect">
            <a:avLst/>
          </a:prstGeom>
        </p:spPr>
      </p:pic>
    </p:spTree>
    <p:extLst>
      <p:ext uri="{BB962C8B-B14F-4D97-AF65-F5344CB8AC3E}">
        <p14:creationId xmlns:p14="http://schemas.microsoft.com/office/powerpoint/2010/main" val="27017879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Resources</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1672253"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Resources</a:t>
            </a:r>
          </a:p>
        </p:txBody>
      </p:sp>
      <p:sp>
        <p:nvSpPr>
          <p:cNvPr id="8" name="Rectangle 7">
            <a:extLst>
              <a:ext uri="{FF2B5EF4-FFF2-40B4-BE49-F238E27FC236}">
                <a16:creationId xmlns:a16="http://schemas.microsoft.com/office/drawing/2014/main" id="{BBB488A0-6A28-4195-9B6F-807E7A714128}"/>
              </a:ext>
            </a:extLst>
          </p:cNvPr>
          <p:cNvSpPr/>
          <p:nvPr/>
        </p:nvSpPr>
        <p:spPr>
          <a:xfrm>
            <a:off x="196356" y="2458882"/>
            <a:ext cx="5348767" cy="2462213"/>
          </a:xfrm>
          <a:prstGeom prst="rect">
            <a:avLst/>
          </a:prstGeom>
        </p:spPr>
        <p:txBody>
          <a:bodyPr wrap="square">
            <a:spAutoFit/>
          </a:bodyPr>
          <a:lstStyle/>
          <a:p>
            <a:pPr algn="justLow"/>
            <a:r>
              <a:rPr lang="en-US" sz="1400" b="1" dirty="0">
                <a:solidFill>
                  <a:srgbClr val="2C6782"/>
                </a:solidFill>
                <a:latin typeface="Gotham" panose="02000504050000020004" pitchFamily="2" charset="0"/>
              </a:rPr>
              <a:t>Manpower</a:t>
            </a:r>
            <a:r>
              <a:rPr lang="en-US" sz="1400" dirty="0">
                <a:solidFill>
                  <a:srgbClr val="2C6782"/>
                </a:solidFill>
                <a:latin typeface="Gotham" panose="02000504050000020004" pitchFamily="2" charset="0"/>
              </a:rPr>
              <a:t> will be tracked per the approved plan to include manual and non-manual and will also monitor the actual average manpower with a forecast till the completion of the project. It will also include the manpower by craft or category (man-hours, man-days, crews, etc.) from approved primavera schedule. </a:t>
            </a:r>
          </a:p>
          <a:p>
            <a:pPr algn="justLow"/>
            <a:endParaRPr lang="en-US" sz="1400" dirty="0">
              <a:solidFill>
                <a:srgbClr val="2C6782"/>
              </a:solidFill>
              <a:latin typeface="Gotham" panose="02000504050000020004" pitchFamily="2" charset="0"/>
            </a:endParaRPr>
          </a:p>
          <a:p>
            <a:pPr algn="justLow"/>
            <a:r>
              <a:rPr lang="en-US" sz="1400" dirty="0">
                <a:solidFill>
                  <a:srgbClr val="2C6782"/>
                </a:solidFill>
                <a:latin typeface="Gotham" panose="02000504050000020004" pitchFamily="2" charset="0"/>
              </a:rPr>
              <a:t>Note that the actual data are not man days, it will  be average per month.</a:t>
            </a:r>
          </a:p>
          <a:p>
            <a:pPr algn="justLow"/>
            <a:endParaRPr lang="en-US" sz="1400"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Equipment</a:t>
            </a:r>
            <a:r>
              <a:rPr lang="en-US" sz="1400" dirty="0">
                <a:solidFill>
                  <a:srgbClr val="2C6782"/>
                </a:solidFill>
                <a:latin typeface="Gotham" panose="02000504050000020004" pitchFamily="2" charset="0"/>
              </a:rPr>
              <a:t> will be similar to the manpower. However, it will include in the table how many equipment at site are idle. </a:t>
            </a:r>
          </a:p>
        </p:txBody>
      </p:sp>
      <p:graphicFrame>
        <p:nvGraphicFramePr>
          <p:cNvPr id="3" name="Chart 2">
            <a:extLst>
              <a:ext uri="{FF2B5EF4-FFF2-40B4-BE49-F238E27FC236}">
                <a16:creationId xmlns:a16="http://schemas.microsoft.com/office/drawing/2014/main" id="{00000000-0008-0000-0A00-000002000000}"/>
              </a:ext>
            </a:extLst>
          </p:cNvPr>
          <p:cNvGraphicFramePr>
            <a:graphicFrameLocks/>
          </p:cNvGraphicFramePr>
          <p:nvPr>
            <p:extLst>
              <p:ext uri="{D42A27DB-BD31-4B8C-83A1-F6EECF244321}">
                <p14:modId xmlns:p14="http://schemas.microsoft.com/office/powerpoint/2010/main" val="3688414595"/>
              </p:ext>
            </p:extLst>
          </p:nvPr>
        </p:nvGraphicFramePr>
        <p:xfrm>
          <a:off x="5962261" y="1336964"/>
          <a:ext cx="5709338" cy="268453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00000000-0008-0000-0A00-000003000000}"/>
              </a:ext>
            </a:extLst>
          </p:cNvPr>
          <p:cNvGraphicFramePr>
            <a:graphicFrameLocks/>
          </p:cNvGraphicFramePr>
          <p:nvPr>
            <p:extLst>
              <p:ext uri="{D42A27DB-BD31-4B8C-83A1-F6EECF244321}">
                <p14:modId xmlns:p14="http://schemas.microsoft.com/office/powerpoint/2010/main" val="759722897"/>
              </p:ext>
            </p:extLst>
          </p:nvPr>
        </p:nvGraphicFramePr>
        <p:xfrm>
          <a:off x="5962261" y="4082101"/>
          <a:ext cx="5635690" cy="24622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91902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Schedule Status</a:t>
            </a:r>
          </a:p>
        </p:txBody>
      </p:sp>
      <p:sp>
        <p:nvSpPr>
          <p:cNvPr id="15" name="Rectangle 14">
            <a:extLst>
              <a:ext uri="{FF2B5EF4-FFF2-40B4-BE49-F238E27FC236}">
                <a16:creationId xmlns:a16="http://schemas.microsoft.com/office/drawing/2014/main" id="{0C1DAC87-0392-4D38-B0C1-DB39DBD94634}"/>
              </a:ext>
            </a:extLst>
          </p:cNvPr>
          <p:cNvSpPr/>
          <p:nvPr/>
        </p:nvSpPr>
        <p:spPr>
          <a:xfrm>
            <a:off x="1224528" y="1276357"/>
            <a:ext cx="3977371"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Primavera P6 Schedule Status</a:t>
            </a:r>
          </a:p>
        </p:txBody>
      </p:sp>
      <p:sp>
        <p:nvSpPr>
          <p:cNvPr id="7" name="TextBox 3">
            <a:extLst>
              <a:ext uri="{FF2B5EF4-FFF2-40B4-BE49-F238E27FC236}">
                <a16:creationId xmlns:a16="http://schemas.microsoft.com/office/drawing/2014/main" id="{842291EC-9528-4333-8968-48B8356A7427}"/>
              </a:ext>
            </a:extLst>
          </p:cNvPr>
          <p:cNvSpPr txBox="1">
            <a:spLocks noChangeArrowheads="1"/>
          </p:cNvSpPr>
          <p:nvPr/>
        </p:nvSpPr>
        <p:spPr bwMode="auto">
          <a:xfrm>
            <a:off x="1091317" y="3742638"/>
            <a:ext cx="10737509"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1000" b="1" dirty="0">
                <a:solidFill>
                  <a:srgbClr val="2C6782"/>
                </a:solidFill>
                <a:latin typeface="Gotham" panose="02000504050000020004" pitchFamily="2" charset="0"/>
              </a:rPr>
              <a:t>Schedule Statistics</a:t>
            </a:r>
          </a:p>
          <a:p>
            <a:r>
              <a:rPr lang="en-US" altLang="en-US" sz="1000" dirty="0">
                <a:solidFill>
                  <a:srgbClr val="2C6782"/>
                </a:solidFill>
                <a:latin typeface="Gotham" panose="02000504050000020004" pitchFamily="2" charset="0"/>
              </a:rPr>
              <a:t>Total Act:		The number activities in the schedule</a:t>
            </a:r>
          </a:p>
          <a:p>
            <a:r>
              <a:rPr lang="en-US" altLang="en-US" sz="1000" dirty="0">
                <a:solidFill>
                  <a:srgbClr val="2C6782"/>
                </a:solidFill>
                <a:latin typeface="Gotham" panose="02000504050000020004" pitchFamily="2" charset="0"/>
              </a:rPr>
              <a:t>Not Started 		The number of activities not started yet (from P6 schedule run report)</a:t>
            </a:r>
          </a:p>
          <a:p>
            <a:r>
              <a:rPr lang="en-US" altLang="en-US" sz="1000" dirty="0">
                <a:solidFill>
                  <a:srgbClr val="2C6782"/>
                </a:solidFill>
                <a:latin typeface="Gotham" panose="02000504050000020004" pitchFamily="2" charset="0"/>
              </a:rPr>
              <a:t>In Progress:		The number activities in the schedule that have been started, but not completed. (from P6 schedule run report)</a:t>
            </a:r>
          </a:p>
          <a:p>
            <a:r>
              <a:rPr lang="en-US" altLang="en-US" sz="1000" dirty="0">
                <a:solidFill>
                  <a:srgbClr val="2C6782"/>
                </a:solidFill>
                <a:latin typeface="Gotham" panose="02000504050000020004" pitchFamily="2" charset="0"/>
              </a:rPr>
              <a:t>Completed:		Then number of activities completed so far. (from P6 schedule run report)</a:t>
            </a:r>
          </a:p>
          <a:p>
            <a:r>
              <a:rPr lang="en-US" altLang="en-US" sz="1000" b="1" dirty="0">
                <a:solidFill>
                  <a:srgbClr val="2C6782"/>
                </a:solidFill>
                <a:latin typeface="Gotham" panose="02000504050000020004" pitchFamily="2" charset="0"/>
              </a:rPr>
              <a:t>Active Schedule Activities</a:t>
            </a:r>
          </a:p>
          <a:p>
            <a:r>
              <a:rPr lang="en-US" altLang="en-US" sz="1000" dirty="0">
                <a:solidFill>
                  <a:srgbClr val="2C6782"/>
                </a:solidFill>
                <a:latin typeface="Gotham" panose="02000504050000020004" pitchFamily="2" charset="0"/>
              </a:rPr>
              <a:t>Active:		The number of activities in progress (same as above; no entry required)</a:t>
            </a:r>
          </a:p>
          <a:p>
            <a:r>
              <a:rPr lang="en-US" altLang="en-US" sz="1000" dirty="0">
                <a:solidFill>
                  <a:srgbClr val="2C6782"/>
                </a:solidFill>
                <a:latin typeface="Gotham" panose="02000504050000020004" pitchFamily="2" charset="0"/>
              </a:rPr>
              <a:t>Ahead:		Total number of activities ahead of schedule</a:t>
            </a:r>
          </a:p>
          <a:p>
            <a:r>
              <a:rPr lang="en-US" altLang="en-US" sz="1000" dirty="0">
                <a:solidFill>
                  <a:srgbClr val="2C6782"/>
                </a:solidFill>
                <a:latin typeface="Gotham" panose="02000504050000020004" pitchFamily="2" charset="0"/>
              </a:rPr>
              <a:t>On/Behind:		Number of activities on schedule / Behind schedule</a:t>
            </a:r>
          </a:p>
          <a:p>
            <a:r>
              <a:rPr lang="en-US" altLang="en-US" sz="1000" b="1" dirty="0">
                <a:solidFill>
                  <a:srgbClr val="2C6782"/>
                </a:solidFill>
                <a:latin typeface="Gotham" panose="02000504050000020004" pitchFamily="2" charset="0"/>
              </a:rPr>
              <a:t>Critical Path Activities</a:t>
            </a:r>
          </a:p>
          <a:p>
            <a:r>
              <a:rPr lang="en-US" altLang="en-US" sz="1000" dirty="0">
                <a:solidFill>
                  <a:srgbClr val="2C6782"/>
                </a:solidFill>
                <a:latin typeface="Gotham" panose="02000504050000020004" pitchFamily="2" charset="0"/>
              </a:rPr>
              <a:t>Last Week:		The number of activities on the critical path up to the last week (Cumulative)</a:t>
            </a:r>
          </a:p>
          <a:p>
            <a:r>
              <a:rPr lang="en-US" altLang="en-US" sz="1000" dirty="0">
                <a:solidFill>
                  <a:srgbClr val="2C6782"/>
                </a:solidFill>
                <a:latin typeface="Gotham" panose="02000504050000020004" pitchFamily="2" charset="0"/>
              </a:rPr>
              <a:t>This Week:		The number of activities on the critical path up to this week. (Cumulative)</a:t>
            </a:r>
          </a:p>
          <a:p>
            <a:r>
              <a:rPr lang="en-US" altLang="en-US" sz="1000" b="1" dirty="0">
                <a:solidFill>
                  <a:srgbClr val="2C6782"/>
                </a:solidFill>
                <a:latin typeface="Gotham" panose="02000504050000020004" pitchFamily="2" charset="0"/>
              </a:rPr>
              <a:t>Free Float Management</a:t>
            </a:r>
          </a:p>
          <a:p>
            <a:r>
              <a:rPr lang="en-US" altLang="en-US" sz="1000" dirty="0">
                <a:solidFill>
                  <a:srgbClr val="2C6782"/>
                </a:solidFill>
                <a:latin typeface="Gotham" panose="02000504050000020004" pitchFamily="2" charset="0"/>
              </a:rPr>
              <a:t>Greater than 14 days:	The number of activities with free float greater than 14 days for last week and this week.</a:t>
            </a:r>
          </a:p>
          <a:p>
            <a:r>
              <a:rPr lang="en-US" altLang="en-US" sz="1000" dirty="0">
                <a:solidFill>
                  <a:srgbClr val="2C6782"/>
                </a:solidFill>
                <a:latin typeface="Gotham" panose="02000504050000020004" pitchFamily="2" charset="0"/>
              </a:rPr>
              <a:t>Less than 14 days:	The number of activities with free float less than 14 days for last week and this week.</a:t>
            </a:r>
          </a:p>
          <a:p>
            <a:r>
              <a:rPr lang="en-US" altLang="en-US" sz="1000" b="1" dirty="0">
                <a:solidFill>
                  <a:srgbClr val="2C6782"/>
                </a:solidFill>
                <a:latin typeface="Gotham" panose="02000504050000020004" pitchFamily="2" charset="0"/>
              </a:rPr>
              <a:t>Failed Starts</a:t>
            </a:r>
          </a:p>
          <a:p>
            <a:r>
              <a:rPr lang="en-US" altLang="en-US" sz="1000" dirty="0">
                <a:solidFill>
                  <a:srgbClr val="2C6782"/>
                </a:solidFill>
                <a:latin typeface="Gotham" panose="02000504050000020004" pitchFamily="2" charset="0"/>
              </a:rPr>
              <a:t>Last Week:		Total activities failed to start as planned until last week.</a:t>
            </a:r>
          </a:p>
          <a:p>
            <a:r>
              <a:rPr lang="en-US" altLang="en-US" sz="1000" dirty="0">
                <a:solidFill>
                  <a:srgbClr val="2C6782"/>
                </a:solidFill>
                <a:latin typeface="Gotham" panose="02000504050000020004" pitchFamily="2" charset="0"/>
              </a:rPr>
              <a:t>This Week:		Total activities failed to start as planned until this week.</a:t>
            </a:r>
          </a:p>
          <a:p>
            <a:r>
              <a:rPr lang="en-US" altLang="en-US" sz="1000" dirty="0" err="1">
                <a:solidFill>
                  <a:srgbClr val="2C6782"/>
                </a:solidFill>
                <a:latin typeface="Gotham" panose="02000504050000020004" pitchFamily="2" charset="0"/>
              </a:rPr>
              <a:t>Min.Float</a:t>
            </a:r>
            <a:r>
              <a:rPr lang="en-US" altLang="en-US" sz="1000" dirty="0">
                <a:solidFill>
                  <a:srgbClr val="2C6782"/>
                </a:solidFill>
                <a:latin typeface="Gotham" panose="02000504050000020004" pitchFamily="2" charset="0"/>
              </a:rPr>
              <a:t>:		Minimum Float value of any of the activity in the schedule </a:t>
            </a:r>
            <a:r>
              <a:rPr lang="en-US" altLang="en-US" sz="1000" dirty="0" err="1">
                <a:solidFill>
                  <a:srgbClr val="2C6782"/>
                </a:solidFill>
                <a:latin typeface="Gotham" panose="02000504050000020004" pitchFamily="2" charset="0"/>
              </a:rPr>
              <a:t>i.e</a:t>
            </a:r>
            <a:r>
              <a:rPr lang="en-US" altLang="en-US" sz="1000" dirty="0">
                <a:solidFill>
                  <a:srgbClr val="2C6782"/>
                </a:solidFill>
                <a:latin typeface="Gotham" panose="02000504050000020004" pitchFamily="2" charset="0"/>
              </a:rPr>
              <a:t> (Maximum negative float of any activity)</a:t>
            </a:r>
          </a:p>
          <a:p>
            <a:endParaRPr lang="en-US" altLang="en-US" sz="1000" dirty="0">
              <a:solidFill>
                <a:srgbClr val="2C6782"/>
              </a:solidFill>
              <a:latin typeface="Gotham" panose="02000504050000020004" pitchFamily="2" charset="0"/>
            </a:endParaRPr>
          </a:p>
        </p:txBody>
      </p:sp>
      <p:pic>
        <p:nvPicPr>
          <p:cNvPr id="5" name="Picture 4">
            <a:extLst>
              <a:ext uri="{FF2B5EF4-FFF2-40B4-BE49-F238E27FC236}">
                <a16:creationId xmlns:a16="http://schemas.microsoft.com/office/drawing/2014/main" id="{39973713-6388-FCC8-31DE-56442B791EA7}"/>
              </a:ext>
            </a:extLst>
          </p:cNvPr>
          <p:cNvPicPr>
            <a:picLocks noChangeAspect="1"/>
          </p:cNvPicPr>
          <p:nvPr/>
        </p:nvPicPr>
        <p:blipFill>
          <a:blip r:embed="rId2"/>
          <a:stretch>
            <a:fillRect/>
          </a:stretch>
        </p:blipFill>
        <p:spPr>
          <a:xfrm>
            <a:off x="623183" y="1726423"/>
            <a:ext cx="10477500" cy="1935480"/>
          </a:xfrm>
          <a:prstGeom prst="rect">
            <a:avLst/>
          </a:prstGeom>
        </p:spPr>
      </p:pic>
    </p:spTree>
    <p:extLst>
      <p:ext uri="{BB962C8B-B14F-4D97-AF65-F5344CB8AC3E}">
        <p14:creationId xmlns:p14="http://schemas.microsoft.com/office/powerpoint/2010/main" val="4069729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2" y="543146"/>
            <a:ext cx="9770937" cy="733211"/>
          </a:xfrm>
        </p:spPr>
        <p:txBody>
          <a:bodyPr/>
          <a:lstStyle/>
          <a:p>
            <a:pPr algn="l"/>
            <a:r>
              <a:rPr lang="en-US" dirty="0"/>
              <a:t>Weekly Report Areas / Testing and Commissioning</a:t>
            </a:r>
          </a:p>
        </p:txBody>
      </p:sp>
      <p:sp>
        <p:nvSpPr>
          <p:cNvPr id="15" name="Rectangle 14">
            <a:extLst>
              <a:ext uri="{FF2B5EF4-FFF2-40B4-BE49-F238E27FC236}">
                <a16:creationId xmlns:a16="http://schemas.microsoft.com/office/drawing/2014/main" id="{0C1DAC87-0392-4D38-B0C1-DB39DBD94634}"/>
              </a:ext>
            </a:extLst>
          </p:cNvPr>
          <p:cNvSpPr/>
          <p:nvPr/>
        </p:nvSpPr>
        <p:spPr>
          <a:xfrm>
            <a:off x="1036128" y="1276357"/>
            <a:ext cx="3733714"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Testing And Commissioning</a:t>
            </a:r>
          </a:p>
        </p:txBody>
      </p:sp>
      <p:sp>
        <p:nvSpPr>
          <p:cNvPr id="7" name="Rectangle 6">
            <a:extLst>
              <a:ext uri="{FF2B5EF4-FFF2-40B4-BE49-F238E27FC236}">
                <a16:creationId xmlns:a16="http://schemas.microsoft.com/office/drawing/2014/main" id="{C9B7C1C6-3980-4061-9610-71D7C765B35C}"/>
              </a:ext>
            </a:extLst>
          </p:cNvPr>
          <p:cNvSpPr/>
          <p:nvPr/>
        </p:nvSpPr>
        <p:spPr>
          <a:xfrm>
            <a:off x="1036128" y="3909674"/>
            <a:ext cx="10330954" cy="1815882"/>
          </a:xfrm>
          <a:prstGeom prst="rect">
            <a:avLst/>
          </a:prstGeom>
        </p:spPr>
        <p:txBody>
          <a:bodyPr wrap="square">
            <a:spAutoFit/>
          </a:bodyPr>
          <a:lstStyle/>
          <a:p>
            <a:pPr algn="justLow"/>
            <a:r>
              <a:rPr lang="en-US" sz="1400" b="1" dirty="0">
                <a:solidFill>
                  <a:srgbClr val="2C6782"/>
                </a:solidFill>
                <a:latin typeface="Gotham" panose="02000504050000020004" pitchFamily="2" charset="0"/>
              </a:rPr>
              <a:t>Testing and Commissioning</a:t>
            </a:r>
            <a:r>
              <a:rPr lang="en-US" sz="1400" dirty="0">
                <a:solidFill>
                  <a:srgbClr val="2C6782"/>
                </a:solidFill>
                <a:latin typeface="Gotham" panose="02000504050000020004" pitchFamily="2" charset="0"/>
              </a:rPr>
              <a:t> items should be agreed upon at the start of the project between the contractor/consultant and MODON. </a:t>
            </a:r>
          </a:p>
          <a:p>
            <a:pPr algn="justLow"/>
            <a:endParaRPr lang="en-US" sz="1400" dirty="0">
              <a:solidFill>
                <a:srgbClr val="2C6782"/>
              </a:solidFill>
              <a:latin typeface="Gotham" panose="02000504050000020004" pitchFamily="2" charset="0"/>
            </a:endParaRPr>
          </a:p>
          <a:p>
            <a:pPr algn="justLow"/>
            <a:r>
              <a:rPr lang="en-US" sz="1400" dirty="0">
                <a:solidFill>
                  <a:srgbClr val="2C6782"/>
                </a:solidFill>
                <a:latin typeface="Gotham" panose="02000504050000020004" pitchFamily="2" charset="0"/>
              </a:rPr>
              <a:t>It should include the planned start and finish dates originally from approved baseline schedule. Contractor will be updating the forecast/actual start and finish dates  per the development of the project. </a:t>
            </a:r>
          </a:p>
          <a:p>
            <a:pPr algn="justLow"/>
            <a:endParaRPr lang="en-US" sz="1400" dirty="0">
              <a:solidFill>
                <a:srgbClr val="2C6782"/>
              </a:solidFill>
              <a:latin typeface="Gotham" panose="02000504050000020004" pitchFamily="2" charset="0"/>
            </a:endParaRPr>
          </a:p>
          <a:p>
            <a:pPr algn="justLow"/>
            <a:r>
              <a:rPr lang="en-US" sz="1400" dirty="0">
                <a:solidFill>
                  <a:srgbClr val="2C6782"/>
                </a:solidFill>
                <a:latin typeface="Gotham" panose="02000504050000020004" pitchFamily="2" charset="0"/>
              </a:rPr>
              <a:t>Also, when the system testing has started, it is important to maintain the progress completion percentage of the whole system and the punch list status.</a:t>
            </a:r>
          </a:p>
        </p:txBody>
      </p:sp>
      <p:pic>
        <p:nvPicPr>
          <p:cNvPr id="5" name="Picture 4">
            <a:extLst>
              <a:ext uri="{FF2B5EF4-FFF2-40B4-BE49-F238E27FC236}">
                <a16:creationId xmlns:a16="http://schemas.microsoft.com/office/drawing/2014/main" id="{6C1A3EF2-0CB0-CD42-F124-559A46EB3451}"/>
              </a:ext>
            </a:extLst>
          </p:cNvPr>
          <p:cNvPicPr>
            <a:picLocks noChangeAspect="1"/>
          </p:cNvPicPr>
          <p:nvPr/>
        </p:nvPicPr>
        <p:blipFill>
          <a:blip r:embed="rId2"/>
          <a:stretch>
            <a:fillRect/>
          </a:stretch>
        </p:blipFill>
        <p:spPr>
          <a:xfrm>
            <a:off x="522513" y="1577356"/>
            <a:ext cx="11352245" cy="2080244"/>
          </a:xfrm>
          <a:prstGeom prst="rect">
            <a:avLst/>
          </a:prstGeom>
        </p:spPr>
      </p:pic>
    </p:spTree>
    <p:extLst>
      <p:ext uri="{BB962C8B-B14F-4D97-AF65-F5344CB8AC3E}">
        <p14:creationId xmlns:p14="http://schemas.microsoft.com/office/powerpoint/2010/main" val="22959671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6AE6C-3B63-F149-939A-5D8DA915B783}"/>
              </a:ext>
            </a:extLst>
          </p:cNvPr>
          <p:cNvSpPr>
            <a:spLocks noGrp="1"/>
          </p:cNvSpPr>
          <p:nvPr>
            <p:ph type="title"/>
          </p:nvPr>
        </p:nvSpPr>
        <p:spPr>
          <a:xfrm>
            <a:off x="1982913" y="543146"/>
            <a:ext cx="9005646" cy="733211"/>
          </a:xfrm>
        </p:spPr>
        <p:txBody>
          <a:bodyPr/>
          <a:lstStyle/>
          <a:p>
            <a:pPr algn="l"/>
            <a:r>
              <a:rPr lang="en-US" dirty="0"/>
              <a:t>Weekly Report Areas / Issues</a:t>
            </a:r>
          </a:p>
        </p:txBody>
      </p:sp>
      <p:sp>
        <p:nvSpPr>
          <p:cNvPr id="15" name="Rectangle 14">
            <a:extLst>
              <a:ext uri="{FF2B5EF4-FFF2-40B4-BE49-F238E27FC236}">
                <a16:creationId xmlns:a16="http://schemas.microsoft.com/office/drawing/2014/main" id="{0C1DAC87-0392-4D38-B0C1-DB39DBD94634}"/>
              </a:ext>
            </a:extLst>
          </p:cNvPr>
          <p:cNvSpPr/>
          <p:nvPr/>
        </p:nvSpPr>
        <p:spPr>
          <a:xfrm>
            <a:off x="725735" y="1944652"/>
            <a:ext cx="1996059" cy="369332"/>
          </a:xfrm>
          <a:prstGeom prst="rect">
            <a:avLst/>
          </a:prstGeom>
        </p:spPr>
        <p:txBody>
          <a:bodyPr wrap="none">
            <a:spAutoFit/>
          </a:bodyPr>
          <a:lstStyle/>
          <a:p>
            <a:pPr marL="285750" indent="-285750">
              <a:buFont typeface="Arial" panose="020B0604020202020204" pitchFamily="34" charset="0"/>
              <a:buChar char="•"/>
            </a:pPr>
            <a:r>
              <a:rPr lang="en-US" b="1" dirty="0">
                <a:solidFill>
                  <a:srgbClr val="2C6782"/>
                </a:solidFill>
                <a:latin typeface="Gotham" panose="02000504050000020004" pitchFamily="2" charset="0"/>
              </a:rPr>
              <a:t>Active Issues</a:t>
            </a:r>
          </a:p>
        </p:txBody>
      </p:sp>
      <p:sp>
        <p:nvSpPr>
          <p:cNvPr id="7" name="Rectangle 6">
            <a:extLst>
              <a:ext uri="{FF2B5EF4-FFF2-40B4-BE49-F238E27FC236}">
                <a16:creationId xmlns:a16="http://schemas.microsoft.com/office/drawing/2014/main" id="{A7CB09AE-160F-4953-808E-53703FDF2622}"/>
              </a:ext>
            </a:extLst>
          </p:cNvPr>
          <p:cNvSpPr/>
          <p:nvPr/>
        </p:nvSpPr>
        <p:spPr>
          <a:xfrm>
            <a:off x="402671" y="3568946"/>
            <a:ext cx="11704512" cy="2677656"/>
          </a:xfrm>
          <a:prstGeom prst="rect">
            <a:avLst/>
          </a:prstGeom>
        </p:spPr>
        <p:txBody>
          <a:bodyPr wrap="square">
            <a:spAutoFit/>
          </a:bodyPr>
          <a:lstStyle/>
          <a:p>
            <a:pPr algn="justLow"/>
            <a:r>
              <a:rPr lang="en-US" sz="1400" b="1" dirty="0">
                <a:solidFill>
                  <a:srgbClr val="2C6782"/>
                </a:solidFill>
                <a:latin typeface="Gotham" panose="02000504050000020004" pitchFamily="2" charset="0"/>
              </a:rPr>
              <a:t>Issue Log</a:t>
            </a:r>
            <a:r>
              <a:rPr lang="en-US" sz="1400" dirty="0">
                <a:solidFill>
                  <a:srgbClr val="2C6782"/>
                </a:solidFill>
                <a:latin typeface="Gotham" panose="02000504050000020004" pitchFamily="2" charset="0"/>
              </a:rPr>
              <a:t> will contain the top five active issues that are critical to the project and it should be extracted on weekly basis from the risk registrar.</a:t>
            </a:r>
          </a:p>
          <a:p>
            <a:pPr algn="justLow"/>
            <a:endParaRPr lang="en-US" sz="1400" dirty="0">
              <a:solidFill>
                <a:srgbClr val="2C6782"/>
              </a:solidFill>
              <a:latin typeface="Gotham" panose="02000504050000020004" pitchFamily="2" charset="0"/>
            </a:endParaRPr>
          </a:p>
          <a:p>
            <a:pPr algn="justLow"/>
            <a:r>
              <a:rPr lang="en-US" sz="1400" b="1" dirty="0">
                <a:solidFill>
                  <a:srgbClr val="2C6782"/>
                </a:solidFill>
                <a:latin typeface="Gotham" panose="02000504050000020004" pitchFamily="2" charset="0"/>
              </a:rPr>
              <a:t>Date Identified: </a:t>
            </a:r>
            <a:r>
              <a:rPr lang="en-US" sz="1400" dirty="0">
                <a:solidFill>
                  <a:srgbClr val="2C6782"/>
                </a:solidFill>
                <a:latin typeface="Gotham" panose="02000504050000020004" pitchFamily="2" charset="0"/>
              </a:rPr>
              <a:t>		Date of which the issue has been identified. </a:t>
            </a:r>
          </a:p>
          <a:p>
            <a:pPr algn="justLow"/>
            <a:r>
              <a:rPr lang="en-US" sz="1400" b="1" dirty="0">
                <a:solidFill>
                  <a:srgbClr val="2C6782"/>
                </a:solidFill>
                <a:latin typeface="Gotham" panose="02000504050000020004" pitchFamily="2" charset="0"/>
              </a:rPr>
              <a:t>Issue description:</a:t>
            </a:r>
            <a:r>
              <a:rPr lang="en-US" sz="1400" dirty="0">
                <a:solidFill>
                  <a:srgbClr val="2C6782"/>
                </a:solidFill>
                <a:latin typeface="Gotham" panose="02000504050000020004" pitchFamily="2" charset="0"/>
              </a:rPr>
              <a:t>		a brief description of the issue and should identify the cause of the issue. </a:t>
            </a:r>
          </a:p>
          <a:p>
            <a:pPr algn="justLow"/>
            <a:r>
              <a:rPr lang="en-US" sz="1400" b="1" dirty="0">
                <a:solidFill>
                  <a:srgbClr val="2C6782"/>
                </a:solidFill>
                <a:latin typeface="Gotham" panose="02000504050000020004" pitchFamily="2" charset="0"/>
              </a:rPr>
              <a:t>Responsibility:</a:t>
            </a:r>
            <a:r>
              <a:rPr lang="en-US" sz="1400" dirty="0">
                <a:solidFill>
                  <a:srgbClr val="2C6782"/>
                </a:solidFill>
                <a:latin typeface="Gotham" panose="02000504050000020004" pitchFamily="2" charset="0"/>
              </a:rPr>
              <a:t>		Dropdown list for responsible party.</a:t>
            </a:r>
          </a:p>
          <a:p>
            <a:pPr algn="justLow"/>
            <a:r>
              <a:rPr lang="en-US" sz="1400" b="1" dirty="0">
                <a:solidFill>
                  <a:srgbClr val="2C6782"/>
                </a:solidFill>
                <a:latin typeface="Gotham" panose="02000504050000020004" pitchFamily="2" charset="0"/>
              </a:rPr>
              <a:t>Action Taken:	</a:t>
            </a:r>
            <a:r>
              <a:rPr lang="en-US" sz="1400" dirty="0">
                <a:solidFill>
                  <a:srgbClr val="2C6782"/>
                </a:solidFill>
                <a:latin typeface="Gotham" panose="02000504050000020004" pitchFamily="2" charset="0"/>
              </a:rPr>
              <a:t>	The action that contract/consultant/MODON has taken to resolve the issue.	</a:t>
            </a:r>
          </a:p>
          <a:p>
            <a:pPr algn="justLow"/>
            <a:r>
              <a:rPr lang="en-US" sz="1400" b="1" dirty="0">
                <a:solidFill>
                  <a:srgbClr val="2C6782"/>
                </a:solidFill>
                <a:latin typeface="Gotham" panose="02000504050000020004" pitchFamily="2" charset="0"/>
              </a:rPr>
              <a:t>Mitigation:</a:t>
            </a:r>
            <a:r>
              <a:rPr lang="en-US" sz="1400" dirty="0">
                <a:solidFill>
                  <a:srgbClr val="2C6782"/>
                </a:solidFill>
                <a:latin typeface="Gotham" panose="02000504050000020004" pitchFamily="2" charset="0"/>
              </a:rPr>
              <a:t>		The recommended course of action to mitigate the current issue.</a:t>
            </a:r>
          </a:p>
          <a:p>
            <a:pPr algn="justLow"/>
            <a:r>
              <a:rPr lang="en-US" sz="1400" b="1" dirty="0">
                <a:solidFill>
                  <a:srgbClr val="2C6782"/>
                </a:solidFill>
                <a:latin typeface="Gotham" panose="02000504050000020004" pitchFamily="2" charset="0"/>
              </a:rPr>
              <a:t>Current Status:</a:t>
            </a:r>
            <a:r>
              <a:rPr lang="en-US" sz="1400" dirty="0">
                <a:solidFill>
                  <a:srgbClr val="2C6782"/>
                </a:solidFill>
                <a:latin typeface="Gotham" panose="02000504050000020004" pitchFamily="2" charset="0"/>
              </a:rPr>
              <a:t>		Dropdown list for current status.</a:t>
            </a:r>
          </a:p>
          <a:p>
            <a:pPr algn="justLow"/>
            <a:r>
              <a:rPr lang="en-US" sz="1400" b="1" dirty="0">
                <a:solidFill>
                  <a:srgbClr val="2C6782"/>
                </a:solidFill>
                <a:latin typeface="Gotham" panose="02000504050000020004" pitchFamily="2" charset="0"/>
              </a:rPr>
              <a:t>Expected/Actual Closure:</a:t>
            </a:r>
            <a:r>
              <a:rPr lang="en-US" sz="1400" dirty="0">
                <a:solidFill>
                  <a:srgbClr val="2C6782"/>
                </a:solidFill>
                <a:latin typeface="Gotham" panose="02000504050000020004" pitchFamily="2" charset="0"/>
              </a:rPr>
              <a:t>	Forecast/Actual date of issue closure.</a:t>
            </a:r>
          </a:p>
          <a:p>
            <a:pPr algn="justLow"/>
            <a:r>
              <a:rPr lang="en-US" sz="1400" b="1" dirty="0">
                <a:solidFill>
                  <a:srgbClr val="2C6782"/>
                </a:solidFill>
                <a:latin typeface="Gotham" panose="02000504050000020004" pitchFamily="2" charset="0"/>
              </a:rPr>
              <a:t>Duration Elapsed:</a:t>
            </a:r>
            <a:r>
              <a:rPr lang="en-US" sz="1400" dirty="0">
                <a:solidFill>
                  <a:srgbClr val="2C6782"/>
                </a:solidFill>
                <a:latin typeface="Gotham" panose="02000504050000020004" pitchFamily="2" charset="0"/>
              </a:rPr>
              <a:t>		Automatically calculated cell based date identified and actual closure date.</a:t>
            </a:r>
          </a:p>
          <a:p>
            <a:pPr algn="justLow"/>
            <a:r>
              <a:rPr lang="en-US" sz="1400" dirty="0">
                <a:solidFill>
                  <a:srgbClr val="2C6782"/>
                </a:solidFill>
                <a:latin typeface="Gotham" panose="02000504050000020004" pitchFamily="2" charset="0"/>
              </a:rPr>
              <a:t>. </a:t>
            </a:r>
          </a:p>
        </p:txBody>
      </p:sp>
      <p:pic>
        <p:nvPicPr>
          <p:cNvPr id="5" name="Picture 4">
            <a:extLst>
              <a:ext uri="{FF2B5EF4-FFF2-40B4-BE49-F238E27FC236}">
                <a16:creationId xmlns:a16="http://schemas.microsoft.com/office/drawing/2014/main" id="{1FD14263-9908-BE04-B5BD-939A7D43F0BE}"/>
              </a:ext>
            </a:extLst>
          </p:cNvPr>
          <p:cNvPicPr>
            <a:picLocks noChangeAspect="1"/>
          </p:cNvPicPr>
          <p:nvPr/>
        </p:nvPicPr>
        <p:blipFill>
          <a:blip r:embed="rId2"/>
          <a:stretch>
            <a:fillRect/>
          </a:stretch>
        </p:blipFill>
        <p:spPr>
          <a:xfrm>
            <a:off x="559837" y="1458767"/>
            <a:ext cx="10711543" cy="2110179"/>
          </a:xfrm>
          <a:prstGeom prst="rect">
            <a:avLst/>
          </a:prstGeom>
        </p:spPr>
      </p:pic>
    </p:spTree>
    <p:extLst>
      <p:ext uri="{BB962C8B-B14F-4D97-AF65-F5344CB8AC3E}">
        <p14:creationId xmlns:p14="http://schemas.microsoft.com/office/powerpoint/2010/main" val="2128792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1B38D37-9DF4-4047-9C05-08E6A14282AA}"/>
              </a:ext>
            </a:extLst>
          </p:cNvPr>
          <p:cNvSpPr>
            <a:spLocks noGrp="1"/>
          </p:cNvSpPr>
          <p:nvPr>
            <p:ph type="title"/>
          </p:nvPr>
        </p:nvSpPr>
        <p:spPr>
          <a:xfrm>
            <a:off x="4991219" y="3760185"/>
            <a:ext cx="6204045" cy="1325563"/>
          </a:xfrm>
        </p:spPr>
        <p:txBody>
          <a:bodyPr/>
          <a:lstStyle/>
          <a:p>
            <a:r>
              <a:rPr lang="ar-SA" dirty="0">
                <a:solidFill>
                  <a:schemeClr val="bg1"/>
                </a:solidFill>
              </a:rPr>
              <a:t>شكراً</a:t>
            </a:r>
            <a:endParaRPr lang="en-US" dirty="0">
              <a:solidFill>
                <a:schemeClr val="bg1"/>
              </a:solidFill>
            </a:endParaRPr>
          </a:p>
        </p:txBody>
      </p:sp>
    </p:spTree>
    <p:extLst>
      <p:ext uri="{BB962C8B-B14F-4D97-AF65-F5344CB8AC3E}">
        <p14:creationId xmlns:p14="http://schemas.microsoft.com/office/powerpoint/2010/main" val="2306140256"/>
      </p:ext>
    </p:extLst>
  </p:cSld>
  <p:clrMapOvr>
    <a:masterClrMapping/>
  </p:clrMapOvr>
</p:sld>
</file>

<file path=ppt/theme/theme1.xml><?xml version="1.0" encoding="utf-8"?>
<a:theme xmlns:a="http://schemas.openxmlformats.org/drawingml/2006/main" name="MODON Theme">
  <a:themeElements>
    <a:clrScheme name="Custom 1">
      <a:dk1>
        <a:srgbClr val="0A2C52"/>
      </a:dk1>
      <a:lt1>
        <a:srgbClr val="FFFFFF"/>
      </a:lt1>
      <a:dk2>
        <a:srgbClr val="296A8E"/>
      </a:dk2>
      <a:lt2>
        <a:srgbClr val="E7E6E6"/>
      </a:lt2>
      <a:accent1>
        <a:srgbClr val="296A8E"/>
      </a:accent1>
      <a:accent2>
        <a:srgbClr val="94C64C"/>
      </a:accent2>
      <a:accent3>
        <a:srgbClr val="59B3D9"/>
      </a:accent3>
      <a:accent4>
        <a:srgbClr val="0A2C52"/>
      </a:accent4>
      <a:accent5>
        <a:srgbClr val="58B2D8"/>
      </a:accent5>
      <a:accent6>
        <a:srgbClr val="94C64C"/>
      </a:accent6>
      <a:hlink>
        <a:srgbClr val="1A4C71"/>
      </a:hlink>
      <a:folHlink>
        <a:srgbClr val="76AE34"/>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القالب" id="{21383F53-8B68-A144-8F3C-61C365BDAE03}" vid="{D72FA2D9-7331-0D4A-8407-60EE0838F82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القالب</Template>
  <TotalTime>3765</TotalTime>
  <Words>3450</Words>
  <Application>Microsoft Office PowerPoint</Application>
  <PresentationFormat>Widescreen</PresentationFormat>
  <Paragraphs>316</Paragraphs>
  <Slides>32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Calibri</vt:lpstr>
      <vt:lpstr>Century Gothic</vt:lpstr>
      <vt:lpstr>Gotham</vt:lpstr>
      <vt:lpstr>Janna LT</vt:lpstr>
      <vt:lpstr>TheSansArabic</vt:lpstr>
      <vt:lpstr>TheSansArabic SemiLight</vt:lpstr>
      <vt:lpstr>Wingdings</vt:lpstr>
      <vt:lpstr>MODON Theme</vt:lpstr>
      <vt:lpstr>Weekly Progress Report – Construction Projects</vt:lpstr>
      <vt:lpstr>Disclaimer</vt:lpstr>
      <vt:lpstr>Introduction</vt:lpstr>
      <vt:lpstr>Introduction</vt:lpstr>
      <vt:lpstr>Weekly Progress Report Dashboard</vt:lpstr>
      <vt:lpstr>Weekly Progress Report Attachment</vt:lpstr>
      <vt:lpstr>Weekly Report Areas / Sections</vt:lpstr>
      <vt:lpstr>Weekly Report Areas / Sections</vt:lpstr>
      <vt:lpstr>Weekly Report Areas / General Information</vt:lpstr>
      <vt:lpstr>Weekly Report Areas / Dates</vt:lpstr>
      <vt:lpstr>Weekly Report Areas / Dates</vt:lpstr>
      <vt:lpstr>Weekly Report Areas / Progress</vt:lpstr>
      <vt:lpstr>Weekly Report Areas / Progress</vt:lpstr>
      <vt:lpstr>Weekly Report Areas / Progress</vt:lpstr>
      <vt:lpstr>Weekly Report Areas / Progress</vt:lpstr>
      <vt:lpstr>Weekly Report Areas / Milestones</vt:lpstr>
      <vt:lpstr>Weekly Report Areas / Submittals</vt:lpstr>
      <vt:lpstr>Weekly Report Areas / Shop Drawings</vt:lpstr>
      <vt:lpstr>Weekly Report Areas / Materials</vt:lpstr>
      <vt:lpstr>Weekly Report Areas / Quality </vt:lpstr>
      <vt:lpstr>Weekly Report Areas / Quality</vt:lpstr>
      <vt:lpstr>Weekly Report Areas / HSE </vt:lpstr>
      <vt:lpstr>Weekly Report Areas / HSE </vt:lpstr>
      <vt:lpstr>Weekly Report Areas / Invoices</vt:lpstr>
      <vt:lpstr>Weekly Report Areas / Invoices</vt:lpstr>
      <vt:lpstr>Weekly Report Areas / CCOs</vt:lpstr>
      <vt:lpstr>Weekly Report Areas / Quantities</vt:lpstr>
      <vt:lpstr>Weekly Report Areas / Resources</vt:lpstr>
      <vt:lpstr>Weekly Report Areas / Schedule Status</vt:lpstr>
      <vt:lpstr>Weekly Report Areas / Testing and Commissioning</vt:lpstr>
      <vt:lpstr>Weekly Report Areas / Issues</vt:lpstr>
      <vt:lpstr>شكراً</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 Progress Report – Construction Projects</dc:title>
  <dc:subject/>
  <dc:creator>Albassam, Abdulaziz</dc:creator>
  <cp:keywords/>
  <dc:description/>
  <cp:lastModifiedBy>dell</cp:lastModifiedBy>
  <cp:revision>183</cp:revision>
  <cp:lastPrinted>2018-10-09T13:22:18Z</cp:lastPrinted>
  <dcterms:created xsi:type="dcterms:W3CDTF">2020-09-06T07:51:21Z</dcterms:created>
  <dcterms:modified xsi:type="dcterms:W3CDTF">2026-09-22T06:33:42Z</dcterms:modified>
  <cp:category/>
</cp:coreProperties>
</file>